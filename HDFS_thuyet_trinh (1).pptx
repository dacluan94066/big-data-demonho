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21"/>
  </p:notesMasterIdLst>
  <p:sldIdLst>
    <p:sldId id="256" r:id="rId2"/>
    <p:sldId id="257" r:id="rId3"/>
    <p:sldId id="258" r:id="rId4"/>
    <p:sldId id="259" r:id="rId5"/>
    <p:sldId id="260" r:id="rId6"/>
    <p:sldId id="261" r:id="rId7"/>
    <p:sldId id="273" r:id="rId8"/>
    <p:sldId id="262" r:id="rId9"/>
    <p:sldId id="263" r:id="rId10"/>
    <p:sldId id="272" r:id="rId11"/>
    <p:sldId id="264" r:id="rId12"/>
    <p:sldId id="265" r:id="rId13"/>
    <p:sldId id="266" r:id="rId14"/>
    <p:sldId id="267" r:id="rId15"/>
    <p:sldId id="268" r:id="rId16"/>
    <p:sldId id="269" r:id="rId17"/>
    <p:sldId id="270" r:id="rId18"/>
    <p:sldId id="271"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2277" autoAdjust="0"/>
  </p:normalViewPr>
  <p:slideViewPr>
    <p:cSldViewPr snapToGrid="0" snapToObjects="1">
      <p:cViewPr varScale="1">
        <p:scale>
          <a:sx n="63" d="100"/>
          <a:sy n="63" d="100"/>
        </p:scale>
        <p:origin x="783"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1201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Xin chào thầy cô và các bạn. Hôm nay nhóm xin trình bày về Apache HDFS - hệ thống tệp phân tán đóng vai trò là trái tim lưu trữ của hệ sinh thái Hadoop và là nền tảng khởi đầu cho kỷ nguyên dữ liệu lớn.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Thực trạng bùng nổ dữ liệu từ mobile, mạng xã hội, IoT. Scale-up (mở rộng dọc) chạm trần vật lý và chi phí. Walmart xử lý hơn 1 triệu giao dịch/giờ, ước tính nạp hơn 2.5PB dữ liệu - RDBMS truyền thống không xử lý nổi. Giải pháp là Scale-out: kết nối hàng ngàn máy tính thường thành một cụm.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HDFS là hệ thống tệp phân tán mã nguồn mở, lấy cảm hứng từ GFS của Google. Mục tiêu lưu trữ file từ GB tới PB trên phần cứng phổ thông giá rẻ. Triết lý WORM: ghi một lần, đọc nhiều lần, không sửa giữa file để đơn giản hoá nhất quán dữ liệu.</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HDFS chia nhỏ file lớn thành các block độc lập, kích thước mặc định 128MB (so với 4KB của OS thường). Ví dụ file log 300MB chia thành Block 1 (128MB), Block 2 (128MB), Block 3 (44MB) — chỉ chiếm đúng dung lượng thực tế. Lý do chọn block lớn: giảm số block quản lý, tiết kiệm RAM NameNode, tối ưu tốc độ đọc tuần tự.</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Replication Factor mặc định = 3. Rack Awareness: bản sao 1 tại DataNode cục bộ nơi Client gửi dữ liệu; bản sao 2 tại một Rack khác; bản sao 3 cùng Rack với bản sao 2 nhưng máy chủ khác. Ví dụ: file 300MB gồm 3 block, với Replication=3 tạo ra 9 blocks, cần 900MB dung lượng vật lý. Nếu một tủ mạng mất điện, dữ liệu vẫn an toàn.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HDFS vận hành theo mô hình Master-Worker gồm 2 thành phần. NameNode: bộ não điều khiển, quản lý namespace, quyền truy cập, bảng vị trí block; phát lệnh tạo/xoá/nhân bản khối. DataNode: cơ bắp lưu trữ vật lý, lưu dữ liệu thô dạng block, gửi Heartbeat mỗi 3 giây báo cáo trạng thái.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Metadata gồm cây thư mục, quyền hạn, danh sách block ID và DataNode tương ứng. Lưu trữ bền vững qua FSImage (snapshot toàn bộ hệ thống) và EditLog (nhật ký thay đổi). Toàn bộ metadata nạp vào RAM để tra cứu tức thì; trung bình 1 block metadata tốn khoảng 150 bytes RAM.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Vấn đề: kéo dữ liệu thô qua mạng về máy tính xử lý sẽ tê liệt băng thông. Triết lý Hadoop: chuyển mã tính toán đến nơi lưu trữ dữ liệu rẻ hơn chuyển dữ liệu đến mã tính toán. So sánh: cách truyền thống kéo 100GB qua mạng tốn vài phút nghẽn mạng; HDFS+MapReduce gửi mã vài KB đến DataNode, kết quả trả về chỉ vài byte.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 gọi open() gửi yêu cầu đọc file tới NameNode. NameNode tra Metadata trả về danh sách block cùng IP DataNode gần nhất. Client kết nối trực tiếp đến DataNode để đọc, không qua NameNode. Sau khi đọc hết block, tự động chuyển sang DataNode tiếp theo. Ví dụ report.csv: Block A ở Node 1, Block B ở Node 4 — NameNode không bị nghẽn cổ chai.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 yêu cầu NameNode tạo file mới, NameNode kiểm tra quyền và cấp quyền ghi. NameNode cấp danh sách 3 DataNode (A, B, C). Client chia block thành packets ~64KB. Cơ chế đường ống: Client đẩy gói tin sang Node A, A ghi và chuyển ngay sang B, B chuyển sang C. Khi C nhận xong, gửi Ack ngược lại B → A → Client, tiếp tục gói kế tiếp.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Tình huống: DataNode số 3 hỏng ổ cứng hoặc mất nguồn đột ngột. Quy trình tự phục hồi: (1) sau 10 phút không nhận Heartbeat, NameNode đánh dấu node chết; (2) quét metadata phát hiện block chỉ còn 2 bản sao; (3) NameNode ra lệnh nhân bản block thiếu từ node còn bản sao sang node trống; (4) cụm trở lại Replication Factor = 3 mà không cần can thiệp thủ công.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HDFS tối ưu cho file lớn, kém hiệu quả với hàng triệu file nhỏ. Ví dụ: 1 triệu file 1KB (tổng ~1GB dữ liệu thô), mỗi file vẫn tính 1 block và tốn ~150 bytes metadata RAM → NameNode mất tới 150MB RAM chỉ để quản lý 1GB dữ liệu. Hệ thống cạn kiệt RAM NameNode trước khi ổ cứng DataNode kịp đầy. Giải pháp: Hadoop Archive (HAR), nén SequenceFile hoặc gộp file trước khi đưa vào HDFS.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Khớp cứng tính toán và lưu trữ: CPU/RAM/đĩa chung một máy, muốn tăng lưu trữ vẫn phải mua thêm server đắt đỏ. Gánh nặng bảo trì phần cứng: phòng server, điện làm mát, thay linh kiện liên tục. Điểm nghẽn NameNode (SPOF): nếu gặp sự cố, toàn cụm dừng hoạt động, sau này giảm bớt nhờ HA Active/Standby.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HDFS on-premise với Cloud Object Storage: kiến trúc gắn chặt vs tách biệt hoàn toàn; chi phí cao vs rất thấp trả theo dung lượng thực tế; mở rộng thủ công vs vô hạn tức thì; độ bền dựa nhân bản 3x vs 11 số 9 với Erasure Coding; quản trị phức tạp cần kỹ sư vs mô hình serverless không cần bảo trì hạ tầng.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HDFS không biến mất, vẫn là lựa chọn hàng đầu cho trung tâm dữ liệu On-Premise của Ngân hàng, Tài chính, Quân đội, Viễn thông nhờ yêu cầu bảo mật và chủ quyền dữ liệu. Mô hình lai (Hybrid): dữ liệu nhạy cảm lưu và tiền xử lý tại chỗ trên HDFS; dữ liệu phục vụ phân tích chuyên sâu chuyển lên nền tảng đám mây hiện đại như Databricks Lakehouse, Apache Spark, Delta Lake.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bài học kiến trúc cốt lõi từ HDFS: (1) Phân tán dữ liệu thành khối lớn 128MB kết hợp nhân bản 3 lần giúp chạy an toàn trên phần cứng giá rẻ; (2) Nguyên lý Data Locality chuyển mã đến dữ liệu giải quyết triệt để bài toán nghẽn mạng; (3) Xu hướng hiện đại dịch chuyển từ khớp cứng sang tách biệt Tính toán và Lưu trữ trên Đám mây. Cảm ơn quý thầy cô và các bạn đã lắng nghe, mời hội trường đặt câu hỏi thảo luận.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8560764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13C5C45-DF75-43DA-AB77-65D6FE17190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9E7270-E0F0-4FF4-B444-152133EB64E9}" type="slidenum">
              <a:rPr lang="en-US" smtClean="0"/>
              <a:t>‹#›</a:t>
            </a:fld>
            <a:endParaRPr lang="en-US"/>
          </a:p>
        </p:txBody>
      </p:sp>
    </p:spTree>
    <p:extLst>
      <p:ext uri="{BB962C8B-B14F-4D97-AF65-F5344CB8AC3E}">
        <p14:creationId xmlns:p14="http://schemas.microsoft.com/office/powerpoint/2010/main" val="220722781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13C5C45-DF75-43DA-AB77-65D6FE17190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9E7270-E0F0-4FF4-B444-152133EB64E9}" type="slidenum">
              <a:rPr lang="en-US" smtClean="0"/>
              <a:t>‹#›</a:t>
            </a:fld>
            <a:endParaRPr lang="en-US"/>
          </a:p>
        </p:txBody>
      </p:sp>
    </p:spTree>
    <p:extLst>
      <p:ext uri="{BB962C8B-B14F-4D97-AF65-F5344CB8AC3E}">
        <p14:creationId xmlns:p14="http://schemas.microsoft.com/office/powerpoint/2010/main" val="100389172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13C5C45-DF75-43DA-AB77-65D6FE17190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9E7270-E0F0-4FF4-B444-152133EB64E9}" type="slidenum">
              <a:rPr lang="en-US" smtClean="0"/>
              <a:t>‹#›</a:t>
            </a:fld>
            <a:endParaRPr lang="en-US"/>
          </a:p>
        </p:txBody>
      </p:sp>
    </p:spTree>
    <p:extLst>
      <p:ext uri="{BB962C8B-B14F-4D97-AF65-F5344CB8AC3E}">
        <p14:creationId xmlns:p14="http://schemas.microsoft.com/office/powerpoint/2010/main" val="155973631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13C5C45-DF75-43DA-AB77-65D6FE17190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9E7270-E0F0-4FF4-B444-152133EB64E9}" type="slidenum">
              <a:rPr lang="en-US" smtClean="0"/>
              <a:t>‹#›</a:t>
            </a:fld>
            <a:endParaRPr lang="en-US"/>
          </a:p>
        </p:txBody>
      </p:sp>
    </p:spTree>
    <p:extLst>
      <p:ext uri="{BB962C8B-B14F-4D97-AF65-F5344CB8AC3E}">
        <p14:creationId xmlns:p14="http://schemas.microsoft.com/office/powerpoint/2010/main" val="351856459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13C5C45-DF75-43DA-AB77-65D6FE171904}" type="datetimeFigureOut">
              <a:rPr lang="en-US" smtClean="0"/>
              <a:t>9/9/2026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E9E7270-E0F0-4FF4-B444-152133EB64E9}" type="slidenum">
              <a:rPr lang="en-US" smtClean="0"/>
              <a:t>‹#›</a:t>
            </a:fld>
            <a:endParaRPr lang="en-US"/>
          </a:p>
        </p:txBody>
      </p:sp>
    </p:spTree>
    <p:extLst>
      <p:ext uri="{BB962C8B-B14F-4D97-AF65-F5344CB8AC3E}">
        <p14:creationId xmlns:p14="http://schemas.microsoft.com/office/powerpoint/2010/main" val="96903674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13C5C45-DF75-43DA-AB77-65D6FE171904}" type="datetimeFigureOut">
              <a:rPr lang="en-US" smtClean="0"/>
              <a:t>9/9/2026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9E7270-E0F0-4FF4-B444-152133EB64E9}" type="slidenum">
              <a:rPr lang="en-US" smtClean="0"/>
              <a:t>‹#›</a:t>
            </a:fld>
            <a:endParaRPr lang="en-US"/>
          </a:p>
        </p:txBody>
      </p:sp>
    </p:spTree>
    <p:extLst>
      <p:ext uri="{BB962C8B-B14F-4D97-AF65-F5344CB8AC3E}">
        <p14:creationId xmlns:p14="http://schemas.microsoft.com/office/powerpoint/2010/main" val="254171826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3C5C45-DF75-43DA-AB77-65D6FE171904}" type="datetimeFigureOut">
              <a:rPr lang="en-US" smtClean="0"/>
              <a:t>9/9/2026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E9E7270-E0F0-4FF4-B444-152133EB64E9}" type="slidenum">
              <a:rPr lang="en-US" smtClean="0"/>
              <a:t>‹#›</a:t>
            </a:fld>
            <a:endParaRPr lang="en-US"/>
          </a:p>
        </p:txBody>
      </p:sp>
    </p:spTree>
    <p:extLst>
      <p:ext uri="{BB962C8B-B14F-4D97-AF65-F5344CB8AC3E}">
        <p14:creationId xmlns:p14="http://schemas.microsoft.com/office/powerpoint/2010/main" val="122521409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13C5C45-DF75-43DA-AB77-65D6FE17190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9E7270-E0F0-4FF4-B444-152133EB64E9}" type="slidenum">
              <a:rPr lang="en-US" smtClean="0"/>
              <a:t>‹#›</a:t>
            </a:fld>
            <a:endParaRPr lang="en-US"/>
          </a:p>
        </p:txBody>
      </p:sp>
    </p:spTree>
    <p:extLst>
      <p:ext uri="{BB962C8B-B14F-4D97-AF65-F5344CB8AC3E}">
        <p14:creationId xmlns:p14="http://schemas.microsoft.com/office/powerpoint/2010/main" val="201671092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13C5C45-DF75-43DA-AB77-65D6FE17190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9E7270-E0F0-4FF4-B444-152133EB64E9}" type="slidenum">
              <a:rPr lang="en-US" smtClean="0"/>
              <a:t>‹#›</a:t>
            </a:fld>
            <a:endParaRPr lang="en-US"/>
          </a:p>
        </p:txBody>
      </p:sp>
    </p:spTree>
    <p:extLst>
      <p:ext uri="{BB962C8B-B14F-4D97-AF65-F5344CB8AC3E}">
        <p14:creationId xmlns:p14="http://schemas.microsoft.com/office/powerpoint/2010/main" val="391287254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13C5C45-DF75-43DA-AB77-65D6FE17190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9E7270-E0F0-4FF4-B444-152133EB64E9}" type="slidenum">
              <a:rPr lang="en-US" smtClean="0"/>
              <a:t>‹#›</a:t>
            </a:fld>
            <a:endParaRPr lang="en-US"/>
          </a:p>
        </p:txBody>
      </p:sp>
    </p:spTree>
    <p:extLst>
      <p:ext uri="{BB962C8B-B14F-4D97-AF65-F5344CB8AC3E}">
        <p14:creationId xmlns:p14="http://schemas.microsoft.com/office/powerpoint/2010/main" val="268342758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13C5C45-DF75-43DA-AB77-65D6FE17190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9E7270-E0F0-4FF4-B444-152133EB64E9}" type="slidenum">
              <a:rPr lang="en-US" smtClean="0"/>
              <a:t>‹#›</a:t>
            </a:fld>
            <a:endParaRPr lang="en-US"/>
          </a:p>
        </p:txBody>
      </p:sp>
    </p:spTree>
    <p:extLst>
      <p:ext uri="{BB962C8B-B14F-4D97-AF65-F5344CB8AC3E}">
        <p14:creationId xmlns:p14="http://schemas.microsoft.com/office/powerpoint/2010/main" val="324491110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0559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3C5C45-DF75-43DA-AB77-65D6FE171904}" type="datetimeFigureOut">
              <a:rPr lang="en-US" smtClean="0"/>
              <a:t>9/9/2026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9E7270-E0F0-4FF4-B444-152133EB64E9}" type="slidenum">
              <a:rPr lang="en-US" smtClean="0"/>
              <a:t>‹#›</a:t>
            </a:fld>
            <a:endParaRPr lang="en-US"/>
          </a:p>
        </p:txBody>
      </p:sp>
    </p:spTree>
    <p:extLst>
      <p:ext uri="{BB962C8B-B14F-4D97-AF65-F5344CB8AC3E}">
        <p14:creationId xmlns:p14="http://schemas.microsoft.com/office/powerpoint/2010/main" val="2806084897"/>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509760" y="914400"/>
            <a:ext cx="384048" cy="384048"/>
          </a:xfrm>
          <a:prstGeom prst="roundRect">
            <a:avLst>
              <a:gd name="adj" fmla="val 14286"/>
            </a:avLst>
          </a:prstGeom>
          <a:solidFill>
            <a:srgbClr val="1C7293"/>
          </a:solidFill>
          <a:ln/>
        </p:spPr>
      </p:sp>
      <p:sp>
        <p:nvSpPr>
          <p:cNvPr id="3" name="Shape 1"/>
          <p:cNvSpPr/>
          <p:nvPr/>
        </p:nvSpPr>
        <p:spPr>
          <a:xfrm>
            <a:off x="9966960" y="914400"/>
            <a:ext cx="384048" cy="384048"/>
          </a:xfrm>
          <a:prstGeom prst="roundRect">
            <a:avLst>
              <a:gd name="adj" fmla="val 14286"/>
            </a:avLst>
          </a:prstGeom>
          <a:solidFill>
            <a:srgbClr val="065A82"/>
          </a:solidFill>
          <a:ln/>
        </p:spPr>
      </p:sp>
      <p:sp>
        <p:nvSpPr>
          <p:cNvPr id="4" name="Shape 2"/>
          <p:cNvSpPr/>
          <p:nvPr/>
        </p:nvSpPr>
        <p:spPr>
          <a:xfrm>
            <a:off x="10424160" y="914400"/>
            <a:ext cx="384048" cy="384048"/>
          </a:xfrm>
          <a:prstGeom prst="roundRect">
            <a:avLst>
              <a:gd name="adj" fmla="val 14286"/>
            </a:avLst>
          </a:prstGeom>
          <a:solidFill>
            <a:srgbClr val="AEC6D6"/>
          </a:solidFill>
          <a:ln/>
        </p:spPr>
      </p:sp>
      <p:sp>
        <p:nvSpPr>
          <p:cNvPr id="5" name="Shape 3"/>
          <p:cNvSpPr/>
          <p:nvPr/>
        </p:nvSpPr>
        <p:spPr>
          <a:xfrm>
            <a:off x="9509760" y="1371600"/>
            <a:ext cx="384048" cy="384048"/>
          </a:xfrm>
          <a:prstGeom prst="roundRect">
            <a:avLst>
              <a:gd name="adj" fmla="val 14286"/>
            </a:avLst>
          </a:prstGeom>
          <a:solidFill>
            <a:srgbClr val="1C7293"/>
          </a:solidFill>
          <a:ln/>
        </p:spPr>
      </p:sp>
      <p:sp>
        <p:nvSpPr>
          <p:cNvPr id="6" name="Shape 4"/>
          <p:cNvSpPr/>
          <p:nvPr/>
        </p:nvSpPr>
        <p:spPr>
          <a:xfrm>
            <a:off x="9966960" y="1371600"/>
            <a:ext cx="384048" cy="384048"/>
          </a:xfrm>
          <a:prstGeom prst="roundRect">
            <a:avLst>
              <a:gd name="adj" fmla="val 14286"/>
            </a:avLst>
          </a:prstGeom>
          <a:solidFill>
            <a:srgbClr val="065A82"/>
          </a:solidFill>
          <a:ln/>
        </p:spPr>
      </p:sp>
      <p:sp>
        <p:nvSpPr>
          <p:cNvPr id="7" name="Shape 5"/>
          <p:cNvSpPr/>
          <p:nvPr/>
        </p:nvSpPr>
        <p:spPr>
          <a:xfrm>
            <a:off x="10424160" y="1371600"/>
            <a:ext cx="384048" cy="384048"/>
          </a:xfrm>
          <a:prstGeom prst="roundRect">
            <a:avLst>
              <a:gd name="adj" fmla="val 14286"/>
            </a:avLst>
          </a:prstGeom>
          <a:solidFill>
            <a:srgbClr val="AEC6D6"/>
          </a:solidFill>
          <a:ln/>
        </p:spPr>
      </p:sp>
      <p:sp>
        <p:nvSpPr>
          <p:cNvPr id="8" name="Shape 6"/>
          <p:cNvSpPr/>
          <p:nvPr/>
        </p:nvSpPr>
        <p:spPr>
          <a:xfrm>
            <a:off x="9509760" y="1828800"/>
            <a:ext cx="384048" cy="384048"/>
          </a:xfrm>
          <a:prstGeom prst="roundRect">
            <a:avLst>
              <a:gd name="adj" fmla="val 14286"/>
            </a:avLst>
          </a:prstGeom>
          <a:solidFill>
            <a:srgbClr val="1C7293"/>
          </a:solidFill>
          <a:ln/>
        </p:spPr>
      </p:sp>
      <p:sp>
        <p:nvSpPr>
          <p:cNvPr id="9" name="Shape 7"/>
          <p:cNvSpPr/>
          <p:nvPr/>
        </p:nvSpPr>
        <p:spPr>
          <a:xfrm>
            <a:off x="9966960" y="1828800"/>
            <a:ext cx="384048" cy="384048"/>
          </a:xfrm>
          <a:prstGeom prst="roundRect">
            <a:avLst>
              <a:gd name="adj" fmla="val 14286"/>
            </a:avLst>
          </a:prstGeom>
          <a:solidFill>
            <a:srgbClr val="065A82"/>
          </a:solidFill>
          <a:ln/>
        </p:spPr>
      </p:sp>
      <p:sp>
        <p:nvSpPr>
          <p:cNvPr id="10" name="Text 8"/>
          <p:cNvSpPr txBox="1"/>
          <p:nvPr/>
        </p:nvSpPr>
        <p:spPr>
          <a:xfrm>
            <a:off x="548640" y="1371600"/>
            <a:ext cx="8686800" cy="365760"/>
          </a:xfrm>
          <a:prstGeom prst="rect">
            <a:avLst/>
          </a:prstGeom>
          <a:noFill/>
          <a:ln/>
        </p:spPr>
        <p:txBody>
          <a:bodyPr wrap="square" lIns="0" tIns="0" rIns="0" bIns="0" rtlCol="0" anchor="ctr"/>
          <a:lstStyle/>
          <a:p>
            <a:pPr marL="0" indent="0">
              <a:buNone/>
            </a:pPr>
            <a:r>
              <a:rPr lang="en-US" sz="1300" b="1" kern="0" spc="300" dirty="0">
                <a:solidFill>
                  <a:srgbClr val="1C7293"/>
                </a:solidFill>
                <a:latin typeface="Calibri" pitchFamily="34" charset="0"/>
                <a:ea typeface="Calibri" pitchFamily="34" charset="-122"/>
                <a:cs typeface="Calibri" pitchFamily="34" charset="-120"/>
              </a:rPr>
              <a:t>BÁO CÁO CHUYÊN ĐỀ BIG DATA</a:t>
            </a:r>
            <a:endParaRPr lang="en-US" sz="1300" dirty="0"/>
          </a:p>
        </p:txBody>
      </p:sp>
      <p:sp>
        <p:nvSpPr>
          <p:cNvPr id="11" name="Text 9"/>
          <p:cNvSpPr txBox="1"/>
          <p:nvPr/>
        </p:nvSpPr>
        <p:spPr>
          <a:xfrm>
            <a:off x="548640" y="1828800"/>
            <a:ext cx="9326880" cy="1920240"/>
          </a:xfrm>
          <a:prstGeom prst="rect">
            <a:avLst/>
          </a:prstGeom>
          <a:noFill/>
          <a:ln/>
        </p:spPr>
        <p:txBody>
          <a:bodyPr wrap="square" lIns="0" tIns="0" rIns="0" bIns="0" rtlCol="0" anchor="ctr"/>
          <a:lstStyle/>
          <a:p>
            <a:pPr marL="0" indent="0">
              <a:lnSpc>
                <a:spcPct val="105000"/>
              </a:lnSpc>
              <a:buNone/>
            </a:pPr>
            <a:r>
              <a:rPr lang="en-US" sz="4200" b="1" dirty="0">
                <a:solidFill>
                  <a:srgbClr val="FFFFFF"/>
                </a:solidFill>
                <a:latin typeface="Times New Roman" pitchFamily="34" charset="0"/>
                <a:ea typeface="Times New Roman" pitchFamily="34" charset="-122"/>
                <a:cs typeface="Times New Roman" pitchFamily="34" charset="-120"/>
              </a:rPr>
              <a:t>KIẾN TRÚC &amp; CƠ CHẾ LƯU TRỮ</a:t>
            </a:r>
            <a:endParaRPr lang="en-US" sz="4200" dirty="0"/>
          </a:p>
          <a:p>
            <a:pPr marL="0" indent="0">
              <a:lnSpc>
                <a:spcPct val="105000"/>
              </a:lnSpc>
              <a:buNone/>
            </a:pPr>
            <a:r>
              <a:rPr lang="en-US" sz="4200" b="1" dirty="0">
                <a:solidFill>
                  <a:srgbClr val="FFFFFF"/>
                </a:solidFill>
                <a:latin typeface="Times New Roman" pitchFamily="34" charset="0"/>
                <a:ea typeface="Times New Roman" pitchFamily="34" charset="-122"/>
                <a:cs typeface="Times New Roman" pitchFamily="34" charset="-120"/>
              </a:rPr>
              <a:t>PHÂN TÁN APACHE HDFS</a:t>
            </a:r>
            <a:endParaRPr lang="en-US" sz="4200" dirty="0"/>
          </a:p>
        </p:txBody>
      </p:sp>
      <p:sp>
        <p:nvSpPr>
          <p:cNvPr id="12" name="Text 10"/>
          <p:cNvSpPr txBox="1"/>
          <p:nvPr/>
        </p:nvSpPr>
        <p:spPr>
          <a:xfrm>
            <a:off x="548640" y="3794760"/>
            <a:ext cx="8778240" cy="548640"/>
          </a:xfrm>
          <a:prstGeom prst="rect">
            <a:avLst/>
          </a:prstGeom>
          <a:noFill/>
          <a:ln/>
        </p:spPr>
        <p:txBody>
          <a:bodyPr wrap="square" lIns="0" tIns="0" rIns="0" bIns="0" rtlCol="0" anchor="ctr"/>
          <a:lstStyle/>
          <a:p>
            <a:pPr marL="0" indent="0">
              <a:buNone/>
            </a:pPr>
            <a:r>
              <a:rPr lang="en-US" sz="1700" i="1" dirty="0">
                <a:solidFill>
                  <a:srgbClr val="AEC6D6"/>
                </a:solidFill>
                <a:latin typeface="Calibri" pitchFamily="34" charset="0"/>
                <a:ea typeface="Calibri" pitchFamily="34" charset="-122"/>
                <a:cs typeface="Calibri" pitchFamily="34" charset="-120"/>
              </a:rPr>
              <a:t>Nền tảng lưu trữ dữ liệu lớn &amp; xu hướng chuyển dịch Cloud Data Lake</a:t>
            </a:r>
            <a:endParaRPr lang="en-US" sz="1700" dirty="0"/>
          </a:p>
        </p:txBody>
      </p:sp>
      <p:sp>
        <p:nvSpPr>
          <p:cNvPr id="13" name="Shape 11"/>
          <p:cNvSpPr/>
          <p:nvPr/>
        </p:nvSpPr>
        <p:spPr>
          <a:xfrm>
            <a:off x="548640" y="4617720"/>
            <a:ext cx="1005840" cy="32004"/>
          </a:xfrm>
          <a:prstGeom prst="rect">
            <a:avLst/>
          </a:prstGeom>
          <a:solidFill>
            <a:srgbClr val="1C7293"/>
          </a:solidFill>
          <a:ln/>
        </p:spPr>
      </p:sp>
      <p:sp>
        <p:nvSpPr>
          <p:cNvPr id="14" name="Text 12"/>
          <p:cNvSpPr txBox="1"/>
          <p:nvPr/>
        </p:nvSpPr>
        <p:spPr>
          <a:xfrm>
            <a:off x="548640" y="4892040"/>
            <a:ext cx="548640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NHÓM THỰC HIỆN</a:t>
            </a:r>
            <a:endParaRPr lang="en-US" sz="1100" dirty="0"/>
          </a:p>
        </p:txBody>
      </p:sp>
      <p:sp>
        <p:nvSpPr>
          <p:cNvPr id="15" name="Shape 13"/>
          <p:cNvSpPr/>
          <p:nvPr/>
        </p:nvSpPr>
        <p:spPr>
          <a:xfrm>
            <a:off x="548640" y="5230368"/>
            <a:ext cx="2454812" cy="868680"/>
          </a:xfrm>
          <a:prstGeom prst="roundRect">
            <a:avLst>
              <a:gd name="adj" fmla="val 8421"/>
            </a:avLst>
          </a:prstGeom>
          <a:solidFill>
            <a:srgbClr val="FFFFFF">
              <a:alpha val="8000"/>
            </a:srgbClr>
          </a:solidFill>
          <a:ln w="9525">
            <a:solidFill>
              <a:srgbClr val="AEC6D6"/>
            </a:solidFill>
            <a:prstDash val="solid"/>
          </a:ln>
        </p:spPr>
      </p:sp>
      <p:sp>
        <p:nvSpPr>
          <p:cNvPr id="18" name="Text 16"/>
          <p:cNvSpPr txBox="1"/>
          <p:nvPr/>
        </p:nvSpPr>
        <p:spPr>
          <a:xfrm>
            <a:off x="706902" y="5321808"/>
            <a:ext cx="246888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Nguyễn Đắc Luận</a:t>
            </a:r>
            <a:endParaRPr lang="en-US" sz="1400" dirty="0"/>
          </a:p>
        </p:txBody>
      </p:sp>
      <p:sp>
        <p:nvSpPr>
          <p:cNvPr id="19" name="Text 17"/>
          <p:cNvSpPr txBox="1"/>
          <p:nvPr/>
        </p:nvSpPr>
        <p:spPr>
          <a:xfrm>
            <a:off x="706902" y="5614416"/>
            <a:ext cx="2468880" cy="274320"/>
          </a:xfrm>
          <a:prstGeom prst="rect">
            <a:avLst/>
          </a:prstGeom>
          <a:noFill/>
          <a:ln/>
        </p:spPr>
        <p:txBody>
          <a:bodyPr wrap="square" lIns="0" tIns="0" rIns="0" bIns="0" rtlCol="0" anchor="ctr"/>
          <a:lstStyle/>
          <a:p>
            <a:pPr marL="0" indent="0">
              <a:buNone/>
            </a:pPr>
            <a:r>
              <a:rPr lang="en-US" sz="1100" dirty="0">
                <a:solidFill>
                  <a:srgbClr val="AEC6D6"/>
                </a:solidFill>
                <a:latin typeface="Calibri" pitchFamily="34" charset="0"/>
                <a:ea typeface="Calibri" pitchFamily="34" charset="-122"/>
                <a:cs typeface="Calibri" pitchFamily="34" charset="-120"/>
              </a:rPr>
              <a:t>MSSV: 2001230487</a:t>
            </a:r>
            <a:endParaRPr lang="en-US" sz="1100" dirty="0"/>
          </a:p>
        </p:txBody>
      </p:sp>
      <p:sp>
        <p:nvSpPr>
          <p:cNvPr id="20" name="Shape 18"/>
          <p:cNvSpPr/>
          <p:nvPr/>
        </p:nvSpPr>
        <p:spPr>
          <a:xfrm>
            <a:off x="3177540" y="5230368"/>
            <a:ext cx="2416126" cy="868680"/>
          </a:xfrm>
          <a:prstGeom prst="roundRect">
            <a:avLst>
              <a:gd name="adj" fmla="val 8421"/>
            </a:avLst>
          </a:prstGeom>
          <a:solidFill>
            <a:srgbClr val="FFFFFF">
              <a:alpha val="8000"/>
            </a:srgbClr>
          </a:solidFill>
          <a:ln w="9525">
            <a:solidFill>
              <a:srgbClr val="AEC6D6"/>
            </a:solidFill>
            <a:prstDash val="solid"/>
          </a:ln>
        </p:spPr>
      </p:sp>
      <p:sp>
        <p:nvSpPr>
          <p:cNvPr id="23" name="Text 21"/>
          <p:cNvSpPr txBox="1"/>
          <p:nvPr/>
        </p:nvSpPr>
        <p:spPr>
          <a:xfrm>
            <a:off x="3349870" y="5344668"/>
            <a:ext cx="246888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Đỗ Đình Độ</a:t>
            </a:r>
            <a:endParaRPr lang="en-US" sz="1400" dirty="0"/>
          </a:p>
        </p:txBody>
      </p:sp>
      <p:sp>
        <p:nvSpPr>
          <p:cNvPr id="24" name="Text 22"/>
          <p:cNvSpPr txBox="1"/>
          <p:nvPr/>
        </p:nvSpPr>
        <p:spPr>
          <a:xfrm>
            <a:off x="3349870" y="5586984"/>
            <a:ext cx="2468880" cy="274320"/>
          </a:xfrm>
          <a:prstGeom prst="rect">
            <a:avLst/>
          </a:prstGeom>
          <a:noFill/>
          <a:ln/>
        </p:spPr>
        <p:txBody>
          <a:bodyPr wrap="square" lIns="0" tIns="0" rIns="0" bIns="0" rtlCol="0" anchor="ctr"/>
          <a:lstStyle/>
          <a:p>
            <a:pPr marL="0" indent="0">
              <a:buNone/>
            </a:pPr>
            <a:r>
              <a:rPr lang="en-US" sz="1100" dirty="0">
                <a:solidFill>
                  <a:srgbClr val="AEC6D6"/>
                </a:solidFill>
                <a:latin typeface="Calibri" pitchFamily="34" charset="0"/>
                <a:ea typeface="Calibri" pitchFamily="34" charset="-122"/>
                <a:cs typeface="Calibri" pitchFamily="34" charset="-120"/>
              </a:rPr>
              <a:t>MSSV: 2001230179</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292608"/>
          </a:xfrm>
          <a:prstGeom prst="rect">
            <a:avLst/>
          </a:prstGeom>
          <a:noFill/>
          <a:ln/>
        </p:spPr>
        <p:txBody>
          <a:bodyPr wrap="square" lIns="0" tIns="0" rIns="0" bIns="0" rtlCol="0" anchor="ctr"/>
          <a:lstStyle/>
          <a:p>
            <a:pPr marL="0" indent="0">
              <a:buNone/>
            </a:pPr>
            <a:r>
              <a:rPr lang="en-US" sz="1300" b="1" kern="0" spc="150" dirty="0">
                <a:solidFill>
                  <a:srgbClr val="1C7293"/>
                </a:solidFill>
                <a:latin typeface="Calibri" pitchFamily="34" charset="0"/>
                <a:ea typeface="Calibri" pitchFamily="34" charset="-122"/>
                <a:cs typeface="Calibri" pitchFamily="34" charset="-120"/>
              </a:rPr>
              <a:t>Bối cảnh</a:t>
            </a:r>
            <a:endParaRPr lang="en-US" sz="1300" dirty="0"/>
          </a:p>
        </p:txBody>
      </p:sp>
      <p:sp>
        <p:nvSpPr>
          <p:cNvPr id="3" name="Text 1"/>
          <p:cNvSpPr txBox="1"/>
          <p:nvPr/>
        </p:nvSpPr>
        <p:spPr>
          <a:xfrm>
            <a:off x="548640" y="658368"/>
            <a:ext cx="11091672" cy="822960"/>
          </a:xfrm>
          <a:prstGeom prst="rect">
            <a:avLst/>
          </a:prstGeom>
          <a:noFill/>
          <a:ln/>
        </p:spPr>
        <p:txBody>
          <a:bodyPr wrap="square" lIns="0" tIns="0" rIns="0" bIns="0" rtlCol="0" anchor="t"/>
          <a:lstStyle/>
          <a:p>
            <a:pPr marL="0" indent="0">
              <a:buNone/>
            </a:pPr>
            <a:r>
              <a:rPr lang="en-US" sz="2800" b="1" dirty="0">
                <a:solidFill>
                  <a:srgbClr val="21295C"/>
                </a:solidFill>
                <a:latin typeface="Times New Roman" pitchFamily="34" charset="0"/>
                <a:ea typeface="Times New Roman" pitchFamily="34" charset="-122"/>
                <a:cs typeface="Times New Roman" pitchFamily="34" charset="-120"/>
              </a:rPr>
              <a:t>Thách Thức Big Data &amp; Giới Hạn CSDL Truyền Thống</a:t>
            </a:r>
            <a:endParaRPr lang="en-US" sz="2800" dirty="0"/>
          </a:p>
        </p:txBody>
      </p:sp>
      <p:sp>
        <p:nvSpPr>
          <p:cNvPr id="4" name="Shape 2"/>
          <p:cNvSpPr/>
          <p:nvPr/>
        </p:nvSpPr>
        <p:spPr>
          <a:xfrm>
            <a:off x="548640" y="1783080"/>
            <a:ext cx="420624" cy="420624"/>
          </a:xfrm>
          <a:prstGeom prst="ellipse">
            <a:avLst/>
          </a:prstGeom>
          <a:solidFill>
            <a:srgbClr val="065A82"/>
          </a:solidFill>
          <a:ln/>
        </p:spPr>
      </p:sp>
      <p:sp>
        <p:nvSpPr>
          <p:cNvPr id="5" name="Text 3"/>
          <p:cNvSpPr txBox="1"/>
          <p:nvPr/>
        </p:nvSpPr>
        <p:spPr>
          <a:xfrm>
            <a:off x="548640" y="1783080"/>
            <a:ext cx="420624" cy="420624"/>
          </a:xfrm>
          <a:prstGeom prst="rect">
            <a:avLst/>
          </a:prstGeom>
          <a:noFill/>
          <a:ln/>
        </p:spPr>
        <p:txBody>
          <a:bodyPr wrap="square" lIns="0" tIns="0" rIns="0" bIns="0" rtlCol="0" anchor="ctr"/>
          <a:lstStyle/>
          <a:p>
            <a:pPr marL="0" indent="0" algn="ctr">
              <a:buNone/>
            </a:pPr>
            <a:r>
              <a:rPr lang="en-US" sz="1380" b="1" dirty="0">
                <a:solidFill>
                  <a:srgbClr val="FFFFFF"/>
                </a:solidFill>
                <a:latin typeface="Calibri" pitchFamily="34" charset="0"/>
                <a:ea typeface="Calibri" pitchFamily="34" charset="-122"/>
                <a:cs typeface="Calibri" pitchFamily="34" charset="-120"/>
              </a:rPr>
              <a:t>1</a:t>
            </a:r>
            <a:endParaRPr lang="en-US" sz="1380" dirty="0"/>
          </a:p>
        </p:txBody>
      </p:sp>
      <p:sp>
        <p:nvSpPr>
          <p:cNvPr id="6" name="Text 4"/>
          <p:cNvSpPr txBox="1"/>
          <p:nvPr/>
        </p:nvSpPr>
        <p:spPr>
          <a:xfrm>
            <a:off x="1170432" y="1764792"/>
            <a:ext cx="5413248" cy="292608"/>
          </a:xfrm>
          <a:prstGeom prst="rect">
            <a:avLst/>
          </a:prstGeom>
          <a:noFill/>
          <a:ln/>
        </p:spPr>
        <p:txBody>
          <a:bodyPr wrap="square" lIns="0" tIns="0" rIns="0" bIns="0" rtlCol="0" anchor="ctr"/>
          <a:lstStyle/>
          <a:p>
            <a:pPr marL="0" indent="0">
              <a:buNone/>
            </a:pPr>
            <a:r>
              <a:rPr lang="en-US" sz="1500" b="1" dirty="0">
                <a:solidFill>
                  <a:srgbClr val="21295C"/>
                </a:solidFill>
                <a:latin typeface="Calibri" pitchFamily="34" charset="0"/>
                <a:ea typeface="Calibri" pitchFamily="34" charset="-122"/>
                <a:cs typeface="Calibri" pitchFamily="34" charset="-120"/>
              </a:rPr>
              <a:t>Bùng nổ dữ liệu</a:t>
            </a:r>
            <a:endParaRPr lang="en-US" sz="1500" dirty="0"/>
          </a:p>
        </p:txBody>
      </p:sp>
      <p:sp>
        <p:nvSpPr>
          <p:cNvPr id="7" name="Text 5"/>
          <p:cNvSpPr txBox="1"/>
          <p:nvPr/>
        </p:nvSpPr>
        <p:spPr>
          <a:xfrm>
            <a:off x="1170432" y="2075688"/>
            <a:ext cx="5413248" cy="640080"/>
          </a:xfrm>
          <a:prstGeom prst="rect">
            <a:avLst/>
          </a:prstGeom>
          <a:noFill/>
          <a:ln/>
        </p:spPr>
        <p:txBody>
          <a:bodyPr wrap="square" lIns="0" tIns="0" rIns="0" bIns="0" rtlCol="0" anchor="ctr"/>
          <a:lstStyle/>
          <a:p>
            <a:pPr marL="0" indent="0">
              <a:lnSpc>
                <a:spcPct val="115000"/>
              </a:lnSpc>
              <a:buNone/>
            </a:pPr>
            <a:r>
              <a:rPr lang="en-US" sz="1250" dirty="0">
                <a:solidFill>
                  <a:srgbClr val="6B7788"/>
                </a:solidFill>
                <a:latin typeface="Calibri" pitchFamily="34" charset="0"/>
                <a:ea typeface="Calibri" pitchFamily="34" charset="-122"/>
                <a:cs typeface="Calibri" pitchFamily="34" charset="-120"/>
              </a:rPr>
              <a:t>Tăng trưởng cấp số nhân từ ứng dụng di động, mạng xã hội, thiết bị IoT.</a:t>
            </a:r>
            <a:endParaRPr lang="en-US" sz="1250" dirty="0"/>
          </a:p>
        </p:txBody>
      </p:sp>
      <p:sp>
        <p:nvSpPr>
          <p:cNvPr id="8" name="Shape 6"/>
          <p:cNvSpPr/>
          <p:nvPr/>
        </p:nvSpPr>
        <p:spPr>
          <a:xfrm>
            <a:off x="548640" y="3017520"/>
            <a:ext cx="420624" cy="420624"/>
          </a:xfrm>
          <a:prstGeom prst="ellipse">
            <a:avLst/>
          </a:prstGeom>
          <a:solidFill>
            <a:srgbClr val="065A82"/>
          </a:solidFill>
          <a:ln/>
        </p:spPr>
      </p:sp>
      <p:sp>
        <p:nvSpPr>
          <p:cNvPr id="9" name="Text 7"/>
          <p:cNvSpPr txBox="1"/>
          <p:nvPr/>
        </p:nvSpPr>
        <p:spPr>
          <a:xfrm>
            <a:off x="548640" y="3017520"/>
            <a:ext cx="420624" cy="420624"/>
          </a:xfrm>
          <a:prstGeom prst="rect">
            <a:avLst/>
          </a:prstGeom>
          <a:noFill/>
          <a:ln/>
        </p:spPr>
        <p:txBody>
          <a:bodyPr wrap="square" lIns="0" tIns="0" rIns="0" bIns="0" rtlCol="0" anchor="ctr"/>
          <a:lstStyle/>
          <a:p>
            <a:pPr marL="0" indent="0" algn="ctr">
              <a:buNone/>
            </a:pPr>
            <a:r>
              <a:rPr lang="en-US" sz="1380" b="1" dirty="0">
                <a:solidFill>
                  <a:srgbClr val="FFFFFF"/>
                </a:solidFill>
                <a:latin typeface="Calibri" pitchFamily="34" charset="0"/>
                <a:ea typeface="Calibri" pitchFamily="34" charset="-122"/>
                <a:cs typeface="Calibri" pitchFamily="34" charset="-120"/>
              </a:rPr>
              <a:t>2</a:t>
            </a:r>
            <a:endParaRPr lang="en-US" sz="1380" dirty="0"/>
          </a:p>
        </p:txBody>
      </p:sp>
      <p:sp>
        <p:nvSpPr>
          <p:cNvPr id="10" name="Text 8"/>
          <p:cNvSpPr txBox="1"/>
          <p:nvPr/>
        </p:nvSpPr>
        <p:spPr>
          <a:xfrm>
            <a:off x="1170432" y="2999232"/>
            <a:ext cx="5413248" cy="292608"/>
          </a:xfrm>
          <a:prstGeom prst="rect">
            <a:avLst/>
          </a:prstGeom>
          <a:noFill/>
          <a:ln/>
        </p:spPr>
        <p:txBody>
          <a:bodyPr wrap="square" lIns="0" tIns="0" rIns="0" bIns="0" rtlCol="0" anchor="ctr"/>
          <a:lstStyle/>
          <a:p>
            <a:pPr marL="0" indent="0">
              <a:buNone/>
            </a:pPr>
            <a:r>
              <a:rPr lang="en-US" sz="1500" b="1" dirty="0">
                <a:solidFill>
                  <a:srgbClr val="21295C"/>
                </a:solidFill>
                <a:latin typeface="Calibri" pitchFamily="34" charset="0"/>
                <a:ea typeface="Calibri" pitchFamily="34" charset="-122"/>
                <a:cs typeface="Calibri" pitchFamily="34" charset="-120"/>
              </a:rPr>
              <a:t>Bế tắc của Scale-up</a:t>
            </a:r>
            <a:endParaRPr lang="en-US" sz="1500" dirty="0"/>
          </a:p>
        </p:txBody>
      </p:sp>
      <p:sp>
        <p:nvSpPr>
          <p:cNvPr id="11" name="Text 9"/>
          <p:cNvSpPr txBox="1"/>
          <p:nvPr/>
        </p:nvSpPr>
        <p:spPr>
          <a:xfrm>
            <a:off x="1170432" y="3310128"/>
            <a:ext cx="5413248" cy="640080"/>
          </a:xfrm>
          <a:prstGeom prst="rect">
            <a:avLst/>
          </a:prstGeom>
          <a:noFill/>
          <a:ln/>
        </p:spPr>
        <p:txBody>
          <a:bodyPr wrap="square" lIns="0" tIns="0" rIns="0" bIns="0" rtlCol="0" anchor="ctr"/>
          <a:lstStyle/>
          <a:p>
            <a:pPr marL="0" indent="0">
              <a:lnSpc>
                <a:spcPct val="115000"/>
              </a:lnSpc>
              <a:buNone/>
            </a:pPr>
            <a:r>
              <a:rPr lang="en-US" sz="1250" dirty="0">
                <a:solidFill>
                  <a:srgbClr val="6B7788"/>
                </a:solidFill>
                <a:latin typeface="Calibri" pitchFamily="34" charset="0"/>
                <a:ea typeface="Calibri" pitchFamily="34" charset="-122"/>
                <a:cs typeface="Calibri" pitchFamily="34" charset="-120"/>
              </a:rPr>
              <a:t>Nâng cấp RAM/CPU một máy chủ duy nhất quá đắt đỏ, chạm trần vật lý và nghẽn cổ chai I/O đĩa cứng.</a:t>
            </a:r>
            <a:endParaRPr lang="en-US" sz="1250" dirty="0"/>
          </a:p>
        </p:txBody>
      </p:sp>
      <p:sp>
        <p:nvSpPr>
          <p:cNvPr id="12" name="Shape 10"/>
          <p:cNvSpPr/>
          <p:nvPr/>
        </p:nvSpPr>
        <p:spPr>
          <a:xfrm>
            <a:off x="548640" y="4251960"/>
            <a:ext cx="420624" cy="420624"/>
          </a:xfrm>
          <a:prstGeom prst="ellipse">
            <a:avLst/>
          </a:prstGeom>
          <a:solidFill>
            <a:srgbClr val="065A82"/>
          </a:solidFill>
          <a:ln/>
        </p:spPr>
      </p:sp>
      <p:sp>
        <p:nvSpPr>
          <p:cNvPr id="13" name="Text 11"/>
          <p:cNvSpPr txBox="1"/>
          <p:nvPr/>
        </p:nvSpPr>
        <p:spPr>
          <a:xfrm>
            <a:off x="548640" y="4251960"/>
            <a:ext cx="420624" cy="420624"/>
          </a:xfrm>
          <a:prstGeom prst="rect">
            <a:avLst/>
          </a:prstGeom>
          <a:noFill/>
          <a:ln/>
        </p:spPr>
        <p:txBody>
          <a:bodyPr wrap="square" lIns="0" tIns="0" rIns="0" bIns="0" rtlCol="0" anchor="ctr"/>
          <a:lstStyle/>
          <a:p>
            <a:pPr marL="0" indent="0" algn="ctr">
              <a:buNone/>
            </a:pPr>
            <a:r>
              <a:rPr lang="en-US" sz="1380" b="1" dirty="0">
                <a:solidFill>
                  <a:srgbClr val="FFFFFF"/>
                </a:solidFill>
                <a:latin typeface="Calibri" pitchFamily="34" charset="0"/>
                <a:ea typeface="Calibri" pitchFamily="34" charset="-122"/>
                <a:cs typeface="Calibri" pitchFamily="34" charset="-120"/>
              </a:rPr>
              <a:t>3</a:t>
            </a:r>
            <a:endParaRPr lang="en-US" sz="1380" dirty="0"/>
          </a:p>
        </p:txBody>
      </p:sp>
      <p:sp>
        <p:nvSpPr>
          <p:cNvPr id="14" name="Text 12"/>
          <p:cNvSpPr txBox="1"/>
          <p:nvPr/>
        </p:nvSpPr>
        <p:spPr>
          <a:xfrm>
            <a:off x="1170432" y="4233672"/>
            <a:ext cx="5413248" cy="292608"/>
          </a:xfrm>
          <a:prstGeom prst="rect">
            <a:avLst/>
          </a:prstGeom>
          <a:noFill/>
          <a:ln/>
        </p:spPr>
        <p:txBody>
          <a:bodyPr wrap="square" lIns="0" tIns="0" rIns="0" bIns="0" rtlCol="0" anchor="ctr"/>
          <a:lstStyle/>
          <a:p>
            <a:pPr marL="0" indent="0">
              <a:buNone/>
            </a:pPr>
            <a:r>
              <a:rPr lang="en-US" sz="1500" b="1" dirty="0">
                <a:solidFill>
                  <a:srgbClr val="21295C"/>
                </a:solidFill>
                <a:latin typeface="Calibri" pitchFamily="34" charset="0"/>
                <a:ea typeface="Calibri" pitchFamily="34" charset="-122"/>
                <a:cs typeface="Calibri" pitchFamily="34" charset="-120"/>
              </a:rPr>
              <a:t>Giải pháp: Scale-out</a:t>
            </a:r>
            <a:endParaRPr lang="en-US" sz="1500" dirty="0"/>
          </a:p>
        </p:txBody>
      </p:sp>
      <p:sp>
        <p:nvSpPr>
          <p:cNvPr id="15" name="Text 13"/>
          <p:cNvSpPr txBox="1"/>
          <p:nvPr/>
        </p:nvSpPr>
        <p:spPr>
          <a:xfrm>
            <a:off x="1170432" y="4544568"/>
            <a:ext cx="5413248" cy="640080"/>
          </a:xfrm>
          <a:prstGeom prst="rect">
            <a:avLst/>
          </a:prstGeom>
          <a:noFill/>
          <a:ln/>
        </p:spPr>
        <p:txBody>
          <a:bodyPr wrap="square" lIns="0" tIns="0" rIns="0" bIns="0" rtlCol="0" anchor="ctr"/>
          <a:lstStyle/>
          <a:p>
            <a:pPr marL="0" indent="0">
              <a:lnSpc>
                <a:spcPct val="115000"/>
              </a:lnSpc>
              <a:buNone/>
            </a:pPr>
            <a:r>
              <a:rPr lang="en-US" sz="1250" dirty="0">
                <a:solidFill>
                  <a:srgbClr val="6B7788"/>
                </a:solidFill>
                <a:latin typeface="Calibri" pitchFamily="34" charset="0"/>
                <a:ea typeface="Calibri" pitchFamily="34" charset="-122"/>
                <a:cs typeface="Calibri" pitchFamily="34" charset="-120"/>
              </a:rPr>
              <a:t>Kết nối hàng ngàn máy tính thông thường (commodity hardware) thành một cụm duy nhất.</a:t>
            </a:r>
            <a:endParaRPr lang="en-US" sz="1250" dirty="0"/>
          </a:p>
        </p:txBody>
      </p:sp>
      <p:sp>
        <p:nvSpPr>
          <p:cNvPr id="16" name="Shape 14"/>
          <p:cNvSpPr/>
          <p:nvPr/>
        </p:nvSpPr>
        <p:spPr>
          <a:xfrm>
            <a:off x="7040880" y="1783080"/>
            <a:ext cx="4599432" cy="3794760"/>
          </a:xfrm>
          <a:prstGeom prst="roundRect">
            <a:avLst>
              <a:gd name="adj" fmla="val 2892"/>
            </a:avLst>
          </a:prstGeom>
          <a:solidFill>
            <a:srgbClr val="21295C"/>
          </a:solidFill>
          <a:ln/>
          <a:effectLst>
            <a:outerShdw blurRad="101600" dist="38100" dir="5400000" algn="bl" rotWithShape="0">
              <a:srgbClr val="888888">
                <a:alpha val="35000"/>
              </a:srgbClr>
            </a:outerShdw>
          </a:effectLst>
        </p:spPr>
      </p:sp>
      <p:sp>
        <p:nvSpPr>
          <p:cNvPr id="17" name="Text 15"/>
          <p:cNvSpPr txBox="1"/>
          <p:nvPr/>
        </p:nvSpPr>
        <p:spPr>
          <a:xfrm>
            <a:off x="7406640" y="2057400"/>
            <a:ext cx="3867912" cy="274320"/>
          </a:xfrm>
          <a:prstGeom prst="rect">
            <a:avLst/>
          </a:prstGeom>
          <a:noFill/>
          <a:ln/>
        </p:spPr>
        <p:txBody>
          <a:bodyPr wrap="square" lIns="0" tIns="0" rIns="0" bIns="0" rtlCol="0" anchor="ctr"/>
          <a:lstStyle/>
          <a:p>
            <a:pPr marL="0" indent="0">
              <a:buNone/>
            </a:pPr>
            <a:r>
              <a:rPr lang="en-US" sz="1100" b="1" kern="0" spc="200" dirty="0">
                <a:solidFill>
                  <a:srgbClr val="AEC6D6"/>
                </a:solidFill>
                <a:latin typeface="Calibri" pitchFamily="34" charset="0"/>
                <a:ea typeface="Calibri" pitchFamily="34" charset="-122"/>
                <a:cs typeface="Calibri" pitchFamily="34" charset="-120"/>
              </a:rPr>
              <a:t>VÍ DỤ THỰC TẾ</a:t>
            </a:r>
            <a:endParaRPr lang="en-US" sz="1100" dirty="0"/>
          </a:p>
        </p:txBody>
      </p:sp>
      <p:sp>
        <p:nvSpPr>
          <p:cNvPr id="18" name="Text 16"/>
          <p:cNvSpPr txBox="1"/>
          <p:nvPr/>
        </p:nvSpPr>
        <p:spPr>
          <a:xfrm>
            <a:off x="7406640" y="2331720"/>
            <a:ext cx="3867912" cy="457200"/>
          </a:xfrm>
          <a:prstGeom prst="rect">
            <a:avLst/>
          </a:prstGeom>
          <a:noFill/>
          <a:ln/>
        </p:spPr>
        <p:txBody>
          <a:bodyPr wrap="square" lIns="0" tIns="0" rIns="0" bIns="0" rtlCol="0" anchor="ctr"/>
          <a:lstStyle/>
          <a:p>
            <a:pPr marL="0" indent="0">
              <a:buNone/>
            </a:pPr>
            <a:r>
              <a:rPr lang="en-US" sz="2600" b="1" dirty="0">
                <a:solidFill>
                  <a:srgbClr val="FFFFFF"/>
                </a:solidFill>
                <a:latin typeface="Times New Roman" pitchFamily="34" charset="0"/>
                <a:ea typeface="Times New Roman" pitchFamily="34" charset="-122"/>
                <a:cs typeface="Times New Roman" pitchFamily="34" charset="-120"/>
              </a:rPr>
              <a:t>Walmart</a:t>
            </a:r>
            <a:endParaRPr lang="en-US" sz="2600" dirty="0"/>
          </a:p>
        </p:txBody>
      </p:sp>
      <p:sp>
        <p:nvSpPr>
          <p:cNvPr id="19" name="Text 17"/>
          <p:cNvSpPr txBox="1"/>
          <p:nvPr/>
        </p:nvSpPr>
        <p:spPr>
          <a:xfrm>
            <a:off x="7406640" y="2880360"/>
            <a:ext cx="3867912" cy="685800"/>
          </a:xfrm>
          <a:prstGeom prst="rect">
            <a:avLst/>
          </a:prstGeom>
          <a:noFill/>
          <a:ln/>
        </p:spPr>
        <p:txBody>
          <a:bodyPr wrap="square" lIns="0" tIns="0" rIns="0" bIns="0" rtlCol="0" anchor="ctr"/>
          <a:lstStyle/>
          <a:p>
            <a:pPr marL="0" indent="0">
              <a:buNone/>
            </a:pPr>
            <a:r>
              <a:rPr lang="en-US" sz="4200" b="1" dirty="0">
                <a:solidFill>
                  <a:srgbClr val="5FD0C6"/>
                </a:solidFill>
                <a:latin typeface="Times New Roman" pitchFamily="34" charset="0"/>
                <a:ea typeface="Times New Roman" pitchFamily="34" charset="-122"/>
                <a:cs typeface="Times New Roman" pitchFamily="34" charset="-120"/>
              </a:rPr>
              <a:t>1 triệu+</a:t>
            </a:r>
            <a:endParaRPr lang="en-US" sz="4200" dirty="0"/>
          </a:p>
        </p:txBody>
      </p:sp>
      <p:sp>
        <p:nvSpPr>
          <p:cNvPr id="20" name="Text 18"/>
          <p:cNvSpPr txBox="1"/>
          <p:nvPr/>
        </p:nvSpPr>
        <p:spPr>
          <a:xfrm>
            <a:off x="7406640" y="3520440"/>
            <a:ext cx="3867912" cy="365760"/>
          </a:xfrm>
          <a:prstGeom prst="rect">
            <a:avLst/>
          </a:prstGeom>
          <a:noFill/>
          <a:ln/>
        </p:spPr>
        <p:txBody>
          <a:bodyPr wrap="square" lIns="0" tIns="0" rIns="0" bIns="0" rtlCol="0" anchor="ctr"/>
          <a:lstStyle/>
          <a:p>
            <a:pPr marL="0" indent="0">
              <a:buNone/>
            </a:pPr>
            <a:r>
              <a:rPr lang="en-US" sz="1300" dirty="0">
                <a:solidFill>
                  <a:srgbClr val="AEC6D6"/>
                </a:solidFill>
                <a:latin typeface="Calibri" pitchFamily="34" charset="0"/>
                <a:ea typeface="Calibri" pitchFamily="34" charset="-122"/>
                <a:cs typeface="Calibri" pitchFamily="34" charset="-120"/>
              </a:rPr>
              <a:t>giao dịch khách hàng mỗi giờ</a:t>
            </a:r>
            <a:endParaRPr lang="en-US" sz="1300" dirty="0"/>
          </a:p>
        </p:txBody>
      </p:sp>
      <p:sp>
        <p:nvSpPr>
          <p:cNvPr id="21" name="Shape 19"/>
          <p:cNvSpPr/>
          <p:nvPr/>
        </p:nvSpPr>
        <p:spPr>
          <a:xfrm>
            <a:off x="7406640" y="3977640"/>
            <a:ext cx="3867912" cy="18288"/>
          </a:xfrm>
          <a:prstGeom prst="rect">
            <a:avLst/>
          </a:prstGeom>
          <a:solidFill>
            <a:srgbClr val="3A4570"/>
          </a:solidFill>
          <a:ln/>
        </p:spPr>
      </p:sp>
      <p:sp>
        <p:nvSpPr>
          <p:cNvPr id="22" name="Text 20"/>
          <p:cNvSpPr txBox="1"/>
          <p:nvPr/>
        </p:nvSpPr>
        <p:spPr>
          <a:xfrm>
            <a:off x="7406640" y="4160520"/>
            <a:ext cx="3867912" cy="502920"/>
          </a:xfrm>
          <a:prstGeom prst="rect">
            <a:avLst/>
          </a:prstGeom>
          <a:noFill/>
          <a:ln/>
        </p:spPr>
        <p:txBody>
          <a:bodyPr wrap="square" lIns="0" tIns="0" rIns="0" bIns="0" rtlCol="0" anchor="ctr"/>
          <a:lstStyle/>
          <a:p>
            <a:pPr marL="0" indent="0">
              <a:buNone/>
            </a:pPr>
            <a:r>
              <a:rPr lang="en-US" sz="3000" b="1" dirty="0">
                <a:solidFill>
                  <a:srgbClr val="5FD0C6"/>
                </a:solidFill>
                <a:latin typeface="Times New Roman" pitchFamily="34" charset="0"/>
                <a:ea typeface="Times New Roman" pitchFamily="34" charset="-122"/>
                <a:cs typeface="Times New Roman" pitchFamily="34" charset="-120"/>
              </a:rPr>
              <a:t>≈ 2.5 PB</a:t>
            </a:r>
            <a:endParaRPr lang="en-US" sz="3000" dirty="0"/>
          </a:p>
        </p:txBody>
      </p:sp>
      <p:sp>
        <p:nvSpPr>
          <p:cNvPr id="23" name="Text 21"/>
          <p:cNvSpPr txBox="1"/>
          <p:nvPr/>
        </p:nvSpPr>
        <p:spPr>
          <a:xfrm>
            <a:off x="7406640" y="4709160"/>
            <a:ext cx="3867912" cy="777240"/>
          </a:xfrm>
          <a:prstGeom prst="rect">
            <a:avLst/>
          </a:prstGeom>
          <a:noFill/>
          <a:ln/>
        </p:spPr>
        <p:txBody>
          <a:bodyPr wrap="square" lIns="0" tIns="0" rIns="0" bIns="0" rtlCol="0" anchor="ctr"/>
          <a:lstStyle/>
          <a:p>
            <a:pPr marL="0" indent="0">
              <a:lnSpc>
                <a:spcPct val="120000"/>
              </a:lnSpc>
              <a:buNone/>
            </a:pPr>
            <a:r>
              <a:rPr lang="en-US" sz="1200" dirty="0">
                <a:solidFill>
                  <a:srgbClr val="AEC6D6"/>
                </a:solidFill>
                <a:latin typeface="Calibri" pitchFamily="34" charset="0"/>
                <a:ea typeface="Calibri" pitchFamily="34" charset="-122"/>
                <a:cs typeface="Calibri" pitchFamily="34" charset="-120"/>
              </a:rPr>
              <a:t>dữ liệu nạp vào mỗi ngày — RDBMS truyền thống không thể lưu trữ hay truy vấn nổi khối lượng này.</a:t>
            </a:r>
            <a:endParaRPr lang="en-US" sz="1200" dirty="0"/>
          </a:p>
        </p:txBody>
      </p:sp>
      <p:sp>
        <p:nvSpPr>
          <p:cNvPr id="24" name="Text 22"/>
          <p:cNvSpPr txBox="1"/>
          <p:nvPr/>
        </p:nvSpPr>
        <p:spPr>
          <a:xfrm>
            <a:off x="548640" y="6473952"/>
            <a:ext cx="3657600" cy="274320"/>
          </a:xfrm>
          <a:prstGeom prst="rect">
            <a:avLst/>
          </a:prstGeom>
          <a:noFill/>
          <a:ln/>
        </p:spPr>
        <p:txBody>
          <a:bodyPr wrap="square" lIns="0" tIns="0" rIns="0" bIns="0" rtlCol="0" anchor="ctr"/>
          <a:lstStyle/>
          <a:p>
            <a:pPr marL="0" indent="0" algn="l">
              <a:buNone/>
            </a:pPr>
            <a:r>
              <a:rPr lang="en-US" sz="900" dirty="0">
                <a:solidFill>
                  <a:srgbClr val="6B7788"/>
                </a:solidFill>
                <a:latin typeface="Calibri" pitchFamily="34" charset="0"/>
                <a:ea typeface="Calibri" pitchFamily="34" charset="-122"/>
                <a:cs typeface="Calibri" pitchFamily="34" charset="-120"/>
              </a:rPr>
              <a:t>APACHE HDFS  ·  BIG DATA</a:t>
            </a:r>
            <a:endParaRPr lang="en-US" sz="900" dirty="0"/>
          </a:p>
        </p:txBody>
      </p:sp>
      <p:sp>
        <p:nvSpPr>
          <p:cNvPr id="25" name="Text 23"/>
          <p:cNvSpPr txBox="1"/>
          <p:nvPr/>
        </p:nvSpPr>
        <p:spPr>
          <a:xfrm>
            <a:off x="11228832" y="6473952"/>
            <a:ext cx="411480" cy="274320"/>
          </a:xfrm>
          <a:prstGeom prst="rect">
            <a:avLst/>
          </a:prstGeom>
          <a:noFill/>
          <a:ln/>
        </p:spPr>
        <p:txBody>
          <a:bodyPr wrap="square" lIns="0" tIns="0" rIns="0" bIns="0" rtlCol="0" anchor="ctr"/>
          <a:lstStyle/>
          <a:p>
            <a:pPr marL="0" indent="0" algn="r">
              <a:buNone/>
            </a:pPr>
            <a:r>
              <a:rPr lang="en-US" sz="900" dirty="0">
                <a:solidFill>
                  <a:srgbClr val="6B7788"/>
                </a:solidFill>
                <a:latin typeface="Calibri" pitchFamily="34" charset="0"/>
                <a:ea typeface="Calibri" pitchFamily="34" charset="-122"/>
                <a:cs typeface="Calibri" pitchFamily="34" charset="-120"/>
              </a:rPr>
              <a:t>02</a:t>
            </a:r>
            <a:endParaRPr lang="en-US" sz="900" dirty="0"/>
          </a:p>
        </p:txBody>
      </p:sp>
      <p:sp>
        <p:nvSpPr>
          <p:cNvPr id="26" name="Shape 24"/>
          <p:cNvSpPr/>
          <p:nvPr/>
        </p:nvSpPr>
        <p:spPr>
          <a:xfrm>
            <a:off x="10543032" y="6473952"/>
            <a:ext cx="146304" cy="146304"/>
          </a:xfrm>
          <a:prstGeom prst="roundRect">
            <a:avLst>
              <a:gd name="adj" fmla="val 18750"/>
            </a:avLst>
          </a:prstGeom>
          <a:solidFill>
            <a:srgbClr val="065A82"/>
          </a:solidFill>
          <a:ln/>
        </p:spPr>
      </p:sp>
      <p:sp>
        <p:nvSpPr>
          <p:cNvPr id="27" name="Shape 25"/>
          <p:cNvSpPr/>
          <p:nvPr/>
        </p:nvSpPr>
        <p:spPr>
          <a:xfrm>
            <a:off x="10744200" y="6473952"/>
            <a:ext cx="146304" cy="146304"/>
          </a:xfrm>
          <a:prstGeom prst="roundRect">
            <a:avLst>
              <a:gd name="adj" fmla="val 18750"/>
            </a:avLst>
          </a:prstGeom>
          <a:solidFill>
            <a:srgbClr val="1C7293"/>
          </a:solidFill>
          <a:ln/>
        </p:spPr>
      </p:sp>
      <p:sp>
        <p:nvSpPr>
          <p:cNvPr id="28" name="Shape 26"/>
          <p:cNvSpPr/>
          <p:nvPr/>
        </p:nvSpPr>
        <p:spPr>
          <a:xfrm>
            <a:off x="10945368" y="6473952"/>
            <a:ext cx="146304" cy="146304"/>
          </a:xfrm>
          <a:prstGeom prst="roundRect">
            <a:avLst>
              <a:gd name="adj" fmla="val 18750"/>
            </a:avLst>
          </a:prstGeom>
          <a:solidFill>
            <a:srgbClr val="21295C"/>
          </a:solid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292608"/>
          </a:xfrm>
          <a:prstGeom prst="rect">
            <a:avLst/>
          </a:prstGeom>
          <a:noFill/>
          <a:ln/>
        </p:spPr>
        <p:txBody>
          <a:bodyPr wrap="square" lIns="0" tIns="0" rIns="0" bIns="0" rtlCol="0" anchor="ctr"/>
          <a:lstStyle/>
          <a:p>
            <a:pPr marL="0" indent="0">
              <a:buNone/>
            </a:pPr>
            <a:r>
              <a:rPr lang="en-US" sz="1300" b="1" kern="0" spc="150" dirty="0">
                <a:solidFill>
                  <a:srgbClr val="1C7293"/>
                </a:solidFill>
                <a:latin typeface="Calibri" pitchFamily="34" charset="0"/>
                <a:ea typeface="Calibri" pitchFamily="34" charset="-122"/>
                <a:cs typeface="Calibri" pitchFamily="34" charset="-120"/>
              </a:rPr>
              <a:t>Giới thiệu</a:t>
            </a:r>
            <a:endParaRPr lang="en-US" sz="1300" dirty="0"/>
          </a:p>
        </p:txBody>
      </p:sp>
      <p:sp>
        <p:nvSpPr>
          <p:cNvPr id="3" name="Text 1"/>
          <p:cNvSpPr txBox="1"/>
          <p:nvPr/>
        </p:nvSpPr>
        <p:spPr>
          <a:xfrm>
            <a:off x="548640" y="658368"/>
            <a:ext cx="11091672" cy="822960"/>
          </a:xfrm>
          <a:prstGeom prst="rect">
            <a:avLst/>
          </a:prstGeom>
          <a:noFill/>
          <a:ln/>
        </p:spPr>
        <p:txBody>
          <a:bodyPr wrap="square" lIns="0" tIns="0" rIns="0" bIns="0" rtlCol="0" anchor="t"/>
          <a:lstStyle/>
          <a:p>
            <a:r>
              <a:rPr lang="en-US" sz="2800" b="1" dirty="0">
                <a:solidFill>
                  <a:srgbClr val="21295C"/>
                </a:solidFill>
                <a:latin typeface="Times New Roman" pitchFamily="34" charset="0"/>
                <a:ea typeface="Times New Roman" pitchFamily="34" charset="-122"/>
                <a:cs typeface="Times New Roman" pitchFamily="34" charset="-120"/>
              </a:rPr>
              <a:t>Tổng Quan Về Apache </a:t>
            </a:r>
            <a:r>
              <a:rPr lang="vi-VN" sz="2800" b="1" dirty="0" smtClean="0">
                <a:solidFill>
                  <a:srgbClr val="21295C"/>
                </a:solidFill>
                <a:latin typeface="Times New Roman" pitchFamily="34" charset="0"/>
                <a:ea typeface="Times New Roman" pitchFamily="34" charset="-122"/>
                <a:cs typeface="Times New Roman" pitchFamily="34" charset="-120"/>
              </a:rPr>
              <a:t>HDFS (</a:t>
            </a:r>
            <a:r>
              <a:rPr lang="vi-VN" sz="2800" b="1" dirty="0">
                <a:solidFill>
                  <a:srgbClr val="21295C"/>
                </a:solidFill>
                <a:latin typeface="Times New Roman" pitchFamily="34" charset="0"/>
                <a:ea typeface="Times New Roman" pitchFamily="34" charset="-122"/>
                <a:cs typeface="Times New Roman" pitchFamily="34" charset="-120"/>
              </a:rPr>
              <a:t>Hadoop Distributed File </a:t>
            </a:r>
            <a:r>
              <a:rPr lang="vi-VN" sz="2800" b="1" dirty="0" smtClean="0">
                <a:solidFill>
                  <a:srgbClr val="21295C"/>
                </a:solidFill>
                <a:latin typeface="Times New Roman" pitchFamily="34" charset="0"/>
                <a:ea typeface="Times New Roman" pitchFamily="34" charset="-122"/>
                <a:cs typeface="Times New Roman" pitchFamily="34" charset="-120"/>
              </a:rPr>
              <a:t>System)</a:t>
            </a:r>
            <a:endParaRPr lang="en-US" sz="2800" dirty="0"/>
          </a:p>
        </p:txBody>
      </p:sp>
      <p:sp>
        <p:nvSpPr>
          <p:cNvPr id="4" name="Shape 2"/>
          <p:cNvSpPr/>
          <p:nvPr/>
        </p:nvSpPr>
        <p:spPr>
          <a:xfrm>
            <a:off x="548640" y="1874520"/>
            <a:ext cx="73152" cy="777240"/>
          </a:xfrm>
          <a:prstGeom prst="roundRect">
            <a:avLst>
              <a:gd name="adj" fmla="val 50000"/>
            </a:avLst>
          </a:prstGeom>
          <a:solidFill>
            <a:srgbClr val="1C7293"/>
          </a:solidFill>
          <a:ln/>
        </p:spPr>
      </p:sp>
      <p:sp>
        <p:nvSpPr>
          <p:cNvPr id="5" name="Text 3"/>
          <p:cNvSpPr txBox="1"/>
          <p:nvPr/>
        </p:nvSpPr>
        <p:spPr>
          <a:xfrm>
            <a:off x="868680" y="1874520"/>
            <a:ext cx="10771632" cy="292608"/>
          </a:xfrm>
          <a:prstGeom prst="rect">
            <a:avLst/>
          </a:prstGeom>
          <a:noFill/>
          <a:ln/>
        </p:spPr>
        <p:txBody>
          <a:bodyPr wrap="square" lIns="0" tIns="0" rIns="0" bIns="0"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Định nghĩa</a:t>
            </a:r>
            <a:endParaRPr lang="en-US" sz="1600" dirty="0"/>
          </a:p>
        </p:txBody>
      </p:sp>
      <p:sp>
        <p:nvSpPr>
          <p:cNvPr id="6" name="Text 4"/>
          <p:cNvSpPr txBox="1"/>
          <p:nvPr/>
        </p:nvSpPr>
        <p:spPr>
          <a:xfrm>
            <a:off x="868680" y="2194560"/>
            <a:ext cx="10771632" cy="457200"/>
          </a:xfrm>
          <a:prstGeom prst="rect">
            <a:avLst/>
          </a:prstGeom>
          <a:noFill/>
          <a:ln/>
        </p:spPr>
        <p:txBody>
          <a:bodyPr wrap="square" lIns="0" tIns="0" rIns="0" bIns="0" rtlCol="0" anchor="ctr"/>
          <a:lstStyle/>
          <a:p>
            <a:pPr marL="0" indent="0">
              <a:buNone/>
            </a:pPr>
            <a:r>
              <a:rPr lang="en-US" sz="1350" dirty="0">
                <a:solidFill>
                  <a:srgbClr val="6B7788"/>
                </a:solidFill>
                <a:latin typeface="Calibri" pitchFamily="34" charset="0"/>
                <a:ea typeface="Calibri" pitchFamily="34" charset="-122"/>
                <a:cs typeface="Calibri" pitchFamily="34" charset="-120"/>
              </a:rPr>
              <a:t>Hệ thống tệp phân tán mã nguồn mở của Apache, lấy cảm hứng từ Google File System (GFS).</a:t>
            </a:r>
            <a:endParaRPr lang="en-US" sz="1350" dirty="0"/>
          </a:p>
        </p:txBody>
      </p:sp>
      <p:sp>
        <p:nvSpPr>
          <p:cNvPr id="7" name="Shape 5"/>
          <p:cNvSpPr/>
          <p:nvPr/>
        </p:nvSpPr>
        <p:spPr>
          <a:xfrm>
            <a:off x="548640" y="2834640"/>
            <a:ext cx="73152" cy="777240"/>
          </a:xfrm>
          <a:prstGeom prst="roundRect">
            <a:avLst>
              <a:gd name="adj" fmla="val 50000"/>
            </a:avLst>
          </a:prstGeom>
          <a:solidFill>
            <a:srgbClr val="1C7293"/>
          </a:solidFill>
          <a:ln/>
        </p:spPr>
      </p:sp>
      <p:sp>
        <p:nvSpPr>
          <p:cNvPr id="8" name="Text 6"/>
          <p:cNvSpPr txBox="1"/>
          <p:nvPr/>
        </p:nvSpPr>
        <p:spPr>
          <a:xfrm>
            <a:off x="868680" y="2834640"/>
            <a:ext cx="10771632" cy="292608"/>
          </a:xfrm>
          <a:prstGeom prst="rect">
            <a:avLst/>
          </a:prstGeom>
          <a:noFill/>
          <a:ln/>
        </p:spPr>
        <p:txBody>
          <a:bodyPr wrap="square" lIns="0" tIns="0" rIns="0" bIns="0"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Mục tiêu</a:t>
            </a:r>
            <a:endParaRPr lang="en-US" sz="1600" dirty="0"/>
          </a:p>
        </p:txBody>
      </p:sp>
      <p:sp>
        <p:nvSpPr>
          <p:cNvPr id="9" name="Text 7"/>
          <p:cNvSpPr txBox="1"/>
          <p:nvPr/>
        </p:nvSpPr>
        <p:spPr>
          <a:xfrm>
            <a:off x="868680" y="3154680"/>
            <a:ext cx="10771632" cy="457200"/>
          </a:xfrm>
          <a:prstGeom prst="rect">
            <a:avLst/>
          </a:prstGeom>
          <a:noFill/>
          <a:ln/>
        </p:spPr>
        <p:txBody>
          <a:bodyPr wrap="square" lIns="0" tIns="0" rIns="0" bIns="0" rtlCol="0" anchor="ctr"/>
          <a:lstStyle/>
          <a:p>
            <a:pPr marL="0" indent="0">
              <a:buNone/>
            </a:pPr>
            <a:r>
              <a:rPr lang="en-US" sz="1350" dirty="0">
                <a:solidFill>
                  <a:srgbClr val="6B7788"/>
                </a:solidFill>
                <a:latin typeface="Calibri" pitchFamily="34" charset="0"/>
                <a:ea typeface="Calibri" pitchFamily="34" charset="-122"/>
                <a:cs typeface="Calibri" pitchFamily="34" charset="-120"/>
              </a:rPr>
              <a:t>Lưu trữ các tập tin có dung lượng từ Gigabytes tới Petabytes trên cụm phần cứng phổ thông, giá rẻ.</a:t>
            </a:r>
            <a:endParaRPr lang="en-US" sz="1350" dirty="0"/>
          </a:p>
        </p:txBody>
      </p:sp>
      <p:sp>
        <p:nvSpPr>
          <p:cNvPr id="10" name="Shape 8"/>
          <p:cNvSpPr/>
          <p:nvPr/>
        </p:nvSpPr>
        <p:spPr>
          <a:xfrm>
            <a:off x="548640" y="3977640"/>
            <a:ext cx="11091672" cy="1965960"/>
          </a:xfrm>
          <a:prstGeom prst="roundRect">
            <a:avLst>
              <a:gd name="adj" fmla="val 5581"/>
            </a:avLst>
          </a:prstGeom>
          <a:solidFill>
            <a:srgbClr val="EAF2F7"/>
          </a:solidFill>
          <a:ln/>
        </p:spPr>
      </p:sp>
      <p:sp>
        <p:nvSpPr>
          <p:cNvPr id="11" name="Text 9"/>
          <p:cNvSpPr txBox="1"/>
          <p:nvPr/>
        </p:nvSpPr>
        <p:spPr>
          <a:xfrm>
            <a:off x="914400" y="4233672"/>
            <a:ext cx="365760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TRIẾT LÝ CỐT LÕI</a:t>
            </a:r>
            <a:endParaRPr lang="en-US" sz="1100" dirty="0"/>
          </a:p>
        </p:txBody>
      </p:sp>
      <p:sp>
        <p:nvSpPr>
          <p:cNvPr id="12" name="Text 10"/>
          <p:cNvSpPr txBox="1"/>
          <p:nvPr/>
        </p:nvSpPr>
        <p:spPr>
          <a:xfrm>
            <a:off x="914400" y="4526280"/>
            <a:ext cx="10360152" cy="502920"/>
          </a:xfrm>
          <a:prstGeom prst="rect">
            <a:avLst/>
          </a:prstGeom>
          <a:noFill/>
          <a:ln/>
        </p:spPr>
        <p:txBody>
          <a:bodyPr wrap="square" lIns="0" tIns="0" rIns="0" bIns="0" rtlCol="0" anchor="ctr"/>
          <a:lstStyle/>
          <a:p>
            <a:pPr marL="0" indent="0">
              <a:buNone/>
            </a:pPr>
            <a:r>
              <a:rPr lang="en-US" sz="2400" b="1" dirty="0">
                <a:solidFill>
                  <a:srgbClr val="21295C"/>
                </a:solidFill>
                <a:latin typeface="Times New Roman" pitchFamily="34" charset="0"/>
                <a:ea typeface="Times New Roman" pitchFamily="34" charset="-122"/>
                <a:cs typeface="Times New Roman" pitchFamily="34" charset="-120"/>
              </a:rPr>
              <a:t>“Write Once, Read Many” (WORM)</a:t>
            </a:r>
            <a:endParaRPr lang="en-US" sz="2400" dirty="0"/>
          </a:p>
        </p:txBody>
      </p:sp>
      <p:sp>
        <p:nvSpPr>
          <p:cNvPr id="13" name="Text 11"/>
          <p:cNvSpPr txBox="1"/>
          <p:nvPr/>
        </p:nvSpPr>
        <p:spPr>
          <a:xfrm>
            <a:off x="914400" y="5074920"/>
            <a:ext cx="10360152" cy="731520"/>
          </a:xfrm>
          <a:prstGeom prst="rect">
            <a:avLst/>
          </a:prstGeom>
          <a:noFill/>
          <a:ln/>
        </p:spPr>
        <p:txBody>
          <a:bodyPr wrap="square" lIns="0" tIns="0" rIns="0" bIns="0" rtlCol="0" anchor="ctr"/>
          <a:lstStyle/>
          <a:p>
            <a:pPr marL="0" indent="0">
              <a:lnSpc>
                <a:spcPct val="125000"/>
              </a:lnSpc>
              <a:buNone/>
            </a:pPr>
            <a:r>
              <a:rPr lang="en-US" sz="1400" dirty="0">
                <a:solidFill>
                  <a:srgbClr val="6B7788"/>
                </a:solidFill>
                <a:latin typeface="Calibri" pitchFamily="34" charset="0"/>
                <a:ea typeface="Calibri" pitchFamily="34" charset="-122"/>
                <a:cs typeface="Calibri" pitchFamily="34" charset="-120"/>
              </a:rPr>
              <a:t>Ghi một lần, đọc tuần tự nhiều lần. HDFS không hỗ trợ sửa đổi nội dung ngẫu nhiên ở giữa file — nhằm đơn giản hoá tính nhất quán dữ liệu.</a:t>
            </a:r>
            <a:endParaRPr lang="en-US" sz="1400" dirty="0"/>
          </a:p>
        </p:txBody>
      </p:sp>
      <p:sp>
        <p:nvSpPr>
          <p:cNvPr id="14" name="Text 12"/>
          <p:cNvSpPr txBox="1"/>
          <p:nvPr/>
        </p:nvSpPr>
        <p:spPr>
          <a:xfrm>
            <a:off x="548640" y="6473952"/>
            <a:ext cx="3657600" cy="274320"/>
          </a:xfrm>
          <a:prstGeom prst="rect">
            <a:avLst/>
          </a:prstGeom>
          <a:noFill/>
          <a:ln/>
        </p:spPr>
        <p:txBody>
          <a:bodyPr wrap="square" lIns="0" tIns="0" rIns="0" bIns="0" rtlCol="0" anchor="ctr"/>
          <a:lstStyle/>
          <a:p>
            <a:pPr marL="0" indent="0" algn="l">
              <a:buNone/>
            </a:pPr>
            <a:r>
              <a:rPr lang="en-US" sz="900" dirty="0">
                <a:solidFill>
                  <a:srgbClr val="6B7788"/>
                </a:solidFill>
                <a:latin typeface="Calibri" pitchFamily="34" charset="0"/>
                <a:ea typeface="Calibri" pitchFamily="34" charset="-122"/>
                <a:cs typeface="Calibri" pitchFamily="34" charset="-120"/>
              </a:rPr>
              <a:t>APACHE HDFS  ·  BIG DATA</a:t>
            </a:r>
            <a:endParaRPr lang="en-US" sz="900" dirty="0"/>
          </a:p>
        </p:txBody>
      </p:sp>
      <p:sp>
        <p:nvSpPr>
          <p:cNvPr id="15" name="Text 13"/>
          <p:cNvSpPr txBox="1"/>
          <p:nvPr/>
        </p:nvSpPr>
        <p:spPr>
          <a:xfrm>
            <a:off x="11228832" y="6473952"/>
            <a:ext cx="411480" cy="274320"/>
          </a:xfrm>
          <a:prstGeom prst="rect">
            <a:avLst/>
          </a:prstGeom>
          <a:noFill/>
          <a:ln/>
        </p:spPr>
        <p:txBody>
          <a:bodyPr wrap="square" lIns="0" tIns="0" rIns="0" bIns="0" rtlCol="0" anchor="ctr"/>
          <a:lstStyle/>
          <a:p>
            <a:pPr marL="0" indent="0" algn="r">
              <a:buNone/>
            </a:pPr>
            <a:r>
              <a:rPr lang="en-US" sz="900" dirty="0">
                <a:solidFill>
                  <a:srgbClr val="6B7788"/>
                </a:solidFill>
                <a:latin typeface="Calibri" pitchFamily="34" charset="0"/>
                <a:ea typeface="Calibri" pitchFamily="34" charset="-122"/>
                <a:cs typeface="Calibri" pitchFamily="34" charset="-120"/>
              </a:rPr>
              <a:t>03</a:t>
            </a:r>
            <a:endParaRPr lang="en-US" sz="900" dirty="0"/>
          </a:p>
        </p:txBody>
      </p:sp>
      <p:sp>
        <p:nvSpPr>
          <p:cNvPr id="16" name="Shape 14"/>
          <p:cNvSpPr/>
          <p:nvPr/>
        </p:nvSpPr>
        <p:spPr>
          <a:xfrm>
            <a:off x="10543032" y="6473952"/>
            <a:ext cx="146304" cy="146304"/>
          </a:xfrm>
          <a:prstGeom prst="roundRect">
            <a:avLst>
              <a:gd name="adj" fmla="val 18750"/>
            </a:avLst>
          </a:prstGeom>
          <a:solidFill>
            <a:srgbClr val="065A82"/>
          </a:solidFill>
          <a:ln/>
        </p:spPr>
      </p:sp>
      <p:sp>
        <p:nvSpPr>
          <p:cNvPr id="17" name="Shape 15"/>
          <p:cNvSpPr/>
          <p:nvPr/>
        </p:nvSpPr>
        <p:spPr>
          <a:xfrm>
            <a:off x="10744200" y="6473952"/>
            <a:ext cx="146304" cy="146304"/>
          </a:xfrm>
          <a:prstGeom prst="roundRect">
            <a:avLst>
              <a:gd name="adj" fmla="val 18750"/>
            </a:avLst>
          </a:prstGeom>
          <a:solidFill>
            <a:srgbClr val="1C7293"/>
          </a:solidFill>
          <a:ln/>
        </p:spPr>
      </p:sp>
      <p:sp>
        <p:nvSpPr>
          <p:cNvPr id="18" name="Shape 16"/>
          <p:cNvSpPr/>
          <p:nvPr/>
        </p:nvSpPr>
        <p:spPr>
          <a:xfrm>
            <a:off x="10945368" y="6473952"/>
            <a:ext cx="146304" cy="146304"/>
          </a:xfrm>
          <a:prstGeom prst="roundRect">
            <a:avLst>
              <a:gd name="adj" fmla="val 18750"/>
            </a:avLst>
          </a:prstGeom>
          <a:solidFill>
            <a:srgbClr val="21295C"/>
          </a:solid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292608"/>
          </a:xfrm>
          <a:prstGeom prst="rect">
            <a:avLst/>
          </a:prstGeom>
          <a:noFill/>
          <a:ln/>
        </p:spPr>
        <p:txBody>
          <a:bodyPr wrap="square" lIns="0" tIns="0" rIns="0" bIns="0" rtlCol="0" anchor="ctr"/>
          <a:lstStyle/>
          <a:p>
            <a:pPr marL="0" indent="0">
              <a:buNone/>
            </a:pPr>
            <a:r>
              <a:rPr lang="en-US" sz="1300" b="1" kern="0" spc="150" dirty="0">
                <a:solidFill>
                  <a:srgbClr val="1C7293"/>
                </a:solidFill>
                <a:latin typeface="Calibri" pitchFamily="34" charset="0"/>
                <a:ea typeface="Calibri" pitchFamily="34" charset="-122"/>
                <a:cs typeface="Calibri" pitchFamily="34" charset="-120"/>
              </a:rPr>
              <a:t>Cơ chế lưu trữ</a:t>
            </a:r>
            <a:endParaRPr lang="en-US" sz="1300" dirty="0"/>
          </a:p>
        </p:txBody>
      </p:sp>
      <p:sp>
        <p:nvSpPr>
          <p:cNvPr id="3" name="Text 1"/>
          <p:cNvSpPr txBox="1"/>
          <p:nvPr/>
        </p:nvSpPr>
        <p:spPr>
          <a:xfrm>
            <a:off x="548640" y="658368"/>
            <a:ext cx="11091672" cy="822960"/>
          </a:xfrm>
          <a:prstGeom prst="rect">
            <a:avLst/>
          </a:prstGeom>
          <a:noFill/>
          <a:ln/>
        </p:spPr>
        <p:txBody>
          <a:bodyPr wrap="square" lIns="0" tIns="0" rIns="0" bIns="0" rtlCol="0" anchor="t"/>
          <a:lstStyle/>
          <a:p>
            <a:pPr marL="0" indent="0">
              <a:buNone/>
            </a:pPr>
            <a:r>
              <a:rPr lang="en-US" sz="2800" b="1" dirty="0">
                <a:solidFill>
                  <a:srgbClr val="21295C"/>
                </a:solidFill>
                <a:latin typeface="Times New Roman" pitchFamily="34" charset="0"/>
                <a:ea typeface="Times New Roman" pitchFamily="34" charset="-122"/>
                <a:cs typeface="Times New Roman" pitchFamily="34" charset="-120"/>
              </a:rPr>
              <a:t>Cơ Chế Phân Khối Dữ Liệu (Data Blocks)</a:t>
            </a:r>
            <a:endParaRPr lang="en-US" sz="2800" dirty="0"/>
          </a:p>
        </p:txBody>
      </p:sp>
      <p:sp>
        <p:nvSpPr>
          <p:cNvPr id="4" name="Text 2"/>
          <p:cNvSpPr txBox="1"/>
          <p:nvPr/>
        </p:nvSpPr>
        <p:spPr>
          <a:xfrm>
            <a:off x="548640" y="1691640"/>
            <a:ext cx="11091672" cy="822960"/>
          </a:xfrm>
          <a:prstGeom prst="rect">
            <a:avLst/>
          </a:prstGeom>
          <a:noFill/>
          <a:ln/>
        </p:spPr>
        <p:txBody>
          <a:bodyPr wrap="square" lIns="0" tIns="0" rIns="0" bIns="0" rtlCol="0" anchor="ctr"/>
          <a:lstStyle/>
          <a:p>
            <a:pPr marL="0" indent="0">
              <a:lnSpc>
                <a:spcPct val="120000"/>
              </a:lnSpc>
              <a:buNone/>
            </a:pPr>
            <a:r>
              <a:rPr lang="en-US" sz="1350" dirty="0">
                <a:solidFill>
                  <a:srgbClr val="6B7788"/>
                </a:solidFill>
                <a:latin typeface="Calibri" pitchFamily="34" charset="0"/>
                <a:ea typeface="Calibri" pitchFamily="34" charset="-122"/>
                <a:cs typeface="Calibri" pitchFamily="34" charset="-120"/>
              </a:rPr>
              <a:t>HDFS chia nhỏ file lớn thành các khối độc lập (Block). Kích thước mặc định 128 MB — hệ điều hành thông thường chỉ 4 KB. Kích thước lớn giúp giảm số block cần quản lý, tiết kiệm RAM của NameNode và tối ưu tốc độ đọc tuần tự (Disk Seek Time).</a:t>
            </a:r>
            <a:endParaRPr lang="en-US" sz="1350" dirty="0"/>
          </a:p>
        </p:txBody>
      </p:sp>
      <p:sp>
        <p:nvSpPr>
          <p:cNvPr id="5" name="Text 3"/>
          <p:cNvSpPr txBox="1"/>
          <p:nvPr/>
        </p:nvSpPr>
        <p:spPr>
          <a:xfrm>
            <a:off x="548640" y="2697480"/>
            <a:ext cx="11091672" cy="274320"/>
          </a:xfrm>
          <a:prstGeom prst="rect">
            <a:avLst/>
          </a:prstGeom>
          <a:noFill/>
          <a:ln/>
        </p:spPr>
        <p:txBody>
          <a:bodyPr wrap="square" lIns="0" tIns="0" rIns="0" bIns="0" rtlCol="0" anchor="ctr"/>
          <a:lstStyle/>
          <a:p>
            <a:pPr marL="0" indent="0">
              <a:buNone/>
            </a:pPr>
            <a:r>
              <a:rPr lang="en-US" sz="1150" b="1" kern="0" spc="150" dirty="0">
                <a:solidFill>
                  <a:srgbClr val="1C7293"/>
                </a:solidFill>
                <a:latin typeface="Calibri" pitchFamily="34" charset="0"/>
                <a:ea typeface="Calibri" pitchFamily="34" charset="-122"/>
                <a:cs typeface="Calibri" pitchFamily="34" charset="-120"/>
              </a:rPr>
              <a:t>VÍ DỤ TRỰC QUAN — FILE LOG 300 MB</a:t>
            </a:r>
            <a:endParaRPr lang="en-US" sz="1150" dirty="0"/>
          </a:p>
        </p:txBody>
      </p:sp>
      <p:sp>
        <p:nvSpPr>
          <p:cNvPr id="6" name="Shape 4"/>
          <p:cNvSpPr/>
          <p:nvPr/>
        </p:nvSpPr>
        <p:spPr>
          <a:xfrm>
            <a:off x="548640" y="3063240"/>
            <a:ext cx="2743200" cy="777240"/>
          </a:xfrm>
          <a:prstGeom prst="roundRect">
            <a:avLst>
              <a:gd name="adj" fmla="val 9412"/>
            </a:avLst>
          </a:prstGeom>
          <a:solidFill>
            <a:srgbClr val="21295C"/>
          </a:solidFill>
          <a:ln/>
        </p:spPr>
      </p:sp>
      <p:sp>
        <p:nvSpPr>
          <p:cNvPr id="7" name="Text 5"/>
          <p:cNvSpPr txBox="1"/>
          <p:nvPr/>
        </p:nvSpPr>
        <p:spPr>
          <a:xfrm>
            <a:off x="548640" y="3291840"/>
            <a:ext cx="2743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file.log — 300 MB</a:t>
            </a:r>
            <a:endParaRPr lang="en-US" sz="1400" dirty="0"/>
          </a:p>
        </p:txBody>
      </p:sp>
      <p:sp>
        <p:nvSpPr>
          <p:cNvPr id="8" name="Shape 6"/>
          <p:cNvSpPr/>
          <p:nvPr/>
        </p:nvSpPr>
        <p:spPr>
          <a:xfrm>
            <a:off x="3840480" y="3291840"/>
            <a:ext cx="502920" cy="274320"/>
          </a:xfrm>
          <a:prstGeom prst="rightArrow">
            <a:avLst/>
          </a:prstGeom>
          <a:solidFill>
            <a:srgbClr val="AEC6D6"/>
          </a:solidFill>
          <a:ln/>
        </p:spPr>
      </p:sp>
      <p:sp>
        <p:nvSpPr>
          <p:cNvPr id="9" name="Shape 7"/>
          <p:cNvSpPr/>
          <p:nvPr/>
        </p:nvSpPr>
        <p:spPr>
          <a:xfrm>
            <a:off x="4663440" y="3063240"/>
            <a:ext cx="1691640" cy="777240"/>
          </a:xfrm>
          <a:prstGeom prst="roundRect">
            <a:avLst>
              <a:gd name="adj" fmla="val 9412"/>
            </a:avLst>
          </a:prstGeom>
          <a:solidFill>
            <a:srgbClr val="065A82"/>
          </a:solidFill>
          <a:ln/>
        </p:spPr>
      </p:sp>
      <p:sp>
        <p:nvSpPr>
          <p:cNvPr id="10" name="Text 8"/>
          <p:cNvSpPr txBox="1"/>
          <p:nvPr/>
        </p:nvSpPr>
        <p:spPr>
          <a:xfrm>
            <a:off x="4663440" y="3145536"/>
            <a:ext cx="169164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Block 1</a:t>
            </a:r>
            <a:endParaRPr lang="en-US" sz="1200" dirty="0"/>
          </a:p>
        </p:txBody>
      </p:sp>
      <p:sp>
        <p:nvSpPr>
          <p:cNvPr id="11" name="Text 9"/>
          <p:cNvSpPr txBox="1"/>
          <p:nvPr/>
        </p:nvSpPr>
        <p:spPr>
          <a:xfrm>
            <a:off x="4663440" y="3419856"/>
            <a:ext cx="1691640" cy="274320"/>
          </a:xfrm>
          <a:prstGeom prst="rect">
            <a:avLst/>
          </a:prstGeom>
          <a:noFill/>
          <a:ln/>
        </p:spPr>
        <p:txBody>
          <a:bodyPr wrap="square" lIns="0" tIns="0" rIns="0" bIns="0" rtlCol="0" anchor="ctr"/>
          <a:lstStyle/>
          <a:p>
            <a:pPr marL="0" indent="0" algn="ctr">
              <a:buNone/>
            </a:pPr>
            <a:r>
              <a:rPr lang="en-US" sz="1100" dirty="0">
                <a:solidFill>
                  <a:srgbClr val="AEC6D6"/>
                </a:solidFill>
                <a:latin typeface="Calibri" pitchFamily="34" charset="0"/>
                <a:ea typeface="Calibri" pitchFamily="34" charset="-122"/>
                <a:cs typeface="Calibri" pitchFamily="34" charset="-120"/>
              </a:rPr>
              <a:t>128 MB</a:t>
            </a:r>
            <a:endParaRPr lang="en-US" sz="1100" dirty="0"/>
          </a:p>
        </p:txBody>
      </p:sp>
      <p:sp>
        <p:nvSpPr>
          <p:cNvPr id="12" name="Shape 10"/>
          <p:cNvSpPr/>
          <p:nvPr/>
        </p:nvSpPr>
        <p:spPr>
          <a:xfrm>
            <a:off x="6519672" y="3063240"/>
            <a:ext cx="1691640" cy="777240"/>
          </a:xfrm>
          <a:prstGeom prst="roundRect">
            <a:avLst>
              <a:gd name="adj" fmla="val 9412"/>
            </a:avLst>
          </a:prstGeom>
          <a:solidFill>
            <a:srgbClr val="1C7293"/>
          </a:solidFill>
          <a:ln/>
        </p:spPr>
      </p:sp>
      <p:sp>
        <p:nvSpPr>
          <p:cNvPr id="13" name="Text 11"/>
          <p:cNvSpPr txBox="1"/>
          <p:nvPr/>
        </p:nvSpPr>
        <p:spPr>
          <a:xfrm>
            <a:off x="6519672" y="3145536"/>
            <a:ext cx="169164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Block 2</a:t>
            </a:r>
            <a:endParaRPr lang="en-US" sz="1200" dirty="0"/>
          </a:p>
        </p:txBody>
      </p:sp>
      <p:sp>
        <p:nvSpPr>
          <p:cNvPr id="14" name="Text 12"/>
          <p:cNvSpPr txBox="1"/>
          <p:nvPr/>
        </p:nvSpPr>
        <p:spPr>
          <a:xfrm>
            <a:off x="6519672" y="3419856"/>
            <a:ext cx="1691640" cy="274320"/>
          </a:xfrm>
          <a:prstGeom prst="rect">
            <a:avLst/>
          </a:prstGeom>
          <a:noFill/>
          <a:ln/>
        </p:spPr>
        <p:txBody>
          <a:bodyPr wrap="square" lIns="0" tIns="0" rIns="0" bIns="0" rtlCol="0" anchor="ctr"/>
          <a:lstStyle/>
          <a:p>
            <a:pPr marL="0" indent="0" algn="ctr">
              <a:buNone/>
            </a:pPr>
            <a:r>
              <a:rPr lang="en-US" sz="1100" dirty="0">
                <a:solidFill>
                  <a:srgbClr val="AEC6D6"/>
                </a:solidFill>
                <a:latin typeface="Calibri" pitchFamily="34" charset="0"/>
                <a:ea typeface="Calibri" pitchFamily="34" charset="-122"/>
                <a:cs typeface="Calibri" pitchFamily="34" charset="-120"/>
              </a:rPr>
              <a:t>128 MB</a:t>
            </a:r>
            <a:endParaRPr lang="en-US" sz="1100" dirty="0"/>
          </a:p>
        </p:txBody>
      </p:sp>
      <p:sp>
        <p:nvSpPr>
          <p:cNvPr id="15" name="Shape 13"/>
          <p:cNvSpPr/>
          <p:nvPr/>
        </p:nvSpPr>
        <p:spPr>
          <a:xfrm>
            <a:off x="8375904" y="3063240"/>
            <a:ext cx="685800" cy="777240"/>
          </a:xfrm>
          <a:prstGeom prst="roundRect">
            <a:avLst>
              <a:gd name="adj" fmla="val 10667"/>
            </a:avLst>
          </a:prstGeom>
          <a:solidFill>
            <a:srgbClr val="3E8E9E"/>
          </a:solidFill>
          <a:ln/>
        </p:spPr>
      </p:sp>
      <p:sp>
        <p:nvSpPr>
          <p:cNvPr id="16" name="Text 14"/>
          <p:cNvSpPr txBox="1"/>
          <p:nvPr/>
        </p:nvSpPr>
        <p:spPr>
          <a:xfrm>
            <a:off x="8375904" y="3145536"/>
            <a:ext cx="68580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Block 3</a:t>
            </a:r>
            <a:endParaRPr lang="en-US" sz="1200" dirty="0"/>
          </a:p>
        </p:txBody>
      </p:sp>
      <p:sp>
        <p:nvSpPr>
          <p:cNvPr id="17" name="Text 15"/>
          <p:cNvSpPr txBox="1"/>
          <p:nvPr/>
        </p:nvSpPr>
        <p:spPr>
          <a:xfrm>
            <a:off x="8375904" y="3419856"/>
            <a:ext cx="685800" cy="274320"/>
          </a:xfrm>
          <a:prstGeom prst="rect">
            <a:avLst/>
          </a:prstGeom>
          <a:noFill/>
          <a:ln/>
        </p:spPr>
        <p:txBody>
          <a:bodyPr wrap="square" lIns="0" tIns="0" rIns="0" bIns="0" rtlCol="0" anchor="ctr"/>
          <a:lstStyle/>
          <a:p>
            <a:pPr marL="0" indent="0" algn="ctr">
              <a:buNone/>
            </a:pPr>
            <a:r>
              <a:rPr lang="en-US" sz="1100" dirty="0">
                <a:solidFill>
                  <a:srgbClr val="AEC6D6"/>
                </a:solidFill>
                <a:latin typeface="Calibri" pitchFamily="34" charset="0"/>
                <a:ea typeface="Calibri" pitchFamily="34" charset="-122"/>
                <a:cs typeface="Calibri" pitchFamily="34" charset="-120"/>
              </a:rPr>
              <a:t>44 MB</a:t>
            </a:r>
            <a:endParaRPr lang="en-US" sz="1100" dirty="0"/>
          </a:p>
        </p:txBody>
      </p:sp>
      <p:sp>
        <p:nvSpPr>
          <p:cNvPr id="18" name="Text 16"/>
          <p:cNvSpPr txBox="1"/>
          <p:nvPr/>
        </p:nvSpPr>
        <p:spPr>
          <a:xfrm>
            <a:off x="548640" y="4114800"/>
            <a:ext cx="11091672" cy="365760"/>
          </a:xfrm>
          <a:prstGeom prst="rect">
            <a:avLst/>
          </a:prstGeom>
          <a:noFill/>
          <a:ln/>
        </p:spPr>
        <p:txBody>
          <a:bodyPr wrap="square" lIns="0" tIns="0" rIns="0" bIns="0" rtlCol="0" anchor="ctr"/>
          <a:lstStyle/>
          <a:p>
            <a:pPr marL="0" indent="0">
              <a:buNone/>
            </a:pPr>
            <a:r>
              <a:rPr lang="en-US" sz="1200" i="1" dirty="0">
                <a:solidFill>
                  <a:srgbClr val="6B7788"/>
                </a:solidFill>
                <a:latin typeface="Calibri" pitchFamily="34" charset="0"/>
                <a:ea typeface="Calibri" pitchFamily="34" charset="-122"/>
                <a:cs typeface="Calibri" pitchFamily="34" charset="-120"/>
              </a:rPr>
              <a:t>Lưu ý: Block 3 chỉ chiếm đúng 44 MB đĩa thực tế — HDFS không tốn đủ 128 MB cho phần dư.</a:t>
            </a:r>
            <a:endParaRPr lang="en-US" sz="1200" dirty="0"/>
          </a:p>
        </p:txBody>
      </p:sp>
      <p:sp>
        <p:nvSpPr>
          <p:cNvPr id="19" name="Shape 17"/>
          <p:cNvSpPr/>
          <p:nvPr/>
        </p:nvSpPr>
        <p:spPr>
          <a:xfrm>
            <a:off x="548640" y="4709160"/>
            <a:ext cx="11091672" cy="1234440"/>
          </a:xfrm>
          <a:prstGeom prst="roundRect">
            <a:avLst>
              <a:gd name="adj" fmla="val 7407"/>
            </a:avLst>
          </a:prstGeom>
          <a:solidFill>
            <a:srgbClr val="EAF2F7"/>
          </a:solidFill>
          <a:ln/>
        </p:spPr>
      </p:sp>
      <p:sp>
        <p:nvSpPr>
          <p:cNvPr id="20" name="Text 18"/>
          <p:cNvSpPr txBox="1"/>
          <p:nvPr/>
        </p:nvSpPr>
        <p:spPr>
          <a:xfrm>
            <a:off x="868680" y="4892040"/>
            <a:ext cx="10451592" cy="274320"/>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Lý do chọn kích thước lớn</a:t>
            </a:r>
            <a:endParaRPr lang="en-US" sz="1350" dirty="0"/>
          </a:p>
        </p:txBody>
      </p:sp>
      <p:sp>
        <p:nvSpPr>
          <p:cNvPr id="21" name="Text 19"/>
          <p:cNvSpPr txBox="1"/>
          <p:nvPr/>
        </p:nvSpPr>
        <p:spPr>
          <a:xfrm>
            <a:off x="868680" y="5193792"/>
            <a:ext cx="10451592" cy="640080"/>
          </a:xfrm>
          <a:prstGeom prst="rect">
            <a:avLst/>
          </a:prstGeom>
          <a:noFill/>
          <a:ln/>
        </p:spPr>
        <p:txBody>
          <a:bodyPr wrap="square" lIns="0" tIns="0" rIns="0" bIns="0" rtlCol="0" anchor="ctr"/>
          <a:lstStyle/>
          <a:p>
            <a:pPr marL="0" indent="0">
              <a:lnSpc>
                <a:spcPct val="120000"/>
              </a:lnSpc>
              <a:buNone/>
            </a:pPr>
            <a:r>
              <a:rPr lang="en-US" sz="1250" dirty="0">
                <a:solidFill>
                  <a:srgbClr val="6B7788"/>
                </a:solidFill>
                <a:latin typeface="Calibri" pitchFamily="34" charset="0"/>
                <a:ea typeface="Calibri" pitchFamily="34" charset="-122"/>
                <a:cs typeface="Calibri" pitchFamily="34" charset="-120"/>
              </a:rPr>
              <a:t>Giảm số lượng block cần quản lý → tiết kiệm RAM của NameNode và tối ưu tốc độ đọc tuần tự (giảm số lần disk seek).</a:t>
            </a:r>
            <a:endParaRPr lang="en-US" sz="1250" dirty="0"/>
          </a:p>
        </p:txBody>
      </p:sp>
      <p:sp>
        <p:nvSpPr>
          <p:cNvPr id="22" name="Text 20"/>
          <p:cNvSpPr txBox="1"/>
          <p:nvPr/>
        </p:nvSpPr>
        <p:spPr>
          <a:xfrm>
            <a:off x="548640" y="6473952"/>
            <a:ext cx="3657600" cy="274320"/>
          </a:xfrm>
          <a:prstGeom prst="rect">
            <a:avLst/>
          </a:prstGeom>
          <a:noFill/>
          <a:ln/>
        </p:spPr>
        <p:txBody>
          <a:bodyPr wrap="square" lIns="0" tIns="0" rIns="0" bIns="0" rtlCol="0" anchor="ctr"/>
          <a:lstStyle/>
          <a:p>
            <a:pPr marL="0" indent="0" algn="l">
              <a:buNone/>
            </a:pPr>
            <a:r>
              <a:rPr lang="en-US" sz="900" dirty="0">
                <a:solidFill>
                  <a:srgbClr val="6B7788"/>
                </a:solidFill>
                <a:latin typeface="Calibri" pitchFamily="34" charset="0"/>
                <a:ea typeface="Calibri" pitchFamily="34" charset="-122"/>
                <a:cs typeface="Calibri" pitchFamily="34" charset="-120"/>
              </a:rPr>
              <a:t>APACHE HDFS  ·  BIG DATA</a:t>
            </a:r>
            <a:endParaRPr lang="en-US" sz="900" dirty="0"/>
          </a:p>
        </p:txBody>
      </p:sp>
      <p:sp>
        <p:nvSpPr>
          <p:cNvPr id="23" name="Text 21"/>
          <p:cNvSpPr txBox="1"/>
          <p:nvPr/>
        </p:nvSpPr>
        <p:spPr>
          <a:xfrm>
            <a:off x="11228832" y="6473952"/>
            <a:ext cx="411480" cy="274320"/>
          </a:xfrm>
          <a:prstGeom prst="rect">
            <a:avLst/>
          </a:prstGeom>
          <a:noFill/>
          <a:ln/>
        </p:spPr>
        <p:txBody>
          <a:bodyPr wrap="square" lIns="0" tIns="0" rIns="0" bIns="0" rtlCol="0" anchor="ctr"/>
          <a:lstStyle/>
          <a:p>
            <a:pPr marL="0" indent="0" algn="r">
              <a:buNone/>
            </a:pPr>
            <a:r>
              <a:rPr lang="en-US" sz="900" dirty="0">
                <a:solidFill>
                  <a:srgbClr val="6B7788"/>
                </a:solidFill>
                <a:latin typeface="Calibri" pitchFamily="34" charset="0"/>
                <a:ea typeface="Calibri" pitchFamily="34" charset="-122"/>
                <a:cs typeface="Calibri" pitchFamily="34" charset="-120"/>
              </a:rPr>
              <a:t>04</a:t>
            </a:r>
            <a:endParaRPr lang="en-US" sz="900" dirty="0"/>
          </a:p>
        </p:txBody>
      </p:sp>
      <p:sp>
        <p:nvSpPr>
          <p:cNvPr id="24" name="Shape 22"/>
          <p:cNvSpPr/>
          <p:nvPr/>
        </p:nvSpPr>
        <p:spPr>
          <a:xfrm>
            <a:off x="10543032" y="6473952"/>
            <a:ext cx="146304" cy="146304"/>
          </a:xfrm>
          <a:prstGeom prst="roundRect">
            <a:avLst>
              <a:gd name="adj" fmla="val 18750"/>
            </a:avLst>
          </a:prstGeom>
          <a:solidFill>
            <a:srgbClr val="065A82"/>
          </a:solidFill>
          <a:ln/>
        </p:spPr>
      </p:sp>
      <p:sp>
        <p:nvSpPr>
          <p:cNvPr id="25" name="Shape 23"/>
          <p:cNvSpPr/>
          <p:nvPr/>
        </p:nvSpPr>
        <p:spPr>
          <a:xfrm>
            <a:off x="10744200" y="6473952"/>
            <a:ext cx="146304" cy="146304"/>
          </a:xfrm>
          <a:prstGeom prst="roundRect">
            <a:avLst>
              <a:gd name="adj" fmla="val 18750"/>
            </a:avLst>
          </a:prstGeom>
          <a:solidFill>
            <a:srgbClr val="1C7293"/>
          </a:solidFill>
          <a:ln/>
        </p:spPr>
      </p:sp>
      <p:sp>
        <p:nvSpPr>
          <p:cNvPr id="26" name="Shape 24"/>
          <p:cNvSpPr/>
          <p:nvPr/>
        </p:nvSpPr>
        <p:spPr>
          <a:xfrm>
            <a:off x="10945368" y="6473952"/>
            <a:ext cx="146304" cy="146304"/>
          </a:xfrm>
          <a:prstGeom prst="roundRect">
            <a:avLst>
              <a:gd name="adj" fmla="val 18750"/>
            </a:avLst>
          </a:prstGeom>
          <a:solidFill>
            <a:srgbClr val="21295C"/>
          </a:solid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292608"/>
          </a:xfrm>
          <a:prstGeom prst="rect">
            <a:avLst/>
          </a:prstGeom>
          <a:noFill/>
          <a:ln/>
        </p:spPr>
        <p:txBody>
          <a:bodyPr wrap="square" lIns="0" tIns="0" rIns="0" bIns="0" rtlCol="0" anchor="ctr"/>
          <a:lstStyle/>
          <a:p>
            <a:pPr marL="0" indent="0">
              <a:buNone/>
            </a:pPr>
            <a:r>
              <a:rPr lang="en-US" sz="1300" b="1" kern="0" spc="150" dirty="0">
                <a:solidFill>
                  <a:srgbClr val="1C7293"/>
                </a:solidFill>
                <a:latin typeface="Calibri" pitchFamily="34" charset="0"/>
                <a:ea typeface="Calibri" pitchFamily="34" charset="-122"/>
                <a:cs typeface="Calibri" pitchFamily="34" charset="-120"/>
              </a:rPr>
              <a:t>Cơ chế lưu trữ</a:t>
            </a:r>
            <a:endParaRPr lang="en-US" sz="1300" dirty="0"/>
          </a:p>
        </p:txBody>
      </p:sp>
      <p:sp>
        <p:nvSpPr>
          <p:cNvPr id="3" name="Text 1"/>
          <p:cNvSpPr txBox="1"/>
          <p:nvPr/>
        </p:nvSpPr>
        <p:spPr>
          <a:xfrm>
            <a:off x="548640" y="658368"/>
            <a:ext cx="11091672" cy="822960"/>
          </a:xfrm>
          <a:prstGeom prst="rect">
            <a:avLst/>
          </a:prstGeom>
          <a:noFill/>
          <a:ln/>
        </p:spPr>
        <p:txBody>
          <a:bodyPr wrap="square" lIns="0" tIns="0" rIns="0" bIns="0" rtlCol="0" anchor="t"/>
          <a:lstStyle/>
          <a:p>
            <a:pPr marL="0" indent="0">
              <a:buNone/>
            </a:pPr>
            <a:r>
              <a:rPr lang="en-US" sz="2800" b="1" dirty="0">
                <a:solidFill>
                  <a:srgbClr val="21295C"/>
                </a:solidFill>
                <a:latin typeface="Times New Roman" pitchFamily="34" charset="0"/>
                <a:ea typeface="Times New Roman" pitchFamily="34" charset="-122"/>
                <a:cs typeface="Times New Roman" pitchFamily="34" charset="-120"/>
              </a:rPr>
              <a:t>Nhân Bản &amp; Nhận Biết Tủ Mạng (Replication &amp; Rack Awareness)</a:t>
            </a:r>
            <a:endParaRPr lang="en-US" sz="2800" dirty="0"/>
          </a:p>
        </p:txBody>
      </p:sp>
      <p:sp>
        <p:nvSpPr>
          <p:cNvPr id="4" name="Text 2"/>
          <p:cNvSpPr txBox="1"/>
          <p:nvPr/>
        </p:nvSpPr>
        <p:spPr>
          <a:xfrm>
            <a:off x="548640" y="1691640"/>
            <a:ext cx="11091672" cy="365760"/>
          </a:xfrm>
          <a:prstGeom prst="rect">
            <a:avLst/>
          </a:prstGeom>
          <a:noFill/>
          <a:ln/>
        </p:spPr>
        <p:txBody>
          <a:bodyPr wrap="square" lIns="0" tIns="0" rIns="0" bIns="0" rtlCol="0" anchor="ctr"/>
          <a:lstStyle/>
          <a:p>
            <a:pPr marL="0" indent="0">
              <a:buNone/>
            </a:pPr>
            <a:r>
              <a:rPr lang="en-US" sz="1350" dirty="0">
                <a:solidFill>
                  <a:srgbClr val="6B7788"/>
                </a:solidFill>
                <a:latin typeface="Calibri" pitchFamily="34" charset="0"/>
                <a:ea typeface="Calibri" pitchFamily="34" charset="-122"/>
                <a:cs typeface="Calibri" pitchFamily="34" charset="-120"/>
              </a:rPr>
              <a:t>Replication Factor mặc định = 3. Thuật toán Rack Awareness quyết định vị trí đặt 3 bản sao trên cụm:</a:t>
            </a:r>
            <a:endParaRPr lang="en-US" sz="1350" dirty="0"/>
          </a:p>
        </p:txBody>
      </p:sp>
      <p:sp>
        <p:nvSpPr>
          <p:cNvPr id="5" name="Shape 3"/>
          <p:cNvSpPr/>
          <p:nvPr/>
        </p:nvSpPr>
        <p:spPr>
          <a:xfrm>
            <a:off x="822960" y="2286000"/>
            <a:ext cx="2468880" cy="2194560"/>
          </a:xfrm>
          <a:prstGeom prst="roundRect">
            <a:avLst>
              <a:gd name="adj" fmla="val 4167"/>
            </a:avLst>
          </a:prstGeom>
          <a:solidFill>
            <a:srgbClr val="EAF2F7"/>
          </a:solidFill>
          <a:ln w="12700">
            <a:solidFill>
              <a:srgbClr val="AEC6D6"/>
            </a:solidFill>
            <a:prstDash val="dash"/>
          </a:ln>
        </p:spPr>
      </p:sp>
      <p:sp>
        <p:nvSpPr>
          <p:cNvPr id="6" name="Text 4"/>
          <p:cNvSpPr txBox="1"/>
          <p:nvPr/>
        </p:nvSpPr>
        <p:spPr>
          <a:xfrm>
            <a:off x="822960" y="2395728"/>
            <a:ext cx="2468880" cy="274320"/>
          </a:xfrm>
          <a:prstGeom prst="rect">
            <a:avLst/>
          </a:prstGeom>
          <a:noFill/>
          <a:ln/>
        </p:spPr>
        <p:txBody>
          <a:bodyPr wrap="square" lIns="0" tIns="0" rIns="0" bIns="0" rtlCol="0" anchor="ctr"/>
          <a:lstStyle/>
          <a:p>
            <a:pPr marL="0" indent="0" algn="ctr">
              <a:buNone/>
            </a:pPr>
            <a:r>
              <a:rPr lang="en-US" sz="1300" b="1" dirty="0">
                <a:solidFill>
                  <a:srgbClr val="21295C"/>
                </a:solidFill>
                <a:latin typeface="Calibri" pitchFamily="34" charset="0"/>
                <a:ea typeface="Calibri" pitchFamily="34" charset="-122"/>
                <a:cs typeface="Calibri" pitchFamily="34" charset="-120"/>
              </a:rPr>
              <a:t>Rack A</a:t>
            </a:r>
            <a:endParaRPr lang="en-US" sz="1300" dirty="0"/>
          </a:p>
        </p:txBody>
      </p:sp>
      <p:sp>
        <p:nvSpPr>
          <p:cNvPr id="7" name="Shape 5"/>
          <p:cNvSpPr/>
          <p:nvPr/>
        </p:nvSpPr>
        <p:spPr>
          <a:xfrm>
            <a:off x="1051560" y="2788920"/>
            <a:ext cx="2011680" cy="566928"/>
          </a:xfrm>
          <a:prstGeom prst="roundRect">
            <a:avLst>
              <a:gd name="adj" fmla="val 9677"/>
            </a:avLst>
          </a:prstGeom>
          <a:solidFill>
            <a:srgbClr val="FFFFFF"/>
          </a:solidFill>
          <a:ln w="12700">
            <a:solidFill>
              <a:srgbClr val="065A82"/>
            </a:solidFill>
            <a:prstDash val="solid"/>
          </a:ln>
        </p:spPr>
      </p:sp>
      <p:sp>
        <p:nvSpPr>
          <p:cNvPr id="8" name="Text 6"/>
          <p:cNvSpPr txBox="1"/>
          <p:nvPr/>
        </p:nvSpPr>
        <p:spPr>
          <a:xfrm>
            <a:off x="1188720" y="2843784"/>
            <a:ext cx="1737360" cy="256032"/>
          </a:xfrm>
          <a:prstGeom prst="rect">
            <a:avLst/>
          </a:prstGeom>
          <a:noFill/>
          <a:ln/>
        </p:spPr>
        <p:txBody>
          <a:bodyPr wrap="square" lIns="0" tIns="0" rIns="0" bIns="0" rtlCol="0" anchor="ctr"/>
          <a:lstStyle/>
          <a:p>
            <a:pPr marL="0" indent="0">
              <a:buNone/>
            </a:pPr>
            <a:r>
              <a:rPr lang="en-US" sz="1200" b="1" dirty="0">
                <a:solidFill>
                  <a:srgbClr val="21295C"/>
                </a:solidFill>
                <a:latin typeface="Calibri" pitchFamily="34" charset="0"/>
                <a:ea typeface="Calibri" pitchFamily="34" charset="-122"/>
                <a:cs typeface="Calibri" pitchFamily="34" charset="-120"/>
              </a:rPr>
              <a:t>Node 1</a:t>
            </a:r>
            <a:endParaRPr lang="en-US" sz="1200" dirty="0"/>
          </a:p>
        </p:txBody>
      </p:sp>
      <p:sp>
        <p:nvSpPr>
          <p:cNvPr id="9" name="Text 7"/>
          <p:cNvSpPr txBox="1"/>
          <p:nvPr/>
        </p:nvSpPr>
        <p:spPr>
          <a:xfrm>
            <a:off x="1188720" y="3090672"/>
            <a:ext cx="1737360" cy="228600"/>
          </a:xfrm>
          <a:prstGeom prst="rect">
            <a:avLst/>
          </a:prstGeom>
          <a:noFill/>
          <a:ln/>
        </p:spPr>
        <p:txBody>
          <a:bodyPr wrap="square" lIns="0" tIns="0" rIns="0" bIns="0" rtlCol="0" anchor="ctr"/>
          <a:lstStyle/>
          <a:p>
            <a:pPr marL="0" indent="0">
              <a:buNone/>
            </a:pPr>
            <a:r>
              <a:rPr lang="en-US" sz="1050" dirty="0">
                <a:solidFill>
                  <a:srgbClr val="1C7293"/>
                </a:solidFill>
                <a:latin typeface="Calibri" pitchFamily="34" charset="0"/>
                <a:ea typeface="Calibri" pitchFamily="34" charset="-122"/>
                <a:cs typeface="Calibri" pitchFamily="34" charset="-120"/>
              </a:rPr>
              <a:t>Bản sao 1</a:t>
            </a:r>
            <a:endParaRPr lang="en-US" sz="1050" dirty="0"/>
          </a:p>
        </p:txBody>
      </p:sp>
      <p:sp>
        <p:nvSpPr>
          <p:cNvPr id="10" name="Shape 8"/>
          <p:cNvSpPr/>
          <p:nvPr/>
        </p:nvSpPr>
        <p:spPr>
          <a:xfrm>
            <a:off x="4480560" y="2286000"/>
            <a:ext cx="2468880" cy="2194560"/>
          </a:xfrm>
          <a:prstGeom prst="roundRect">
            <a:avLst>
              <a:gd name="adj" fmla="val 4167"/>
            </a:avLst>
          </a:prstGeom>
          <a:solidFill>
            <a:srgbClr val="EAF2F7"/>
          </a:solidFill>
          <a:ln w="12700">
            <a:solidFill>
              <a:srgbClr val="AEC6D6"/>
            </a:solidFill>
            <a:prstDash val="dash"/>
          </a:ln>
        </p:spPr>
      </p:sp>
      <p:sp>
        <p:nvSpPr>
          <p:cNvPr id="11" name="Text 9"/>
          <p:cNvSpPr txBox="1"/>
          <p:nvPr/>
        </p:nvSpPr>
        <p:spPr>
          <a:xfrm>
            <a:off x="4480560" y="2395728"/>
            <a:ext cx="2468880" cy="274320"/>
          </a:xfrm>
          <a:prstGeom prst="rect">
            <a:avLst/>
          </a:prstGeom>
          <a:noFill/>
          <a:ln/>
        </p:spPr>
        <p:txBody>
          <a:bodyPr wrap="square" lIns="0" tIns="0" rIns="0" bIns="0" rtlCol="0" anchor="ctr"/>
          <a:lstStyle/>
          <a:p>
            <a:pPr marL="0" indent="0" algn="ctr">
              <a:buNone/>
            </a:pPr>
            <a:r>
              <a:rPr lang="en-US" sz="1300" b="1" dirty="0">
                <a:solidFill>
                  <a:srgbClr val="21295C"/>
                </a:solidFill>
                <a:latin typeface="Calibri" pitchFamily="34" charset="0"/>
                <a:ea typeface="Calibri" pitchFamily="34" charset="-122"/>
                <a:cs typeface="Calibri" pitchFamily="34" charset="-120"/>
              </a:rPr>
              <a:t>Rack B</a:t>
            </a:r>
            <a:endParaRPr lang="en-US" sz="1300" dirty="0"/>
          </a:p>
        </p:txBody>
      </p:sp>
      <p:sp>
        <p:nvSpPr>
          <p:cNvPr id="12" name="Shape 10"/>
          <p:cNvSpPr/>
          <p:nvPr/>
        </p:nvSpPr>
        <p:spPr>
          <a:xfrm>
            <a:off x="4709160" y="2788920"/>
            <a:ext cx="2011680" cy="566928"/>
          </a:xfrm>
          <a:prstGeom prst="roundRect">
            <a:avLst>
              <a:gd name="adj" fmla="val 9677"/>
            </a:avLst>
          </a:prstGeom>
          <a:solidFill>
            <a:srgbClr val="FFFFFF"/>
          </a:solidFill>
          <a:ln w="12700">
            <a:solidFill>
              <a:srgbClr val="065A82"/>
            </a:solidFill>
            <a:prstDash val="solid"/>
          </a:ln>
        </p:spPr>
      </p:sp>
      <p:sp>
        <p:nvSpPr>
          <p:cNvPr id="13" name="Text 11"/>
          <p:cNvSpPr txBox="1"/>
          <p:nvPr/>
        </p:nvSpPr>
        <p:spPr>
          <a:xfrm>
            <a:off x="4846320" y="2843784"/>
            <a:ext cx="1737360" cy="256032"/>
          </a:xfrm>
          <a:prstGeom prst="rect">
            <a:avLst/>
          </a:prstGeom>
          <a:noFill/>
          <a:ln/>
        </p:spPr>
        <p:txBody>
          <a:bodyPr wrap="square" lIns="0" tIns="0" rIns="0" bIns="0" rtlCol="0" anchor="ctr"/>
          <a:lstStyle/>
          <a:p>
            <a:pPr marL="0" indent="0">
              <a:buNone/>
            </a:pPr>
            <a:r>
              <a:rPr lang="en-US" sz="1200" b="1" dirty="0">
                <a:solidFill>
                  <a:srgbClr val="21295C"/>
                </a:solidFill>
                <a:latin typeface="Calibri" pitchFamily="34" charset="0"/>
                <a:ea typeface="Calibri" pitchFamily="34" charset="-122"/>
                <a:cs typeface="Calibri" pitchFamily="34" charset="-120"/>
              </a:rPr>
              <a:t>Node 2</a:t>
            </a:r>
            <a:endParaRPr lang="en-US" sz="1200" dirty="0"/>
          </a:p>
        </p:txBody>
      </p:sp>
      <p:sp>
        <p:nvSpPr>
          <p:cNvPr id="14" name="Text 12"/>
          <p:cNvSpPr txBox="1"/>
          <p:nvPr/>
        </p:nvSpPr>
        <p:spPr>
          <a:xfrm>
            <a:off x="4846320" y="3090672"/>
            <a:ext cx="1737360" cy="228600"/>
          </a:xfrm>
          <a:prstGeom prst="rect">
            <a:avLst/>
          </a:prstGeom>
          <a:noFill/>
          <a:ln/>
        </p:spPr>
        <p:txBody>
          <a:bodyPr wrap="square" lIns="0" tIns="0" rIns="0" bIns="0" rtlCol="0" anchor="ctr"/>
          <a:lstStyle/>
          <a:p>
            <a:pPr marL="0" indent="0">
              <a:buNone/>
            </a:pPr>
            <a:r>
              <a:rPr lang="en-US" sz="1050" dirty="0">
                <a:solidFill>
                  <a:srgbClr val="1C7293"/>
                </a:solidFill>
                <a:latin typeface="Calibri" pitchFamily="34" charset="0"/>
                <a:ea typeface="Calibri" pitchFamily="34" charset="-122"/>
                <a:cs typeface="Calibri" pitchFamily="34" charset="-120"/>
              </a:rPr>
              <a:t>Bản sao 2</a:t>
            </a:r>
            <a:endParaRPr lang="en-US" sz="1050" dirty="0"/>
          </a:p>
        </p:txBody>
      </p:sp>
      <p:sp>
        <p:nvSpPr>
          <p:cNvPr id="15" name="Shape 13"/>
          <p:cNvSpPr/>
          <p:nvPr/>
        </p:nvSpPr>
        <p:spPr>
          <a:xfrm>
            <a:off x="4709160" y="3502152"/>
            <a:ext cx="2011680" cy="566928"/>
          </a:xfrm>
          <a:prstGeom prst="roundRect">
            <a:avLst>
              <a:gd name="adj" fmla="val 9677"/>
            </a:avLst>
          </a:prstGeom>
          <a:solidFill>
            <a:srgbClr val="FFFFFF"/>
          </a:solidFill>
          <a:ln w="12700">
            <a:solidFill>
              <a:srgbClr val="065A82"/>
            </a:solidFill>
            <a:prstDash val="solid"/>
          </a:ln>
        </p:spPr>
      </p:sp>
      <p:sp>
        <p:nvSpPr>
          <p:cNvPr id="16" name="Text 14"/>
          <p:cNvSpPr txBox="1"/>
          <p:nvPr/>
        </p:nvSpPr>
        <p:spPr>
          <a:xfrm>
            <a:off x="4846320" y="3557016"/>
            <a:ext cx="1737360" cy="256032"/>
          </a:xfrm>
          <a:prstGeom prst="rect">
            <a:avLst/>
          </a:prstGeom>
          <a:noFill/>
          <a:ln/>
        </p:spPr>
        <p:txBody>
          <a:bodyPr wrap="square" lIns="0" tIns="0" rIns="0" bIns="0" rtlCol="0" anchor="ctr"/>
          <a:lstStyle/>
          <a:p>
            <a:pPr marL="0" indent="0">
              <a:buNone/>
            </a:pPr>
            <a:r>
              <a:rPr lang="en-US" sz="1200" b="1" dirty="0">
                <a:solidFill>
                  <a:srgbClr val="21295C"/>
                </a:solidFill>
                <a:latin typeface="Calibri" pitchFamily="34" charset="0"/>
                <a:ea typeface="Calibri" pitchFamily="34" charset="-122"/>
                <a:cs typeface="Calibri" pitchFamily="34" charset="-120"/>
              </a:rPr>
              <a:t>Node 3</a:t>
            </a:r>
            <a:endParaRPr lang="en-US" sz="1200" dirty="0"/>
          </a:p>
        </p:txBody>
      </p:sp>
      <p:sp>
        <p:nvSpPr>
          <p:cNvPr id="17" name="Text 15"/>
          <p:cNvSpPr txBox="1"/>
          <p:nvPr/>
        </p:nvSpPr>
        <p:spPr>
          <a:xfrm>
            <a:off x="4846320" y="3803904"/>
            <a:ext cx="1737360" cy="228600"/>
          </a:xfrm>
          <a:prstGeom prst="rect">
            <a:avLst/>
          </a:prstGeom>
          <a:noFill/>
          <a:ln/>
        </p:spPr>
        <p:txBody>
          <a:bodyPr wrap="square" lIns="0" tIns="0" rIns="0" bIns="0" rtlCol="0" anchor="ctr"/>
          <a:lstStyle/>
          <a:p>
            <a:pPr marL="0" indent="0">
              <a:buNone/>
            </a:pPr>
            <a:r>
              <a:rPr lang="en-US" sz="1050" dirty="0">
                <a:solidFill>
                  <a:srgbClr val="1C7293"/>
                </a:solidFill>
                <a:latin typeface="Calibri" pitchFamily="34" charset="0"/>
                <a:ea typeface="Calibri" pitchFamily="34" charset="-122"/>
                <a:cs typeface="Calibri" pitchFamily="34" charset="-120"/>
              </a:rPr>
              <a:t>Bản sao 3</a:t>
            </a:r>
            <a:endParaRPr lang="en-US" sz="1050" dirty="0"/>
          </a:p>
        </p:txBody>
      </p:sp>
      <p:sp>
        <p:nvSpPr>
          <p:cNvPr id="18" name="Shape 16"/>
          <p:cNvSpPr/>
          <p:nvPr/>
        </p:nvSpPr>
        <p:spPr>
          <a:xfrm>
            <a:off x="3611880" y="3063240"/>
            <a:ext cx="548640" cy="548640"/>
          </a:xfrm>
          <a:prstGeom prst="roundRect">
            <a:avLst>
              <a:gd name="adj" fmla="val 13333"/>
            </a:avLst>
          </a:prstGeom>
          <a:solidFill>
            <a:srgbClr val="21295C"/>
          </a:solidFill>
          <a:ln/>
        </p:spPr>
      </p:sp>
      <p:sp>
        <p:nvSpPr>
          <p:cNvPr id="19" name="Text 17"/>
          <p:cNvSpPr txBox="1"/>
          <p:nvPr/>
        </p:nvSpPr>
        <p:spPr>
          <a:xfrm>
            <a:off x="3611880" y="3063240"/>
            <a:ext cx="548640" cy="5486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Client</a:t>
            </a:r>
            <a:endParaRPr lang="en-US" sz="900" dirty="0"/>
          </a:p>
        </p:txBody>
      </p:sp>
      <p:sp>
        <p:nvSpPr>
          <p:cNvPr id="20" name="Text 18"/>
          <p:cNvSpPr txBox="1"/>
          <p:nvPr/>
        </p:nvSpPr>
        <p:spPr>
          <a:xfrm>
            <a:off x="7589520" y="2286000"/>
            <a:ext cx="4050792" cy="320040"/>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Vì sao khác Rack?</a:t>
            </a:r>
            <a:endParaRPr lang="en-US" sz="1400" dirty="0"/>
          </a:p>
        </p:txBody>
      </p:sp>
      <p:sp>
        <p:nvSpPr>
          <p:cNvPr id="21" name="Text 19"/>
          <p:cNvSpPr txBox="1"/>
          <p:nvPr/>
        </p:nvSpPr>
        <p:spPr>
          <a:xfrm>
            <a:off x="7589520" y="2651760"/>
            <a:ext cx="4050792" cy="1005840"/>
          </a:xfrm>
          <a:prstGeom prst="rect">
            <a:avLst/>
          </a:prstGeom>
          <a:noFill/>
          <a:ln/>
        </p:spPr>
        <p:txBody>
          <a:bodyPr wrap="square" lIns="0" tIns="0" rIns="0" bIns="0" rtlCol="0" anchor="ctr"/>
          <a:lstStyle/>
          <a:p>
            <a:pPr marL="0" indent="0">
              <a:lnSpc>
                <a:spcPct val="120000"/>
              </a:lnSpc>
              <a:buNone/>
            </a:pPr>
            <a:r>
              <a:rPr lang="en-US" sz="1200" dirty="0">
                <a:solidFill>
                  <a:srgbClr val="6B7788"/>
                </a:solidFill>
                <a:latin typeface="Calibri" pitchFamily="34" charset="0"/>
                <a:ea typeface="Calibri" pitchFamily="34" charset="-122"/>
                <a:cs typeface="Calibri" pitchFamily="34" charset="-120"/>
              </a:rPr>
              <a:t>Bản sao 2 &amp; 3 đặt ở Rack khác Rack chứa bản sao 1 (nhưng cùng nhau) để nếu một tủ mạng mất điện, dữ liệu vẫn an toàn và không gián đoạn.</a:t>
            </a:r>
            <a:endParaRPr lang="en-US" sz="1200" dirty="0"/>
          </a:p>
        </p:txBody>
      </p:sp>
      <p:sp>
        <p:nvSpPr>
          <p:cNvPr id="22" name="Shape 20"/>
          <p:cNvSpPr/>
          <p:nvPr/>
        </p:nvSpPr>
        <p:spPr>
          <a:xfrm>
            <a:off x="548640" y="4709160"/>
            <a:ext cx="11091672" cy="1234440"/>
          </a:xfrm>
          <a:prstGeom prst="roundRect">
            <a:avLst>
              <a:gd name="adj" fmla="val 7407"/>
            </a:avLst>
          </a:prstGeom>
          <a:solidFill>
            <a:srgbClr val="21295C"/>
          </a:solidFill>
          <a:ln/>
        </p:spPr>
      </p:sp>
      <p:sp>
        <p:nvSpPr>
          <p:cNvPr id="23" name="Text 21"/>
          <p:cNvSpPr txBox="1"/>
          <p:nvPr/>
        </p:nvSpPr>
        <p:spPr>
          <a:xfrm>
            <a:off x="868680" y="4864608"/>
            <a:ext cx="3657600" cy="256032"/>
          </a:xfrm>
          <a:prstGeom prst="rect">
            <a:avLst/>
          </a:prstGeom>
          <a:noFill/>
          <a:ln/>
        </p:spPr>
        <p:txBody>
          <a:bodyPr wrap="square" lIns="0" tIns="0" rIns="0" bIns="0" rtlCol="0" anchor="ctr"/>
          <a:lstStyle/>
          <a:p>
            <a:pPr marL="0" indent="0">
              <a:buNone/>
            </a:pPr>
            <a:r>
              <a:rPr lang="en-US" sz="1050" b="1" kern="0" spc="150" dirty="0">
                <a:solidFill>
                  <a:srgbClr val="AEC6D6"/>
                </a:solidFill>
                <a:latin typeface="Calibri" pitchFamily="34" charset="0"/>
                <a:ea typeface="Calibri" pitchFamily="34" charset="-122"/>
                <a:cs typeface="Calibri" pitchFamily="34" charset="-120"/>
              </a:rPr>
              <a:t>VÍ DỤ TÍNH TOÁN</a:t>
            </a:r>
            <a:endParaRPr lang="en-US" sz="1050" dirty="0"/>
          </a:p>
        </p:txBody>
      </p:sp>
      <p:sp>
        <p:nvSpPr>
          <p:cNvPr id="24" name="Text 22"/>
          <p:cNvSpPr txBox="1"/>
          <p:nvPr/>
        </p:nvSpPr>
        <p:spPr>
          <a:xfrm>
            <a:off x="868680" y="5138928"/>
            <a:ext cx="6062472" cy="685800"/>
          </a:xfrm>
          <a:prstGeom prst="rect">
            <a:avLst/>
          </a:prstGeom>
          <a:noFill/>
          <a:ln/>
        </p:spPr>
        <p:txBody>
          <a:bodyPr wrap="square" lIns="0" tIns="0" rIns="0" bIns="0" rtlCol="0" anchor="ctr"/>
          <a:lstStyle/>
          <a:p>
            <a:pPr marL="0" indent="0">
              <a:lnSpc>
                <a:spcPct val="120000"/>
              </a:lnSpc>
              <a:buNone/>
            </a:pPr>
            <a:r>
              <a:rPr lang="en-US" sz="1450" b="1" dirty="0">
                <a:solidFill>
                  <a:srgbClr val="FFFFFF"/>
                </a:solidFill>
                <a:latin typeface="Calibri" pitchFamily="34" charset="0"/>
                <a:ea typeface="Calibri" pitchFamily="34" charset="-122"/>
                <a:cs typeface="Calibri" pitchFamily="34" charset="-120"/>
              </a:rPr>
              <a:t>File 300 MB (3 block) × Replication = 3  →  9 blocks phân tán, cần 900 MB dung lượng vật lý.</a:t>
            </a:r>
            <a:endParaRPr lang="en-US" sz="1450" dirty="0"/>
          </a:p>
        </p:txBody>
      </p:sp>
      <p:sp>
        <p:nvSpPr>
          <p:cNvPr id="25" name="Text 23"/>
          <p:cNvSpPr txBox="1"/>
          <p:nvPr/>
        </p:nvSpPr>
        <p:spPr>
          <a:xfrm>
            <a:off x="6885432" y="4937760"/>
            <a:ext cx="4206240" cy="822960"/>
          </a:xfrm>
          <a:prstGeom prst="rect">
            <a:avLst/>
          </a:prstGeom>
          <a:noFill/>
          <a:ln/>
        </p:spPr>
        <p:txBody>
          <a:bodyPr wrap="square" lIns="0" tIns="0" rIns="0" bIns="0" rtlCol="0" anchor="ctr"/>
          <a:lstStyle/>
          <a:p>
            <a:pPr marL="0" indent="0" algn="r">
              <a:buNone/>
            </a:pPr>
            <a:r>
              <a:rPr lang="en-US" sz="4000" b="1" dirty="0">
                <a:solidFill>
                  <a:srgbClr val="5FD0C6"/>
                </a:solidFill>
                <a:latin typeface="Times New Roman" pitchFamily="34" charset="0"/>
                <a:ea typeface="Times New Roman" pitchFamily="34" charset="-122"/>
                <a:cs typeface="Times New Roman" pitchFamily="34" charset="-120"/>
              </a:rPr>
              <a:t>900 MB</a:t>
            </a:r>
            <a:endParaRPr lang="en-US" sz="4000" dirty="0"/>
          </a:p>
        </p:txBody>
      </p:sp>
      <p:sp>
        <p:nvSpPr>
          <p:cNvPr id="26" name="Text 24"/>
          <p:cNvSpPr txBox="1"/>
          <p:nvPr/>
        </p:nvSpPr>
        <p:spPr>
          <a:xfrm>
            <a:off x="548640" y="6473952"/>
            <a:ext cx="3657600" cy="274320"/>
          </a:xfrm>
          <a:prstGeom prst="rect">
            <a:avLst/>
          </a:prstGeom>
          <a:noFill/>
          <a:ln/>
        </p:spPr>
        <p:txBody>
          <a:bodyPr wrap="square" lIns="0" tIns="0" rIns="0" bIns="0" rtlCol="0" anchor="ctr"/>
          <a:lstStyle/>
          <a:p>
            <a:pPr marL="0" indent="0" algn="l">
              <a:buNone/>
            </a:pPr>
            <a:r>
              <a:rPr lang="en-US" sz="900" dirty="0">
                <a:solidFill>
                  <a:srgbClr val="6B7788"/>
                </a:solidFill>
                <a:latin typeface="Calibri" pitchFamily="34" charset="0"/>
                <a:ea typeface="Calibri" pitchFamily="34" charset="-122"/>
                <a:cs typeface="Calibri" pitchFamily="34" charset="-120"/>
              </a:rPr>
              <a:t>APACHE HDFS  ·  BIG DATA</a:t>
            </a:r>
            <a:endParaRPr lang="en-US" sz="900" dirty="0"/>
          </a:p>
        </p:txBody>
      </p:sp>
      <p:sp>
        <p:nvSpPr>
          <p:cNvPr id="27" name="Text 25"/>
          <p:cNvSpPr txBox="1"/>
          <p:nvPr/>
        </p:nvSpPr>
        <p:spPr>
          <a:xfrm>
            <a:off x="11228832" y="6473952"/>
            <a:ext cx="411480" cy="274320"/>
          </a:xfrm>
          <a:prstGeom prst="rect">
            <a:avLst/>
          </a:prstGeom>
          <a:noFill/>
          <a:ln/>
        </p:spPr>
        <p:txBody>
          <a:bodyPr wrap="square" lIns="0" tIns="0" rIns="0" bIns="0" rtlCol="0" anchor="ctr"/>
          <a:lstStyle/>
          <a:p>
            <a:pPr marL="0" indent="0" algn="r">
              <a:buNone/>
            </a:pPr>
            <a:r>
              <a:rPr lang="en-US" sz="900" dirty="0">
                <a:solidFill>
                  <a:srgbClr val="6B7788"/>
                </a:solidFill>
                <a:latin typeface="Calibri" pitchFamily="34" charset="0"/>
                <a:ea typeface="Calibri" pitchFamily="34" charset="-122"/>
                <a:cs typeface="Calibri" pitchFamily="34" charset="-120"/>
              </a:rPr>
              <a:t>05</a:t>
            </a:r>
            <a:endParaRPr lang="en-US" sz="900" dirty="0"/>
          </a:p>
        </p:txBody>
      </p:sp>
      <p:sp>
        <p:nvSpPr>
          <p:cNvPr id="28" name="Shape 26"/>
          <p:cNvSpPr/>
          <p:nvPr/>
        </p:nvSpPr>
        <p:spPr>
          <a:xfrm>
            <a:off x="10543032" y="6473952"/>
            <a:ext cx="146304" cy="146304"/>
          </a:xfrm>
          <a:prstGeom prst="roundRect">
            <a:avLst>
              <a:gd name="adj" fmla="val 18750"/>
            </a:avLst>
          </a:prstGeom>
          <a:solidFill>
            <a:srgbClr val="065A82"/>
          </a:solidFill>
          <a:ln/>
        </p:spPr>
      </p:sp>
      <p:sp>
        <p:nvSpPr>
          <p:cNvPr id="29" name="Shape 27"/>
          <p:cNvSpPr/>
          <p:nvPr/>
        </p:nvSpPr>
        <p:spPr>
          <a:xfrm>
            <a:off x="10744200" y="6473952"/>
            <a:ext cx="146304" cy="146304"/>
          </a:xfrm>
          <a:prstGeom prst="roundRect">
            <a:avLst>
              <a:gd name="adj" fmla="val 18750"/>
            </a:avLst>
          </a:prstGeom>
          <a:solidFill>
            <a:srgbClr val="1C7293"/>
          </a:solidFill>
          <a:ln/>
        </p:spPr>
      </p:sp>
      <p:sp>
        <p:nvSpPr>
          <p:cNvPr id="30" name="Shape 28"/>
          <p:cNvSpPr/>
          <p:nvPr/>
        </p:nvSpPr>
        <p:spPr>
          <a:xfrm>
            <a:off x="10945368" y="6473952"/>
            <a:ext cx="146304" cy="146304"/>
          </a:xfrm>
          <a:prstGeom prst="roundRect">
            <a:avLst>
              <a:gd name="adj" fmla="val 18750"/>
            </a:avLst>
          </a:prstGeom>
          <a:solidFill>
            <a:srgbClr val="21295C"/>
          </a:solid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292608"/>
          </a:xfrm>
          <a:prstGeom prst="rect">
            <a:avLst/>
          </a:prstGeom>
          <a:noFill/>
          <a:ln/>
        </p:spPr>
        <p:txBody>
          <a:bodyPr wrap="square" lIns="0" tIns="0" rIns="0" bIns="0" rtlCol="0" anchor="ctr"/>
          <a:lstStyle/>
          <a:p>
            <a:pPr marL="0" indent="0">
              <a:buNone/>
            </a:pPr>
            <a:r>
              <a:rPr lang="en-US" sz="1300" b="1" kern="0" spc="150" dirty="0">
                <a:solidFill>
                  <a:srgbClr val="1C7293"/>
                </a:solidFill>
                <a:latin typeface="Calibri" pitchFamily="34" charset="0"/>
                <a:ea typeface="Calibri" pitchFamily="34" charset="-122"/>
                <a:cs typeface="Calibri" pitchFamily="34" charset="-120"/>
              </a:rPr>
              <a:t>Kiến trúc</a:t>
            </a:r>
            <a:endParaRPr lang="en-US" sz="1300" dirty="0"/>
          </a:p>
        </p:txBody>
      </p:sp>
      <p:sp>
        <p:nvSpPr>
          <p:cNvPr id="3" name="Text 1"/>
          <p:cNvSpPr txBox="1"/>
          <p:nvPr/>
        </p:nvSpPr>
        <p:spPr>
          <a:xfrm>
            <a:off x="548640" y="658368"/>
            <a:ext cx="11091672" cy="822960"/>
          </a:xfrm>
          <a:prstGeom prst="rect">
            <a:avLst/>
          </a:prstGeom>
          <a:noFill/>
          <a:ln/>
        </p:spPr>
        <p:txBody>
          <a:bodyPr wrap="square" lIns="0" tIns="0" rIns="0" bIns="0" rtlCol="0" anchor="t"/>
          <a:lstStyle/>
          <a:p>
            <a:pPr marL="0" indent="0">
              <a:buNone/>
            </a:pPr>
            <a:r>
              <a:rPr lang="en-US" sz="2800" b="1" dirty="0">
                <a:solidFill>
                  <a:srgbClr val="21295C"/>
                </a:solidFill>
                <a:latin typeface="Times New Roman" pitchFamily="34" charset="0"/>
                <a:ea typeface="Times New Roman" pitchFamily="34" charset="-122"/>
                <a:cs typeface="Times New Roman" pitchFamily="34" charset="-120"/>
              </a:rPr>
              <a:t>Kiến Trúc Master / Worker Trong HDFS</a:t>
            </a:r>
            <a:endParaRPr lang="en-US" sz="2800" dirty="0"/>
          </a:p>
        </p:txBody>
      </p:sp>
      <p:sp>
        <p:nvSpPr>
          <p:cNvPr id="4" name="Shape 2"/>
          <p:cNvSpPr/>
          <p:nvPr/>
        </p:nvSpPr>
        <p:spPr>
          <a:xfrm>
            <a:off x="548640" y="1783080"/>
            <a:ext cx="5362956" cy="4160520"/>
          </a:xfrm>
          <a:prstGeom prst="roundRect">
            <a:avLst>
              <a:gd name="adj" fmla="val 2637"/>
            </a:avLst>
          </a:prstGeom>
          <a:solidFill>
            <a:srgbClr val="21295C"/>
          </a:solidFill>
          <a:ln/>
        </p:spPr>
      </p:sp>
      <p:sp>
        <p:nvSpPr>
          <p:cNvPr id="5" name="Text 3"/>
          <p:cNvSpPr txBox="1"/>
          <p:nvPr/>
        </p:nvSpPr>
        <p:spPr>
          <a:xfrm>
            <a:off x="868680" y="2011680"/>
            <a:ext cx="4722876" cy="457200"/>
          </a:xfrm>
          <a:prstGeom prst="rect">
            <a:avLst/>
          </a:prstGeom>
          <a:noFill/>
          <a:ln/>
        </p:spPr>
        <p:txBody>
          <a:bodyPr wrap="square" lIns="0" tIns="0" rIns="0" bIns="0" rtlCol="0" anchor="ctr"/>
          <a:lstStyle/>
          <a:p>
            <a:pPr marL="0" indent="0">
              <a:buNone/>
            </a:pPr>
            <a:r>
              <a:rPr lang="en-US" sz="2400" b="1" dirty="0">
                <a:solidFill>
                  <a:srgbClr val="FFFFFF"/>
                </a:solidFill>
                <a:latin typeface="Times New Roman" pitchFamily="34" charset="0"/>
                <a:ea typeface="Times New Roman" pitchFamily="34" charset="-122"/>
                <a:cs typeface="Times New Roman" pitchFamily="34" charset="-120"/>
              </a:rPr>
              <a:t>NameNode</a:t>
            </a:r>
            <a:endParaRPr lang="en-US" sz="2400" dirty="0"/>
          </a:p>
        </p:txBody>
      </p:sp>
      <p:sp>
        <p:nvSpPr>
          <p:cNvPr id="6" name="Text 4"/>
          <p:cNvSpPr txBox="1"/>
          <p:nvPr/>
        </p:nvSpPr>
        <p:spPr>
          <a:xfrm>
            <a:off x="868680" y="2450592"/>
            <a:ext cx="4722876" cy="320040"/>
          </a:xfrm>
          <a:prstGeom prst="rect">
            <a:avLst/>
          </a:prstGeom>
          <a:noFill/>
          <a:ln/>
        </p:spPr>
        <p:txBody>
          <a:bodyPr wrap="square" lIns="0" tIns="0" rIns="0" bIns="0" rtlCol="0" anchor="ctr"/>
          <a:lstStyle/>
          <a:p>
            <a:pPr marL="0" indent="0">
              <a:buNone/>
            </a:pPr>
            <a:r>
              <a:rPr lang="en-US" sz="1200" i="1" dirty="0">
                <a:solidFill>
                  <a:srgbClr val="AEC6D6"/>
                </a:solidFill>
                <a:latin typeface="Calibri" pitchFamily="34" charset="0"/>
                <a:ea typeface="Calibri" pitchFamily="34" charset="-122"/>
                <a:cs typeface="Calibri" pitchFamily="34" charset="-120"/>
              </a:rPr>
              <a:t>Master — Bộ não điều khiển trung tâm</a:t>
            </a:r>
            <a:endParaRPr lang="en-US" sz="1200" dirty="0"/>
          </a:p>
        </p:txBody>
      </p:sp>
      <p:sp>
        <p:nvSpPr>
          <p:cNvPr id="7" name="Text 5"/>
          <p:cNvSpPr txBox="1"/>
          <p:nvPr/>
        </p:nvSpPr>
        <p:spPr>
          <a:xfrm>
            <a:off x="868680" y="2926080"/>
            <a:ext cx="4722876" cy="237744"/>
          </a:xfrm>
          <a:prstGeom prst="rect">
            <a:avLst/>
          </a:prstGeom>
          <a:noFill/>
          <a:ln/>
        </p:spPr>
        <p:txBody>
          <a:bodyPr wrap="square" lIns="0" tIns="0" rIns="0" bIns="0" rtlCol="0" anchor="ctr"/>
          <a:lstStyle/>
          <a:p>
            <a:pPr marL="0" indent="0">
              <a:buNone/>
            </a:pPr>
            <a:r>
              <a:rPr lang="en-US" sz="1050" b="1" kern="0" spc="100" dirty="0">
                <a:solidFill>
                  <a:srgbClr val="5FD0C6"/>
                </a:solidFill>
                <a:latin typeface="Calibri" pitchFamily="34" charset="0"/>
                <a:ea typeface="Calibri" pitchFamily="34" charset="-122"/>
                <a:cs typeface="Calibri" pitchFamily="34" charset="-120"/>
              </a:rPr>
              <a:t>VAI TRÒ</a:t>
            </a:r>
            <a:endParaRPr lang="en-US" sz="1050" dirty="0"/>
          </a:p>
        </p:txBody>
      </p:sp>
      <p:sp>
        <p:nvSpPr>
          <p:cNvPr id="8" name="Text 6"/>
          <p:cNvSpPr txBox="1"/>
          <p:nvPr/>
        </p:nvSpPr>
        <p:spPr>
          <a:xfrm>
            <a:off x="868680" y="3182112"/>
            <a:ext cx="4722876" cy="594360"/>
          </a:xfrm>
          <a:prstGeom prst="rect">
            <a:avLst/>
          </a:prstGeom>
          <a:noFill/>
          <a:ln/>
        </p:spPr>
        <p:txBody>
          <a:bodyPr wrap="square" lIns="0" tIns="0" rIns="0" bIns="0" rtlCol="0" anchor="ctr"/>
          <a:lstStyle/>
          <a:p>
            <a:pPr marL="0" indent="0">
              <a:lnSpc>
                <a:spcPct val="120000"/>
              </a:lnSpc>
              <a:buNone/>
            </a:pPr>
            <a:r>
              <a:rPr lang="en-US" sz="1250" dirty="0">
                <a:solidFill>
                  <a:srgbClr val="FFFFFF"/>
                </a:solidFill>
                <a:latin typeface="Calibri" pitchFamily="34" charset="0"/>
                <a:ea typeface="Calibri" pitchFamily="34" charset="-122"/>
                <a:cs typeface="Calibri" pitchFamily="34" charset="-120"/>
              </a:rPr>
              <a:t>Bộ não điều khiển trung tâm</a:t>
            </a:r>
            <a:endParaRPr lang="en-US" sz="1250" dirty="0"/>
          </a:p>
        </p:txBody>
      </p:sp>
      <p:sp>
        <p:nvSpPr>
          <p:cNvPr id="9" name="Text 7"/>
          <p:cNvSpPr txBox="1"/>
          <p:nvPr/>
        </p:nvSpPr>
        <p:spPr>
          <a:xfrm>
            <a:off x="868680" y="3913632"/>
            <a:ext cx="4722876" cy="237744"/>
          </a:xfrm>
          <a:prstGeom prst="rect">
            <a:avLst/>
          </a:prstGeom>
          <a:noFill/>
          <a:ln/>
        </p:spPr>
        <p:txBody>
          <a:bodyPr wrap="square" lIns="0" tIns="0" rIns="0" bIns="0" rtlCol="0" anchor="ctr"/>
          <a:lstStyle/>
          <a:p>
            <a:pPr marL="0" indent="0">
              <a:buNone/>
            </a:pPr>
            <a:r>
              <a:rPr lang="en-US" sz="1050" b="1" kern="0" spc="100" dirty="0">
                <a:solidFill>
                  <a:srgbClr val="5FD0C6"/>
                </a:solidFill>
                <a:latin typeface="Calibri" pitchFamily="34" charset="0"/>
                <a:ea typeface="Calibri" pitchFamily="34" charset="-122"/>
                <a:cs typeface="Calibri" pitchFamily="34" charset="-120"/>
              </a:rPr>
              <a:t>NHIỆM VỤ CHÍNH</a:t>
            </a:r>
            <a:endParaRPr lang="en-US" sz="1050" dirty="0"/>
          </a:p>
        </p:txBody>
      </p:sp>
      <p:sp>
        <p:nvSpPr>
          <p:cNvPr id="10" name="Text 8"/>
          <p:cNvSpPr txBox="1"/>
          <p:nvPr/>
        </p:nvSpPr>
        <p:spPr>
          <a:xfrm>
            <a:off x="868680" y="4169664"/>
            <a:ext cx="4722876" cy="594360"/>
          </a:xfrm>
          <a:prstGeom prst="rect">
            <a:avLst/>
          </a:prstGeom>
          <a:noFill/>
          <a:ln/>
        </p:spPr>
        <p:txBody>
          <a:bodyPr wrap="square" lIns="0" tIns="0" rIns="0" bIns="0" rtlCol="0" anchor="ctr"/>
          <a:lstStyle/>
          <a:p>
            <a:pPr marL="0" indent="0">
              <a:lnSpc>
                <a:spcPct val="120000"/>
              </a:lnSpc>
              <a:buNone/>
            </a:pPr>
            <a:r>
              <a:rPr lang="en-US" sz="1250" dirty="0">
                <a:solidFill>
                  <a:srgbClr val="FFFFFF"/>
                </a:solidFill>
                <a:latin typeface="Calibri" pitchFamily="34" charset="0"/>
                <a:ea typeface="Calibri" pitchFamily="34" charset="-122"/>
                <a:cs typeface="Calibri" pitchFamily="34" charset="-120"/>
              </a:rPr>
              <a:t>Quản lý cây thư mục (Namespace), quyền truy cập và bảng vị trí block</a:t>
            </a:r>
            <a:endParaRPr lang="en-US" sz="1250" dirty="0"/>
          </a:p>
        </p:txBody>
      </p:sp>
      <p:sp>
        <p:nvSpPr>
          <p:cNvPr id="11" name="Text 9"/>
          <p:cNvSpPr txBox="1"/>
          <p:nvPr/>
        </p:nvSpPr>
        <p:spPr>
          <a:xfrm>
            <a:off x="868680" y="4901184"/>
            <a:ext cx="4722876" cy="237744"/>
          </a:xfrm>
          <a:prstGeom prst="rect">
            <a:avLst/>
          </a:prstGeom>
          <a:noFill/>
          <a:ln/>
        </p:spPr>
        <p:txBody>
          <a:bodyPr wrap="square" lIns="0" tIns="0" rIns="0" bIns="0" rtlCol="0" anchor="ctr"/>
          <a:lstStyle/>
          <a:p>
            <a:pPr marL="0" indent="0">
              <a:buNone/>
            </a:pPr>
            <a:r>
              <a:rPr lang="en-US" sz="1050" b="1" kern="0" spc="100" dirty="0">
                <a:solidFill>
                  <a:srgbClr val="5FD0C6"/>
                </a:solidFill>
                <a:latin typeface="Calibri" pitchFamily="34" charset="0"/>
                <a:ea typeface="Calibri" pitchFamily="34" charset="-122"/>
                <a:cs typeface="Calibri" pitchFamily="34" charset="-120"/>
              </a:rPr>
              <a:t>GIAO TIẾP</a:t>
            </a:r>
            <a:endParaRPr lang="en-US" sz="1050" dirty="0"/>
          </a:p>
        </p:txBody>
      </p:sp>
      <p:sp>
        <p:nvSpPr>
          <p:cNvPr id="12" name="Text 10"/>
          <p:cNvSpPr txBox="1"/>
          <p:nvPr/>
        </p:nvSpPr>
        <p:spPr>
          <a:xfrm>
            <a:off x="868680" y="5157216"/>
            <a:ext cx="4722876" cy="594360"/>
          </a:xfrm>
          <a:prstGeom prst="rect">
            <a:avLst/>
          </a:prstGeom>
          <a:noFill/>
          <a:ln/>
        </p:spPr>
        <p:txBody>
          <a:bodyPr wrap="square" lIns="0" tIns="0" rIns="0" bIns="0" rtlCol="0" anchor="ctr"/>
          <a:lstStyle/>
          <a:p>
            <a:pPr marL="0" indent="0">
              <a:lnSpc>
                <a:spcPct val="120000"/>
              </a:lnSpc>
              <a:buNone/>
            </a:pPr>
            <a:r>
              <a:rPr lang="en-US" sz="1250" dirty="0">
                <a:solidFill>
                  <a:srgbClr val="FFFFFF"/>
                </a:solidFill>
                <a:latin typeface="Calibri" pitchFamily="34" charset="0"/>
                <a:ea typeface="Calibri" pitchFamily="34" charset="-122"/>
                <a:cs typeface="Calibri" pitchFamily="34" charset="-120"/>
              </a:rPr>
              <a:t>Phát lệnh tạo, xoá, nhân bản khối</a:t>
            </a:r>
            <a:endParaRPr lang="en-US" sz="1250" dirty="0"/>
          </a:p>
        </p:txBody>
      </p:sp>
      <p:sp>
        <p:nvSpPr>
          <p:cNvPr id="13" name="Shape 11"/>
          <p:cNvSpPr/>
          <p:nvPr/>
        </p:nvSpPr>
        <p:spPr>
          <a:xfrm>
            <a:off x="6277356" y="1783080"/>
            <a:ext cx="5362956" cy="4160520"/>
          </a:xfrm>
          <a:prstGeom prst="roundRect">
            <a:avLst>
              <a:gd name="adj" fmla="val 2637"/>
            </a:avLst>
          </a:prstGeom>
          <a:solidFill>
            <a:srgbClr val="065A82"/>
          </a:solidFill>
          <a:ln/>
        </p:spPr>
      </p:sp>
      <p:sp>
        <p:nvSpPr>
          <p:cNvPr id="14" name="Text 12"/>
          <p:cNvSpPr txBox="1"/>
          <p:nvPr/>
        </p:nvSpPr>
        <p:spPr>
          <a:xfrm>
            <a:off x="6597396" y="2011680"/>
            <a:ext cx="4722876" cy="457200"/>
          </a:xfrm>
          <a:prstGeom prst="rect">
            <a:avLst/>
          </a:prstGeom>
          <a:noFill/>
          <a:ln/>
        </p:spPr>
        <p:txBody>
          <a:bodyPr wrap="square" lIns="0" tIns="0" rIns="0" bIns="0" rtlCol="0" anchor="ctr"/>
          <a:lstStyle/>
          <a:p>
            <a:pPr marL="0" indent="0">
              <a:buNone/>
            </a:pPr>
            <a:r>
              <a:rPr lang="en-US" sz="2400" b="1" dirty="0">
                <a:solidFill>
                  <a:srgbClr val="FFFFFF"/>
                </a:solidFill>
                <a:latin typeface="Times New Roman" pitchFamily="34" charset="0"/>
                <a:ea typeface="Times New Roman" pitchFamily="34" charset="-122"/>
                <a:cs typeface="Times New Roman" pitchFamily="34" charset="-120"/>
              </a:rPr>
              <a:t>DataNode</a:t>
            </a:r>
            <a:endParaRPr lang="en-US" sz="2400" dirty="0"/>
          </a:p>
        </p:txBody>
      </p:sp>
      <p:sp>
        <p:nvSpPr>
          <p:cNvPr id="15" name="Text 13"/>
          <p:cNvSpPr txBox="1"/>
          <p:nvPr/>
        </p:nvSpPr>
        <p:spPr>
          <a:xfrm>
            <a:off x="6597396" y="2450592"/>
            <a:ext cx="4722876" cy="320040"/>
          </a:xfrm>
          <a:prstGeom prst="rect">
            <a:avLst/>
          </a:prstGeom>
          <a:noFill/>
          <a:ln/>
        </p:spPr>
        <p:txBody>
          <a:bodyPr wrap="square" lIns="0" tIns="0" rIns="0" bIns="0" rtlCol="0" anchor="ctr"/>
          <a:lstStyle/>
          <a:p>
            <a:pPr marL="0" indent="0">
              <a:buNone/>
            </a:pPr>
            <a:r>
              <a:rPr lang="en-US" sz="1200" i="1" dirty="0">
                <a:solidFill>
                  <a:srgbClr val="AEC6D6"/>
                </a:solidFill>
                <a:latin typeface="Calibri" pitchFamily="34" charset="0"/>
                <a:ea typeface="Calibri" pitchFamily="34" charset="-122"/>
                <a:cs typeface="Calibri" pitchFamily="34" charset="-120"/>
              </a:rPr>
              <a:t>Worker — Cơ bắp lưu trữ vật lý</a:t>
            </a:r>
            <a:endParaRPr lang="en-US" sz="1200" dirty="0"/>
          </a:p>
        </p:txBody>
      </p:sp>
      <p:sp>
        <p:nvSpPr>
          <p:cNvPr id="16" name="Text 14"/>
          <p:cNvSpPr txBox="1"/>
          <p:nvPr/>
        </p:nvSpPr>
        <p:spPr>
          <a:xfrm>
            <a:off x="6597396" y="2926080"/>
            <a:ext cx="4722876" cy="237744"/>
          </a:xfrm>
          <a:prstGeom prst="rect">
            <a:avLst/>
          </a:prstGeom>
          <a:noFill/>
          <a:ln/>
        </p:spPr>
        <p:txBody>
          <a:bodyPr wrap="square" lIns="0" tIns="0" rIns="0" bIns="0" rtlCol="0" anchor="ctr"/>
          <a:lstStyle/>
          <a:p>
            <a:pPr marL="0" indent="0">
              <a:buNone/>
            </a:pPr>
            <a:r>
              <a:rPr lang="en-US" sz="1050" b="1" kern="0" spc="100" dirty="0">
                <a:solidFill>
                  <a:srgbClr val="5FD0C6"/>
                </a:solidFill>
                <a:latin typeface="Calibri" pitchFamily="34" charset="0"/>
                <a:ea typeface="Calibri" pitchFamily="34" charset="-122"/>
                <a:cs typeface="Calibri" pitchFamily="34" charset="-120"/>
              </a:rPr>
              <a:t>VAI TRÒ</a:t>
            </a:r>
            <a:endParaRPr lang="en-US" sz="1050" dirty="0"/>
          </a:p>
        </p:txBody>
      </p:sp>
      <p:sp>
        <p:nvSpPr>
          <p:cNvPr id="17" name="Text 15"/>
          <p:cNvSpPr txBox="1"/>
          <p:nvPr/>
        </p:nvSpPr>
        <p:spPr>
          <a:xfrm>
            <a:off x="6597396" y="3182112"/>
            <a:ext cx="4722876" cy="594360"/>
          </a:xfrm>
          <a:prstGeom prst="rect">
            <a:avLst/>
          </a:prstGeom>
          <a:noFill/>
          <a:ln/>
        </p:spPr>
        <p:txBody>
          <a:bodyPr wrap="square" lIns="0" tIns="0" rIns="0" bIns="0" rtlCol="0" anchor="ctr"/>
          <a:lstStyle/>
          <a:p>
            <a:pPr marL="0" indent="0">
              <a:lnSpc>
                <a:spcPct val="120000"/>
              </a:lnSpc>
              <a:buNone/>
            </a:pPr>
            <a:r>
              <a:rPr lang="en-US" sz="1250" dirty="0">
                <a:solidFill>
                  <a:srgbClr val="FFFFFF"/>
                </a:solidFill>
                <a:latin typeface="Calibri" pitchFamily="34" charset="0"/>
                <a:ea typeface="Calibri" pitchFamily="34" charset="-122"/>
                <a:cs typeface="Calibri" pitchFamily="34" charset="-120"/>
              </a:rPr>
              <a:t>Cơ bắp lưu trữ vật lý</a:t>
            </a:r>
            <a:endParaRPr lang="en-US" sz="1250" dirty="0"/>
          </a:p>
        </p:txBody>
      </p:sp>
      <p:sp>
        <p:nvSpPr>
          <p:cNvPr id="18" name="Text 16"/>
          <p:cNvSpPr txBox="1"/>
          <p:nvPr/>
        </p:nvSpPr>
        <p:spPr>
          <a:xfrm>
            <a:off x="6597396" y="3913632"/>
            <a:ext cx="4722876" cy="237744"/>
          </a:xfrm>
          <a:prstGeom prst="rect">
            <a:avLst/>
          </a:prstGeom>
          <a:noFill/>
          <a:ln/>
        </p:spPr>
        <p:txBody>
          <a:bodyPr wrap="square" lIns="0" tIns="0" rIns="0" bIns="0" rtlCol="0" anchor="ctr"/>
          <a:lstStyle/>
          <a:p>
            <a:pPr marL="0" indent="0">
              <a:buNone/>
            </a:pPr>
            <a:r>
              <a:rPr lang="en-US" sz="1050" b="1" kern="0" spc="100" dirty="0">
                <a:solidFill>
                  <a:srgbClr val="5FD0C6"/>
                </a:solidFill>
                <a:latin typeface="Calibri" pitchFamily="34" charset="0"/>
                <a:ea typeface="Calibri" pitchFamily="34" charset="-122"/>
                <a:cs typeface="Calibri" pitchFamily="34" charset="-120"/>
              </a:rPr>
              <a:t>NHIỆM VỤ CHÍNH</a:t>
            </a:r>
            <a:endParaRPr lang="en-US" sz="1050" dirty="0"/>
          </a:p>
        </p:txBody>
      </p:sp>
      <p:sp>
        <p:nvSpPr>
          <p:cNvPr id="19" name="Text 17"/>
          <p:cNvSpPr txBox="1"/>
          <p:nvPr/>
        </p:nvSpPr>
        <p:spPr>
          <a:xfrm>
            <a:off x="6597396" y="4169664"/>
            <a:ext cx="4722876" cy="594360"/>
          </a:xfrm>
          <a:prstGeom prst="rect">
            <a:avLst/>
          </a:prstGeom>
          <a:noFill/>
          <a:ln/>
        </p:spPr>
        <p:txBody>
          <a:bodyPr wrap="square" lIns="0" tIns="0" rIns="0" bIns="0" rtlCol="0" anchor="ctr"/>
          <a:lstStyle/>
          <a:p>
            <a:pPr marL="0" indent="0">
              <a:lnSpc>
                <a:spcPct val="120000"/>
              </a:lnSpc>
              <a:buNone/>
            </a:pPr>
            <a:r>
              <a:rPr lang="en-US" sz="1250" dirty="0">
                <a:solidFill>
                  <a:srgbClr val="FFFFFF"/>
                </a:solidFill>
                <a:latin typeface="Calibri" pitchFamily="34" charset="0"/>
                <a:ea typeface="Calibri" pitchFamily="34" charset="-122"/>
                <a:cs typeface="Calibri" pitchFamily="34" charset="-120"/>
              </a:rPr>
              <a:t>Lưu trữ dữ liệu thô dạng block trên ổ đĩa; thực hiện đọc/ghi</a:t>
            </a:r>
            <a:endParaRPr lang="en-US" sz="1250" dirty="0"/>
          </a:p>
        </p:txBody>
      </p:sp>
      <p:sp>
        <p:nvSpPr>
          <p:cNvPr id="20" name="Text 18"/>
          <p:cNvSpPr txBox="1"/>
          <p:nvPr/>
        </p:nvSpPr>
        <p:spPr>
          <a:xfrm>
            <a:off x="6597396" y="4901184"/>
            <a:ext cx="4722876" cy="237744"/>
          </a:xfrm>
          <a:prstGeom prst="rect">
            <a:avLst/>
          </a:prstGeom>
          <a:noFill/>
          <a:ln/>
        </p:spPr>
        <p:txBody>
          <a:bodyPr wrap="square" lIns="0" tIns="0" rIns="0" bIns="0" rtlCol="0" anchor="ctr"/>
          <a:lstStyle/>
          <a:p>
            <a:pPr marL="0" indent="0">
              <a:buNone/>
            </a:pPr>
            <a:r>
              <a:rPr lang="en-US" sz="1050" b="1" kern="0" spc="100" dirty="0">
                <a:solidFill>
                  <a:srgbClr val="5FD0C6"/>
                </a:solidFill>
                <a:latin typeface="Calibri" pitchFamily="34" charset="0"/>
                <a:ea typeface="Calibri" pitchFamily="34" charset="-122"/>
                <a:cs typeface="Calibri" pitchFamily="34" charset="-120"/>
              </a:rPr>
              <a:t>GIAO TIẾP</a:t>
            </a:r>
            <a:endParaRPr lang="en-US" sz="1050" dirty="0"/>
          </a:p>
        </p:txBody>
      </p:sp>
      <p:sp>
        <p:nvSpPr>
          <p:cNvPr id="21" name="Text 19"/>
          <p:cNvSpPr txBox="1"/>
          <p:nvPr/>
        </p:nvSpPr>
        <p:spPr>
          <a:xfrm>
            <a:off x="6597396" y="5157216"/>
            <a:ext cx="4722876" cy="594360"/>
          </a:xfrm>
          <a:prstGeom prst="rect">
            <a:avLst/>
          </a:prstGeom>
          <a:noFill/>
          <a:ln/>
        </p:spPr>
        <p:txBody>
          <a:bodyPr wrap="square" lIns="0" tIns="0" rIns="0" bIns="0" rtlCol="0" anchor="ctr"/>
          <a:lstStyle/>
          <a:p>
            <a:pPr marL="0" indent="0">
              <a:lnSpc>
                <a:spcPct val="120000"/>
              </a:lnSpc>
              <a:buNone/>
            </a:pPr>
            <a:r>
              <a:rPr lang="en-US" sz="1250" dirty="0">
                <a:solidFill>
                  <a:srgbClr val="FFFFFF"/>
                </a:solidFill>
                <a:latin typeface="Calibri" pitchFamily="34" charset="0"/>
                <a:ea typeface="Calibri" pitchFamily="34" charset="-122"/>
                <a:cs typeface="Calibri" pitchFamily="34" charset="-120"/>
              </a:rPr>
              <a:t>Gửi Heartbeat (3s/lần) báo cáo trạng thái “còn sống” và danh sách block</a:t>
            </a:r>
            <a:endParaRPr lang="en-US" sz="1250" dirty="0"/>
          </a:p>
        </p:txBody>
      </p:sp>
      <p:sp>
        <p:nvSpPr>
          <p:cNvPr id="22" name="Text 20"/>
          <p:cNvSpPr txBox="1"/>
          <p:nvPr/>
        </p:nvSpPr>
        <p:spPr>
          <a:xfrm>
            <a:off x="548640" y="6473952"/>
            <a:ext cx="3657600" cy="274320"/>
          </a:xfrm>
          <a:prstGeom prst="rect">
            <a:avLst/>
          </a:prstGeom>
          <a:noFill/>
          <a:ln/>
        </p:spPr>
        <p:txBody>
          <a:bodyPr wrap="square" lIns="0" tIns="0" rIns="0" bIns="0" rtlCol="0" anchor="ctr"/>
          <a:lstStyle/>
          <a:p>
            <a:pPr marL="0" indent="0" algn="l">
              <a:buNone/>
            </a:pPr>
            <a:r>
              <a:rPr lang="en-US" sz="900" dirty="0">
                <a:solidFill>
                  <a:srgbClr val="6B7788"/>
                </a:solidFill>
                <a:latin typeface="Calibri" pitchFamily="34" charset="0"/>
                <a:ea typeface="Calibri" pitchFamily="34" charset="-122"/>
                <a:cs typeface="Calibri" pitchFamily="34" charset="-120"/>
              </a:rPr>
              <a:t>APACHE HDFS  ·  BIG DATA</a:t>
            </a:r>
            <a:endParaRPr lang="en-US" sz="900" dirty="0"/>
          </a:p>
        </p:txBody>
      </p:sp>
      <p:sp>
        <p:nvSpPr>
          <p:cNvPr id="23" name="Text 21"/>
          <p:cNvSpPr txBox="1"/>
          <p:nvPr/>
        </p:nvSpPr>
        <p:spPr>
          <a:xfrm>
            <a:off x="11228832" y="6473952"/>
            <a:ext cx="411480" cy="274320"/>
          </a:xfrm>
          <a:prstGeom prst="rect">
            <a:avLst/>
          </a:prstGeom>
          <a:noFill/>
          <a:ln/>
        </p:spPr>
        <p:txBody>
          <a:bodyPr wrap="square" lIns="0" tIns="0" rIns="0" bIns="0" rtlCol="0" anchor="ctr"/>
          <a:lstStyle/>
          <a:p>
            <a:pPr marL="0" indent="0" algn="r">
              <a:buNone/>
            </a:pPr>
            <a:r>
              <a:rPr lang="en-US" sz="900" dirty="0">
                <a:solidFill>
                  <a:srgbClr val="6B7788"/>
                </a:solidFill>
                <a:latin typeface="Calibri" pitchFamily="34" charset="0"/>
                <a:ea typeface="Calibri" pitchFamily="34" charset="-122"/>
                <a:cs typeface="Calibri" pitchFamily="34" charset="-120"/>
              </a:rPr>
              <a:t>06</a:t>
            </a:r>
            <a:endParaRPr lang="en-US" sz="900" dirty="0"/>
          </a:p>
        </p:txBody>
      </p:sp>
      <p:sp>
        <p:nvSpPr>
          <p:cNvPr id="24" name="Shape 22"/>
          <p:cNvSpPr/>
          <p:nvPr/>
        </p:nvSpPr>
        <p:spPr>
          <a:xfrm>
            <a:off x="10543032" y="6473952"/>
            <a:ext cx="146304" cy="146304"/>
          </a:xfrm>
          <a:prstGeom prst="roundRect">
            <a:avLst>
              <a:gd name="adj" fmla="val 18750"/>
            </a:avLst>
          </a:prstGeom>
          <a:solidFill>
            <a:srgbClr val="065A82"/>
          </a:solidFill>
          <a:ln/>
        </p:spPr>
      </p:sp>
      <p:sp>
        <p:nvSpPr>
          <p:cNvPr id="25" name="Shape 23"/>
          <p:cNvSpPr/>
          <p:nvPr/>
        </p:nvSpPr>
        <p:spPr>
          <a:xfrm>
            <a:off x="10744200" y="6473952"/>
            <a:ext cx="146304" cy="146304"/>
          </a:xfrm>
          <a:prstGeom prst="roundRect">
            <a:avLst>
              <a:gd name="adj" fmla="val 18750"/>
            </a:avLst>
          </a:prstGeom>
          <a:solidFill>
            <a:srgbClr val="1C7293"/>
          </a:solidFill>
          <a:ln/>
        </p:spPr>
      </p:sp>
      <p:sp>
        <p:nvSpPr>
          <p:cNvPr id="26" name="Shape 24"/>
          <p:cNvSpPr/>
          <p:nvPr/>
        </p:nvSpPr>
        <p:spPr>
          <a:xfrm>
            <a:off x="10945368" y="6473952"/>
            <a:ext cx="146304" cy="146304"/>
          </a:xfrm>
          <a:prstGeom prst="roundRect">
            <a:avLst>
              <a:gd name="adj" fmla="val 18750"/>
            </a:avLst>
          </a:prstGeom>
          <a:solidFill>
            <a:srgbClr val="21295C"/>
          </a:solid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MasterSlave">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292608"/>
          </a:xfrm>
          <a:prstGeom prst="rect">
            <a:avLst/>
          </a:prstGeom>
          <a:noFill/>
          <a:ln/>
        </p:spPr>
        <p:txBody>
          <a:bodyPr wrap="square" lIns="0" tIns="0" rIns="0" bIns="0" rtlCol="0" anchor="ctr"/>
          <a:lstStyle/>
          <a:p>
            <a:pPr marL="0" indent="0">
              <a:buNone/>
            </a:pPr>
            <a:r>
              <a:rPr lang="en-US" sz="1300" b="1" kern="0" spc="150" dirty="0">
                <a:solidFill>
                  <a:srgbClr val="1C7293"/>
                </a:solidFill>
                <a:latin typeface="Calibri" pitchFamily="34" charset="0"/>
                <a:ea typeface="Calibri" pitchFamily="34" charset="-122"/>
                <a:cs typeface="Calibri" pitchFamily="34" charset="-120"/>
              </a:rPr>
              <a:t>Kiến trúc</a:t>
            </a:r>
            <a:endParaRPr lang="en-US" sz="1300" dirty="0"/>
          </a:p>
        </p:txBody>
      </p:sp>
      <p:sp>
        <p:nvSpPr>
          <p:cNvPr id="3" name="Text 1"/>
          <p:cNvSpPr txBox="1"/>
          <p:nvPr/>
        </p:nvSpPr>
        <p:spPr>
          <a:xfrm>
            <a:off x="548640" y="658368"/>
            <a:ext cx="11091672" cy="822960"/>
          </a:xfrm>
          <a:prstGeom prst="rect">
            <a:avLst/>
          </a:prstGeom>
          <a:noFill/>
          <a:ln/>
        </p:spPr>
        <p:txBody>
          <a:bodyPr wrap="square" lIns="0" tIns="0" rIns="0" bIns="0" rtlCol="0" anchor="t"/>
          <a:lstStyle/>
          <a:p>
            <a:pPr marL="0" indent="0">
              <a:buNone/>
            </a:pPr>
            <a:r>
              <a:rPr lang="en-US" sz="2800" b="1" dirty="0">
                <a:solidFill>
                  <a:srgbClr val="21295C"/>
                </a:solidFill>
                <a:latin typeface="Times New Roman" pitchFamily="34" charset="0"/>
                <a:ea typeface="Times New Roman" pitchFamily="34" charset="-122"/>
                <a:cs typeface="Times New Roman" pitchFamily="34" charset="-120"/>
              </a:rPr>
              <a:t>Sơ Đồ Trực Quan — Kiến Trúc Master/Slave</a:t>
            </a:r>
            <a:endParaRPr lang="en-US" sz="2800" dirty="0"/>
          </a:p>
        </p:txBody>
      </p:sp>
      <p:sp>
        <p:nvSpPr>
          <p:cNvPr id="4" name="Text 2"/>
          <p:cNvSpPr txBox="1"/>
          <p:nvPr/>
        </p:nvSpPr>
        <p:spPr>
          <a:xfrm>
            <a:off x="548640" y="1691640"/>
            <a:ext cx="11091672" cy="822960"/>
          </a:xfrm>
          <a:prstGeom prst="rect">
            <a:avLst/>
          </a:prstGeom>
          <a:noFill/>
          <a:ln/>
        </p:spPr>
        <p:txBody>
          <a:bodyPr wrap="square" lIns="0" tIns="0" rIns="0" bIns="0" rtlCol="0" anchor="ctr"/>
          <a:lstStyle/>
          <a:p>
            <a:pPr marL="0" indent="0">
              <a:lnSpc>
                <a:spcPct val="120000"/>
              </a:lnSpc>
              <a:buNone/>
            </a:pPr>
            <a:r>
              <a:rPr lang="en-US" sz="1350" dirty="0">
                <a:solidFill>
                  <a:srgbClr val="6B7788"/>
                </a:solidFill>
                <a:latin typeface="Calibri" pitchFamily="34" charset="0"/>
                <a:ea typeface="Calibri" pitchFamily="34" charset="-122"/>
                <a:cs typeface="Calibri" pitchFamily="34" charset="-120"/>
              </a:rPr>
              <a:t>Toàn cảnh một cụm Hadoop: 1 Master Node điều phối nhiều Slave Node. Mỗi Slave vừa lưu trữ dữ liệu (DataNode) vừa tham gia tính toán (Node Manager, Map/Reduce) — đúng theo nguyên lý Data Locality.</a:t>
            </a:r>
            <a:endParaRPr lang="en-US" sz="1350" dirty="0"/>
          </a:p>
        </p:txBody>
      </p:sp>
      <p:sp>
        <p:nvSpPr>
          <p:cNvPr id="5" name="Text 3"/>
          <p:cNvSpPr txBox="1"/>
          <p:nvPr/>
        </p:nvSpPr>
        <p:spPr>
          <a:xfrm>
            <a:off x="548640" y="2697480"/>
            <a:ext cx="11091672" cy="274320"/>
          </a:xfrm>
          <a:prstGeom prst="rect">
            <a:avLst/>
          </a:prstGeom>
          <a:noFill/>
          <a:ln/>
        </p:spPr>
        <p:txBody>
          <a:bodyPr wrap="square" lIns="0" tIns="0" rIns="0" bIns="0" rtlCol="0" anchor="ctr"/>
          <a:lstStyle/>
          <a:p>
            <a:pPr marL="0" indent="0">
              <a:buNone/>
            </a:pPr>
            <a:r>
              <a:rPr lang="en-US" sz="1150" b="1" kern="0" spc="150" dirty="0">
                <a:solidFill>
                  <a:srgbClr val="1C7293"/>
                </a:solidFill>
                <a:latin typeface="Calibri" pitchFamily="34" charset="0"/>
                <a:ea typeface="Calibri" pitchFamily="34" charset="-122"/>
                <a:cs typeface="Calibri" pitchFamily="34" charset="-120"/>
              </a:rPr>
              <a:t>SƠ ĐỒ — MASTER NODE &amp; SLAVE NODE</a:t>
            </a:r>
            <a:endParaRPr lang="en-US" sz="1150" dirty="0"/>
          </a:p>
        </p:txBody>
      </p:sp>
      <p:sp>
        <p:nvSpPr>
          <p:cNvPr id="19" name="Shape 17"/>
          <p:cNvSpPr/>
          <p:nvPr/>
        </p:nvSpPr>
        <p:spPr>
          <a:xfrm>
            <a:off x="548640" y="6000000"/>
            <a:ext cx="11091672" cy="380000"/>
          </a:xfrm>
          <a:prstGeom prst="roundRect">
            <a:avLst>
              <a:gd name="adj" fmla="val 20000"/>
            </a:avLst>
          </a:prstGeom>
          <a:solidFill>
            <a:srgbClr val="EAF2F7"/>
          </a:solidFill>
          <a:ln/>
        </p:spPr>
      </p:sp>
      <p:sp>
        <p:nvSpPr>
          <p:cNvPr id="20" name="Text 18"/>
          <p:cNvSpPr txBox="1"/>
          <p:nvPr/>
        </p:nvSpPr>
        <p:spPr>
          <a:xfrm>
            <a:off x="868680" y="6052840"/>
            <a:ext cx="10451592" cy="274320"/>
          </a:xfrm>
          <a:prstGeom prst="rect">
            <a:avLst/>
          </a:prstGeom>
          <a:noFill/>
          <a:ln/>
        </p:spPr>
        <p:txBody>
          <a:bodyPr wrap="square" lIns="0" tIns="0" rIns="0" bIns="0" rtlCol="0" anchor="ctr"/>
          <a:lstStyle/>
          <a:p>
            <a:pPr marL="0" indent="0" algn="ctr">
              <a:buNone/>
            </a:pPr>
            <a:r>
              <a:rPr lang="en-US" sz="1200" i="1" dirty="0">
                <a:solidFill>
                  <a:srgbClr val="21295C"/>
                </a:solidFill>
                <a:latin typeface="Calibri" pitchFamily="34" charset="0"/>
                <a:ea typeface="Calibri" pitchFamily="34" charset="-122"/>
                <a:cs typeface="Calibri" pitchFamily="34" charset="-120"/>
              </a:rPr>
              <a:t>NameNode (Master) quản lý Namespace &amp; vị trí block  →  DataNode (Slave) lưu dữ liệu thô  →  Node Manager/Map-Reduce xử lý tính toán ngay tại đó</a:t>
            </a:r>
            <a:endParaRPr lang="en-US" sz="1200" dirty="0"/>
          </a:p>
        </p:txBody>
      </p:sp>
      <p:sp>
        <p:nvSpPr>
          <p:cNvPr id="22" name="Text 20"/>
          <p:cNvSpPr txBox="1"/>
          <p:nvPr/>
        </p:nvSpPr>
        <p:spPr>
          <a:xfrm>
            <a:off x="548640" y="6473952"/>
            <a:ext cx="3657600" cy="274320"/>
          </a:xfrm>
          <a:prstGeom prst="rect">
            <a:avLst/>
          </a:prstGeom>
          <a:noFill/>
          <a:ln/>
        </p:spPr>
        <p:txBody>
          <a:bodyPr wrap="square" lIns="0" tIns="0" rIns="0" bIns="0" rtlCol="0" anchor="ctr"/>
          <a:lstStyle/>
          <a:p>
            <a:pPr marL="0" indent="0" algn="l">
              <a:buNone/>
            </a:pPr>
            <a:r>
              <a:rPr lang="en-US" sz="900" dirty="0">
                <a:solidFill>
                  <a:srgbClr val="6B7788"/>
                </a:solidFill>
                <a:latin typeface="Calibri" pitchFamily="34" charset="0"/>
                <a:ea typeface="Calibri" pitchFamily="34" charset="-122"/>
                <a:cs typeface="Calibri" pitchFamily="34" charset="-120"/>
              </a:rPr>
              <a:t>APACHE HDFS  ·  BIG DATA</a:t>
            </a:r>
            <a:endParaRPr lang="en-US" sz="900" dirty="0"/>
          </a:p>
        </p:txBody>
      </p:sp>
      <p:sp>
        <p:nvSpPr>
          <p:cNvPr id="23" name="Text 21"/>
          <p:cNvSpPr txBox="1"/>
          <p:nvPr/>
        </p:nvSpPr>
        <p:spPr>
          <a:xfrm>
            <a:off x="11228832" y="6473952"/>
            <a:ext cx="411480" cy="274320"/>
          </a:xfrm>
          <a:prstGeom prst="rect">
            <a:avLst/>
          </a:prstGeom>
          <a:noFill/>
          <a:ln/>
        </p:spPr>
        <p:txBody>
          <a:bodyPr wrap="square" lIns="0" tIns="0" rIns="0" bIns="0" rtlCol="0" anchor="ctr"/>
          <a:lstStyle/>
          <a:p>
            <a:pPr marL="0" indent="0" algn="r">
              <a:buNone/>
            </a:pPr>
            <a:r>
              <a:rPr lang="en-US" sz="900" dirty="0">
                <a:solidFill>
                  <a:srgbClr val="6B7788"/>
                </a:solidFill>
                <a:latin typeface="Calibri" pitchFamily="34" charset="0"/>
                <a:ea typeface="Calibri" pitchFamily="34" charset="-122"/>
                <a:cs typeface="Calibri" pitchFamily="34" charset="-120"/>
              </a:rPr>
              <a:t>07</a:t>
            </a:r>
            <a:endParaRPr lang="en-US" sz="900" dirty="0"/>
          </a:p>
        </p:txBody>
      </p:sp>
      <p:sp>
        <p:nvSpPr>
          <p:cNvPr id="24" name="Shape 22"/>
          <p:cNvSpPr/>
          <p:nvPr/>
        </p:nvSpPr>
        <p:spPr>
          <a:xfrm>
            <a:off x="10543032" y="6473952"/>
            <a:ext cx="146304" cy="146304"/>
          </a:xfrm>
          <a:prstGeom prst="roundRect">
            <a:avLst>
              <a:gd name="adj" fmla="val 18750"/>
            </a:avLst>
          </a:prstGeom>
          <a:solidFill>
            <a:srgbClr val="065A82"/>
          </a:solidFill>
          <a:ln/>
        </p:spPr>
      </p:sp>
      <p:sp>
        <p:nvSpPr>
          <p:cNvPr id="25" name="Shape 23"/>
          <p:cNvSpPr/>
          <p:nvPr/>
        </p:nvSpPr>
        <p:spPr>
          <a:xfrm>
            <a:off x="10744200" y="6473952"/>
            <a:ext cx="146304" cy="146304"/>
          </a:xfrm>
          <a:prstGeom prst="roundRect">
            <a:avLst>
              <a:gd name="adj" fmla="val 18750"/>
            </a:avLst>
          </a:prstGeom>
          <a:solidFill>
            <a:srgbClr val="1C7293"/>
          </a:solidFill>
          <a:ln/>
        </p:spPr>
      </p:sp>
      <p:sp>
        <p:nvSpPr>
          <p:cNvPr id="26" name="Shape 24"/>
          <p:cNvSpPr/>
          <p:nvPr/>
        </p:nvSpPr>
        <p:spPr>
          <a:xfrm>
            <a:off x="10945368" y="6473952"/>
            <a:ext cx="146304" cy="146304"/>
          </a:xfrm>
          <a:prstGeom prst="roundRect">
            <a:avLst>
              <a:gd name="adj" fmla="val 18750"/>
            </a:avLst>
          </a:prstGeom>
          <a:solidFill>
            <a:srgbClr val="21295C"/>
          </a:solidFill>
          <a:ln/>
        </p:spPr>
      </p:sp>
      <p:pic>
        <p:nvPicPr>
          <p:cNvPr id="27" name="Master Slave Diagram"/>
          <p:cNvPicPr>
            <a:picLocks noChangeAspect="1"/>
          </p:cNvPicPr>
          <p:nvPr/>
        </p:nvPicPr>
        <p:blipFill>
          <a:blip r:embed="rId2"/>
          <a:stretch>
            <a:fillRect/>
          </a:stretch>
        </p:blipFill>
        <p:spPr>
          <a:xfrm>
            <a:off x="3241868" y="3050000"/>
            <a:ext cx="5708265" cy="2850000"/>
          </a:xfrm>
          <a:prstGeom prst="rect">
            <a:avLst/>
          </a:prstGeom>
          <a:ln w="9525">
            <a:solidFill>
              <a:srgbClr val="D9D9D9"/>
            </a:solid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292608"/>
          </a:xfrm>
          <a:prstGeom prst="rect">
            <a:avLst/>
          </a:prstGeom>
          <a:noFill/>
          <a:ln/>
        </p:spPr>
        <p:txBody>
          <a:bodyPr wrap="square" lIns="0" tIns="0" rIns="0" bIns="0" rtlCol="0" anchor="ctr"/>
          <a:lstStyle/>
          <a:p>
            <a:pPr marL="0" indent="0">
              <a:buNone/>
            </a:pPr>
            <a:r>
              <a:rPr lang="en-US" sz="1300" b="1" kern="0" spc="150" dirty="0">
                <a:solidFill>
                  <a:srgbClr val="1C7293"/>
                </a:solidFill>
                <a:latin typeface="Calibri" pitchFamily="34" charset="0"/>
                <a:ea typeface="Calibri" pitchFamily="34" charset="-122"/>
                <a:cs typeface="Calibri" pitchFamily="34" charset="-120"/>
              </a:rPr>
              <a:t>Kiến trúc</a:t>
            </a:r>
            <a:endParaRPr lang="en-US" sz="1300" dirty="0"/>
          </a:p>
        </p:txBody>
      </p:sp>
      <p:sp>
        <p:nvSpPr>
          <p:cNvPr id="3" name="Text 1"/>
          <p:cNvSpPr txBox="1"/>
          <p:nvPr/>
        </p:nvSpPr>
        <p:spPr>
          <a:xfrm>
            <a:off x="548640" y="658368"/>
            <a:ext cx="11091672" cy="822960"/>
          </a:xfrm>
          <a:prstGeom prst="rect">
            <a:avLst/>
          </a:prstGeom>
          <a:noFill/>
          <a:ln/>
        </p:spPr>
        <p:txBody>
          <a:bodyPr wrap="square" lIns="0" tIns="0" rIns="0" bIns="0" rtlCol="0" anchor="t"/>
          <a:lstStyle/>
          <a:p>
            <a:pPr marL="0" indent="0">
              <a:buNone/>
            </a:pPr>
            <a:r>
              <a:rPr lang="en-US" sz="2800" b="1" dirty="0">
                <a:solidFill>
                  <a:srgbClr val="21295C"/>
                </a:solidFill>
                <a:latin typeface="Times New Roman" pitchFamily="34" charset="0"/>
                <a:ea typeface="Times New Roman" pitchFamily="34" charset="-122"/>
                <a:cs typeface="Times New Roman" pitchFamily="34" charset="-120"/>
              </a:rPr>
              <a:t>Bộ Não NameNode &amp; Siêu Dữ Liệu (Metadata)</a:t>
            </a:r>
            <a:endParaRPr lang="en-US" sz="2800" dirty="0"/>
          </a:p>
        </p:txBody>
      </p:sp>
      <p:sp>
        <p:nvSpPr>
          <p:cNvPr id="4" name="Text 2"/>
          <p:cNvSpPr txBox="1"/>
          <p:nvPr/>
        </p:nvSpPr>
        <p:spPr>
          <a:xfrm>
            <a:off x="548640" y="1691640"/>
            <a:ext cx="11091672" cy="457200"/>
          </a:xfrm>
          <a:prstGeom prst="rect">
            <a:avLst/>
          </a:prstGeom>
          <a:noFill/>
          <a:ln/>
        </p:spPr>
        <p:txBody>
          <a:bodyPr wrap="square" lIns="0" tIns="0" rIns="0" bIns="0" rtlCol="0" anchor="ctr"/>
          <a:lstStyle/>
          <a:p>
            <a:pPr marL="0" indent="0">
              <a:buNone/>
            </a:pPr>
            <a:r>
              <a:rPr lang="en-US" sz="1350" dirty="0">
                <a:solidFill>
                  <a:srgbClr val="6B7788"/>
                </a:solidFill>
                <a:latin typeface="Calibri" pitchFamily="34" charset="0"/>
                <a:ea typeface="Calibri" pitchFamily="34" charset="-122"/>
                <a:cs typeface="Calibri" pitchFamily="34" charset="-120"/>
              </a:rPr>
              <a:t>Metadata gồm: cây thư mục, quyền hạn người dùng, danh sách block ID và danh sách DataNode tương ứng.</a:t>
            </a:r>
            <a:endParaRPr lang="en-US" sz="1350" dirty="0"/>
          </a:p>
        </p:txBody>
      </p:sp>
      <p:sp>
        <p:nvSpPr>
          <p:cNvPr id="5" name="Shape 3"/>
          <p:cNvSpPr/>
          <p:nvPr/>
        </p:nvSpPr>
        <p:spPr>
          <a:xfrm>
            <a:off x="548640" y="2331720"/>
            <a:ext cx="5362956" cy="1600200"/>
          </a:xfrm>
          <a:prstGeom prst="roundRect">
            <a:avLst>
              <a:gd name="adj" fmla="val 5714"/>
            </a:avLst>
          </a:prstGeom>
          <a:solidFill>
            <a:srgbClr val="EAF2F7"/>
          </a:solidFill>
          <a:ln/>
        </p:spPr>
      </p:sp>
      <p:sp>
        <p:nvSpPr>
          <p:cNvPr id="6" name="Shape 4"/>
          <p:cNvSpPr/>
          <p:nvPr/>
        </p:nvSpPr>
        <p:spPr>
          <a:xfrm>
            <a:off x="822960" y="2560320"/>
            <a:ext cx="502920" cy="502920"/>
          </a:xfrm>
          <a:prstGeom prst="ellipse">
            <a:avLst/>
          </a:prstGeom>
          <a:solidFill>
            <a:srgbClr val="1C7293"/>
          </a:solidFill>
          <a:ln/>
        </p:spPr>
      </p:sp>
      <p:sp>
        <p:nvSpPr>
          <p:cNvPr id="7" name="Text 5"/>
          <p:cNvSpPr txBox="1"/>
          <p:nvPr/>
        </p:nvSpPr>
        <p:spPr>
          <a:xfrm>
            <a:off x="822960" y="2560320"/>
            <a:ext cx="502920" cy="502920"/>
          </a:xfrm>
          <a:prstGeom prst="rect">
            <a:avLst/>
          </a:prstGeom>
          <a:noFill/>
          <a:ln/>
        </p:spPr>
        <p:txBody>
          <a:bodyPr wrap="square" lIns="0" tIns="0" rIns="0" bIns="0" rtlCol="0" anchor="ctr"/>
          <a:lstStyle/>
          <a:p>
            <a:pPr marL="0" indent="0" algn="ctr">
              <a:buNone/>
            </a:pPr>
            <a:r>
              <a:rPr lang="en-US" sz="1650" b="1" dirty="0">
                <a:solidFill>
                  <a:srgbClr val="FFFFFF"/>
                </a:solidFill>
                <a:latin typeface="Calibri" pitchFamily="34" charset="0"/>
                <a:ea typeface="Calibri" pitchFamily="34" charset="-122"/>
                <a:cs typeface="Calibri" pitchFamily="34" charset="-120"/>
              </a:rPr>
              <a:t>F</a:t>
            </a:r>
            <a:endParaRPr lang="en-US" sz="1650" dirty="0"/>
          </a:p>
        </p:txBody>
      </p:sp>
      <p:sp>
        <p:nvSpPr>
          <p:cNvPr id="8" name="Text 6"/>
          <p:cNvSpPr txBox="1"/>
          <p:nvPr/>
        </p:nvSpPr>
        <p:spPr>
          <a:xfrm>
            <a:off x="1508760" y="2606040"/>
            <a:ext cx="4174236" cy="365760"/>
          </a:xfrm>
          <a:prstGeom prst="rect">
            <a:avLst/>
          </a:prstGeom>
          <a:noFill/>
          <a:ln/>
        </p:spPr>
        <p:txBody>
          <a:bodyPr wrap="square" lIns="0" tIns="0" rIns="0" bIns="0"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FSImage</a:t>
            </a:r>
            <a:endParaRPr lang="en-US" sz="1600" dirty="0"/>
          </a:p>
        </p:txBody>
      </p:sp>
      <p:sp>
        <p:nvSpPr>
          <p:cNvPr id="9" name="Text 7"/>
          <p:cNvSpPr txBox="1"/>
          <p:nvPr/>
        </p:nvSpPr>
        <p:spPr>
          <a:xfrm>
            <a:off x="822960" y="3246120"/>
            <a:ext cx="4814316" cy="594360"/>
          </a:xfrm>
          <a:prstGeom prst="rect">
            <a:avLst/>
          </a:prstGeom>
          <a:noFill/>
          <a:ln/>
        </p:spPr>
        <p:txBody>
          <a:bodyPr wrap="square" lIns="0" tIns="0" rIns="0" bIns="0" rtlCol="0" anchor="ctr"/>
          <a:lstStyle/>
          <a:p>
            <a:pPr marL="0" indent="0">
              <a:lnSpc>
                <a:spcPct val="120000"/>
              </a:lnSpc>
              <a:buNone/>
            </a:pPr>
            <a:r>
              <a:rPr lang="en-US" sz="1200" dirty="0">
                <a:solidFill>
                  <a:srgbClr val="6B7788"/>
                </a:solidFill>
                <a:latin typeface="Calibri" pitchFamily="34" charset="0"/>
                <a:ea typeface="Calibri" pitchFamily="34" charset="-122"/>
                <a:cs typeface="Calibri" pitchFamily="34" charset="-120"/>
              </a:rPr>
              <a:t>Bản chụp nhanh (snapshot) toàn bộ trạng thái hệ thống tệp.</a:t>
            </a:r>
            <a:endParaRPr lang="en-US" sz="1200" dirty="0"/>
          </a:p>
        </p:txBody>
      </p:sp>
      <p:sp>
        <p:nvSpPr>
          <p:cNvPr id="10" name="Shape 8"/>
          <p:cNvSpPr/>
          <p:nvPr/>
        </p:nvSpPr>
        <p:spPr>
          <a:xfrm>
            <a:off x="6277356" y="2331720"/>
            <a:ext cx="5362956" cy="1600200"/>
          </a:xfrm>
          <a:prstGeom prst="roundRect">
            <a:avLst>
              <a:gd name="adj" fmla="val 5714"/>
            </a:avLst>
          </a:prstGeom>
          <a:solidFill>
            <a:srgbClr val="EAF2F7"/>
          </a:solidFill>
          <a:ln/>
        </p:spPr>
      </p:sp>
      <p:sp>
        <p:nvSpPr>
          <p:cNvPr id="11" name="Shape 9"/>
          <p:cNvSpPr/>
          <p:nvPr/>
        </p:nvSpPr>
        <p:spPr>
          <a:xfrm>
            <a:off x="6551676" y="2560320"/>
            <a:ext cx="502920" cy="502920"/>
          </a:xfrm>
          <a:prstGeom prst="ellipse">
            <a:avLst/>
          </a:prstGeom>
          <a:solidFill>
            <a:srgbClr val="1C7293"/>
          </a:solidFill>
          <a:ln/>
        </p:spPr>
      </p:sp>
      <p:sp>
        <p:nvSpPr>
          <p:cNvPr id="12" name="Text 10"/>
          <p:cNvSpPr txBox="1"/>
          <p:nvPr/>
        </p:nvSpPr>
        <p:spPr>
          <a:xfrm>
            <a:off x="6551676" y="2560320"/>
            <a:ext cx="502920" cy="502920"/>
          </a:xfrm>
          <a:prstGeom prst="rect">
            <a:avLst/>
          </a:prstGeom>
          <a:noFill/>
          <a:ln/>
        </p:spPr>
        <p:txBody>
          <a:bodyPr wrap="square" lIns="0" tIns="0" rIns="0" bIns="0" rtlCol="0" anchor="ctr"/>
          <a:lstStyle/>
          <a:p>
            <a:pPr marL="0" indent="0" algn="ctr">
              <a:buNone/>
            </a:pPr>
            <a:r>
              <a:rPr lang="en-US" sz="1650" b="1" dirty="0">
                <a:solidFill>
                  <a:srgbClr val="FFFFFF"/>
                </a:solidFill>
                <a:latin typeface="Calibri" pitchFamily="34" charset="0"/>
                <a:ea typeface="Calibri" pitchFamily="34" charset="-122"/>
                <a:cs typeface="Calibri" pitchFamily="34" charset="-120"/>
              </a:rPr>
              <a:t>E</a:t>
            </a:r>
            <a:endParaRPr lang="en-US" sz="1650" dirty="0"/>
          </a:p>
        </p:txBody>
      </p:sp>
      <p:sp>
        <p:nvSpPr>
          <p:cNvPr id="13" name="Text 11"/>
          <p:cNvSpPr txBox="1"/>
          <p:nvPr/>
        </p:nvSpPr>
        <p:spPr>
          <a:xfrm>
            <a:off x="7237476" y="2606040"/>
            <a:ext cx="4174236" cy="365760"/>
          </a:xfrm>
          <a:prstGeom prst="rect">
            <a:avLst/>
          </a:prstGeom>
          <a:noFill/>
          <a:ln/>
        </p:spPr>
        <p:txBody>
          <a:bodyPr wrap="square" lIns="0" tIns="0" rIns="0" bIns="0"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EditLog</a:t>
            </a:r>
            <a:endParaRPr lang="en-US" sz="1600" dirty="0"/>
          </a:p>
        </p:txBody>
      </p:sp>
      <p:sp>
        <p:nvSpPr>
          <p:cNvPr id="14" name="Text 12"/>
          <p:cNvSpPr txBox="1"/>
          <p:nvPr/>
        </p:nvSpPr>
        <p:spPr>
          <a:xfrm>
            <a:off x="6551676" y="3246120"/>
            <a:ext cx="4814316" cy="594360"/>
          </a:xfrm>
          <a:prstGeom prst="rect">
            <a:avLst/>
          </a:prstGeom>
          <a:noFill/>
          <a:ln/>
        </p:spPr>
        <p:txBody>
          <a:bodyPr wrap="square" lIns="0" tIns="0" rIns="0" bIns="0" rtlCol="0" anchor="ctr"/>
          <a:lstStyle/>
          <a:p>
            <a:pPr marL="0" indent="0">
              <a:lnSpc>
                <a:spcPct val="120000"/>
              </a:lnSpc>
              <a:buNone/>
            </a:pPr>
            <a:r>
              <a:rPr lang="en-US" sz="1200" dirty="0">
                <a:solidFill>
                  <a:srgbClr val="6B7788"/>
                </a:solidFill>
                <a:latin typeface="Calibri" pitchFamily="34" charset="0"/>
                <a:ea typeface="Calibri" pitchFamily="34" charset="-122"/>
                <a:cs typeface="Calibri" pitchFamily="34" charset="-120"/>
              </a:rPr>
              <a:t>Nhật ký ghi lại mọi thay đổi tức thời phát sinh (tạo, xoá, đổi tên).</a:t>
            </a:r>
            <a:endParaRPr lang="en-US" sz="1200" dirty="0"/>
          </a:p>
        </p:txBody>
      </p:sp>
      <p:sp>
        <p:nvSpPr>
          <p:cNvPr id="15" name="Shape 13"/>
          <p:cNvSpPr/>
          <p:nvPr/>
        </p:nvSpPr>
        <p:spPr>
          <a:xfrm>
            <a:off x="548640" y="4206240"/>
            <a:ext cx="11091672" cy="1737360"/>
          </a:xfrm>
          <a:prstGeom prst="roundRect">
            <a:avLst>
              <a:gd name="adj" fmla="val 6316"/>
            </a:avLst>
          </a:prstGeom>
          <a:solidFill>
            <a:srgbClr val="21295C"/>
          </a:solidFill>
          <a:ln/>
        </p:spPr>
      </p:sp>
      <p:sp>
        <p:nvSpPr>
          <p:cNvPr id="16" name="Text 14"/>
          <p:cNvSpPr txBox="1"/>
          <p:nvPr/>
        </p:nvSpPr>
        <p:spPr>
          <a:xfrm>
            <a:off x="914400" y="4434840"/>
            <a:ext cx="4572000" cy="274320"/>
          </a:xfrm>
          <a:prstGeom prst="rect">
            <a:avLst/>
          </a:prstGeom>
          <a:noFill/>
          <a:ln/>
        </p:spPr>
        <p:txBody>
          <a:bodyPr wrap="square" lIns="0" tIns="0" rIns="0" bIns="0" rtlCol="0" anchor="ctr"/>
          <a:lstStyle/>
          <a:p>
            <a:pPr marL="0" indent="0">
              <a:buNone/>
            </a:pPr>
            <a:r>
              <a:rPr lang="en-US" sz="1100" b="1" kern="0" spc="200" dirty="0">
                <a:solidFill>
                  <a:srgbClr val="AEC6D6"/>
                </a:solidFill>
                <a:latin typeface="Calibri" pitchFamily="34" charset="0"/>
                <a:ea typeface="Calibri" pitchFamily="34" charset="-122"/>
                <a:cs typeface="Calibri" pitchFamily="34" charset="-120"/>
              </a:rPr>
              <a:t>YÊU CẦU RAM</a:t>
            </a:r>
            <a:endParaRPr lang="en-US" sz="1100" dirty="0"/>
          </a:p>
        </p:txBody>
      </p:sp>
      <p:sp>
        <p:nvSpPr>
          <p:cNvPr id="17" name="Text 15"/>
          <p:cNvSpPr txBox="1"/>
          <p:nvPr/>
        </p:nvSpPr>
        <p:spPr>
          <a:xfrm>
            <a:off x="914400" y="4754880"/>
            <a:ext cx="6336792" cy="822960"/>
          </a:xfrm>
          <a:prstGeom prst="rect">
            <a:avLst/>
          </a:prstGeom>
          <a:noFill/>
          <a:ln/>
        </p:spPr>
        <p:txBody>
          <a:bodyPr wrap="square" lIns="0" tIns="0" rIns="0" bIns="0" rtlCol="0" anchor="ctr"/>
          <a:lstStyle/>
          <a:p>
            <a:pPr marL="0" indent="0">
              <a:lnSpc>
                <a:spcPct val="125000"/>
              </a:lnSpc>
              <a:buNone/>
            </a:pPr>
            <a:r>
              <a:rPr lang="en-US" sz="1500" dirty="0">
                <a:solidFill>
                  <a:srgbClr val="FFFFFF"/>
                </a:solidFill>
                <a:latin typeface="Calibri" pitchFamily="34" charset="0"/>
                <a:ea typeface="Calibri" pitchFamily="34" charset="-122"/>
                <a:cs typeface="Calibri" pitchFamily="34" charset="-120"/>
              </a:rPr>
              <a:t>Toàn bộ metadata được nạp vào RAM để tra cứu tức thì.</a:t>
            </a:r>
            <a:endParaRPr lang="en-US" sz="1500" dirty="0"/>
          </a:p>
        </p:txBody>
      </p:sp>
      <p:sp>
        <p:nvSpPr>
          <p:cNvPr id="18" name="Text 16"/>
          <p:cNvSpPr txBox="1"/>
          <p:nvPr/>
        </p:nvSpPr>
        <p:spPr>
          <a:xfrm>
            <a:off x="7251192" y="4526280"/>
            <a:ext cx="3840480" cy="777240"/>
          </a:xfrm>
          <a:prstGeom prst="rect">
            <a:avLst/>
          </a:prstGeom>
          <a:noFill/>
          <a:ln/>
        </p:spPr>
        <p:txBody>
          <a:bodyPr wrap="square" lIns="0" tIns="0" rIns="0" bIns="0" rtlCol="0" anchor="ctr"/>
          <a:lstStyle/>
          <a:p>
            <a:pPr marL="0" indent="0" algn="r">
              <a:buNone/>
            </a:pPr>
            <a:r>
              <a:rPr lang="en-US" sz="3800" b="1" dirty="0">
                <a:solidFill>
                  <a:srgbClr val="5FD0C6"/>
                </a:solidFill>
                <a:latin typeface="Times New Roman" pitchFamily="34" charset="0"/>
                <a:ea typeface="Times New Roman" pitchFamily="34" charset="-122"/>
                <a:cs typeface="Times New Roman" pitchFamily="34" charset="-120"/>
              </a:rPr>
              <a:t>~150 bytes</a:t>
            </a:r>
            <a:endParaRPr lang="en-US" sz="3800" dirty="0"/>
          </a:p>
        </p:txBody>
      </p:sp>
      <p:sp>
        <p:nvSpPr>
          <p:cNvPr id="19" name="Text 17"/>
          <p:cNvSpPr txBox="1"/>
          <p:nvPr/>
        </p:nvSpPr>
        <p:spPr>
          <a:xfrm>
            <a:off x="7251192" y="5257800"/>
            <a:ext cx="3840480" cy="365760"/>
          </a:xfrm>
          <a:prstGeom prst="rect">
            <a:avLst/>
          </a:prstGeom>
          <a:noFill/>
          <a:ln/>
        </p:spPr>
        <p:txBody>
          <a:bodyPr wrap="square" lIns="0" tIns="0" rIns="0" bIns="0" rtlCol="0" anchor="ctr"/>
          <a:lstStyle/>
          <a:p>
            <a:pPr marL="0" indent="0" algn="r">
              <a:buNone/>
            </a:pPr>
            <a:r>
              <a:rPr lang="en-US" sz="1200" dirty="0">
                <a:solidFill>
                  <a:srgbClr val="AEC6D6"/>
                </a:solidFill>
                <a:latin typeface="Calibri" pitchFamily="34" charset="0"/>
                <a:ea typeface="Calibri" pitchFamily="34" charset="-122"/>
                <a:cs typeface="Calibri" pitchFamily="34" charset="-120"/>
              </a:rPr>
              <a:t>RAM tiêu tốn / 1 block metadata</a:t>
            </a:r>
            <a:endParaRPr lang="en-US" sz="1200" dirty="0"/>
          </a:p>
        </p:txBody>
      </p:sp>
      <p:sp>
        <p:nvSpPr>
          <p:cNvPr id="20" name="Text 18"/>
          <p:cNvSpPr txBox="1"/>
          <p:nvPr/>
        </p:nvSpPr>
        <p:spPr>
          <a:xfrm>
            <a:off x="548640" y="6473952"/>
            <a:ext cx="3657600" cy="274320"/>
          </a:xfrm>
          <a:prstGeom prst="rect">
            <a:avLst/>
          </a:prstGeom>
          <a:noFill/>
          <a:ln/>
        </p:spPr>
        <p:txBody>
          <a:bodyPr wrap="square" lIns="0" tIns="0" rIns="0" bIns="0" rtlCol="0" anchor="ctr"/>
          <a:lstStyle/>
          <a:p>
            <a:pPr marL="0" indent="0" algn="l">
              <a:buNone/>
            </a:pPr>
            <a:r>
              <a:rPr lang="en-US" sz="900" dirty="0">
                <a:solidFill>
                  <a:srgbClr val="6B7788"/>
                </a:solidFill>
                <a:latin typeface="Calibri" pitchFamily="34" charset="0"/>
                <a:ea typeface="Calibri" pitchFamily="34" charset="-122"/>
                <a:cs typeface="Calibri" pitchFamily="34" charset="-120"/>
              </a:rPr>
              <a:t>APACHE HDFS  ·  BIG DATA</a:t>
            </a:r>
            <a:endParaRPr lang="en-US" sz="900" dirty="0"/>
          </a:p>
        </p:txBody>
      </p:sp>
      <p:sp>
        <p:nvSpPr>
          <p:cNvPr id="21" name="Text 19"/>
          <p:cNvSpPr txBox="1"/>
          <p:nvPr/>
        </p:nvSpPr>
        <p:spPr>
          <a:xfrm>
            <a:off x="11228832" y="6473952"/>
            <a:ext cx="411480" cy="274320"/>
          </a:xfrm>
          <a:prstGeom prst="rect">
            <a:avLst/>
          </a:prstGeom>
          <a:noFill/>
          <a:ln/>
        </p:spPr>
        <p:txBody>
          <a:bodyPr wrap="square" lIns="0" tIns="0" rIns="0" bIns="0" rtlCol="0" anchor="ctr"/>
          <a:lstStyle/>
          <a:p>
            <a:pPr marL="0" indent="0" algn="r">
              <a:buNone/>
            </a:pPr>
            <a:r>
              <a:rPr lang="en-US" sz="900" dirty="0">
                <a:solidFill>
                  <a:srgbClr val="6B7788"/>
                </a:solidFill>
                <a:latin typeface="Calibri" pitchFamily="34" charset="0"/>
                <a:ea typeface="Calibri" pitchFamily="34" charset="-122"/>
                <a:cs typeface="Calibri" pitchFamily="34" charset="-120"/>
              </a:rPr>
              <a:t>08</a:t>
            </a:r>
            <a:endParaRPr lang="en-US" sz="900" dirty="0"/>
          </a:p>
        </p:txBody>
      </p:sp>
      <p:sp>
        <p:nvSpPr>
          <p:cNvPr id="22" name="Shape 20"/>
          <p:cNvSpPr/>
          <p:nvPr/>
        </p:nvSpPr>
        <p:spPr>
          <a:xfrm>
            <a:off x="10543032" y="6473952"/>
            <a:ext cx="146304" cy="146304"/>
          </a:xfrm>
          <a:prstGeom prst="roundRect">
            <a:avLst>
              <a:gd name="adj" fmla="val 18750"/>
            </a:avLst>
          </a:prstGeom>
          <a:solidFill>
            <a:srgbClr val="065A82"/>
          </a:solidFill>
          <a:ln/>
        </p:spPr>
      </p:sp>
      <p:sp>
        <p:nvSpPr>
          <p:cNvPr id="23" name="Shape 21"/>
          <p:cNvSpPr/>
          <p:nvPr/>
        </p:nvSpPr>
        <p:spPr>
          <a:xfrm>
            <a:off x="10744200" y="6473952"/>
            <a:ext cx="146304" cy="146304"/>
          </a:xfrm>
          <a:prstGeom prst="roundRect">
            <a:avLst>
              <a:gd name="adj" fmla="val 18750"/>
            </a:avLst>
          </a:prstGeom>
          <a:solidFill>
            <a:srgbClr val="1C7293"/>
          </a:solidFill>
          <a:ln/>
        </p:spPr>
      </p:sp>
      <p:sp>
        <p:nvSpPr>
          <p:cNvPr id="24" name="Shape 22"/>
          <p:cNvSpPr/>
          <p:nvPr/>
        </p:nvSpPr>
        <p:spPr>
          <a:xfrm>
            <a:off x="10945368" y="6473952"/>
            <a:ext cx="146304" cy="146304"/>
          </a:xfrm>
          <a:prstGeom prst="roundRect">
            <a:avLst>
              <a:gd name="adj" fmla="val 18750"/>
            </a:avLst>
          </a:prstGeom>
          <a:solidFill>
            <a:srgbClr val="21295C"/>
          </a:solid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292608"/>
          </a:xfrm>
          <a:prstGeom prst="rect">
            <a:avLst/>
          </a:prstGeom>
          <a:noFill/>
          <a:ln/>
        </p:spPr>
        <p:txBody>
          <a:bodyPr wrap="square" lIns="0" tIns="0" rIns="0" bIns="0" rtlCol="0" anchor="ctr"/>
          <a:lstStyle/>
          <a:p>
            <a:pPr marL="0" indent="0">
              <a:buNone/>
            </a:pPr>
            <a:r>
              <a:rPr lang="en-US" sz="1300" b="1" kern="0" spc="150" dirty="0">
                <a:solidFill>
                  <a:srgbClr val="1C7293"/>
                </a:solidFill>
                <a:latin typeface="Calibri" pitchFamily="34" charset="0"/>
                <a:ea typeface="Calibri" pitchFamily="34" charset="-122"/>
                <a:cs typeface="Calibri" pitchFamily="34" charset="-120"/>
              </a:rPr>
              <a:t>Nguyên lý vận hành</a:t>
            </a:r>
            <a:endParaRPr lang="en-US" sz="1300" dirty="0"/>
          </a:p>
        </p:txBody>
      </p:sp>
      <p:sp>
        <p:nvSpPr>
          <p:cNvPr id="3" name="Text 1"/>
          <p:cNvSpPr txBox="1"/>
          <p:nvPr/>
        </p:nvSpPr>
        <p:spPr>
          <a:xfrm>
            <a:off x="548640" y="658368"/>
            <a:ext cx="11091672" cy="822960"/>
          </a:xfrm>
          <a:prstGeom prst="rect">
            <a:avLst/>
          </a:prstGeom>
          <a:noFill/>
          <a:ln/>
        </p:spPr>
        <p:txBody>
          <a:bodyPr wrap="square" lIns="0" tIns="0" rIns="0" bIns="0" rtlCol="0" anchor="t"/>
          <a:lstStyle/>
          <a:p>
            <a:pPr marL="0" indent="0">
              <a:buNone/>
            </a:pPr>
            <a:r>
              <a:rPr lang="en-US" sz="2800" b="1" dirty="0">
                <a:solidFill>
                  <a:srgbClr val="21295C"/>
                </a:solidFill>
                <a:latin typeface="Times New Roman" pitchFamily="34" charset="0"/>
                <a:ea typeface="Times New Roman" pitchFamily="34" charset="-122"/>
                <a:cs typeface="Times New Roman" pitchFamily="34" charset="-120"/>
              </a:rPr>
              <a:t>Nguyên Lý “Data Locality” (Chuyển Mã Đến Dữ Liệu)</a:t>
            </a:r>
            <a:endParaRPr lang="en-US" sz="2800" dirty="0"/>
          </a:p>
        </p:txBody>
      </p:sp>
      <p:sp>
        <p:nvSpPr>
          <p:cNvPr id="4" name="Shape 2"/>
          <p:cNvSpPr/>
          <p:nvPr/>
        </p:nvSpPr>
        <p:spPr>
          <a:xfrm>
            <a:off x="548640" y="1737360"/>
            <a:ext cx="11091672" cy="822960"/>
          </a:xfrm>
          <a:prstGeom prst="roundRect">
            <a:avLst>
              <a:gd name="adj" fmla="val 11111"/>
            </a:avLst>
          </a:prstGeom>
          <a:solidFill>
            <a:srgbClr val="EAF2F7"/>
          </a:solidFill>
          <a:ln/>
        </p:spPr>
      </p:sp>
      <p:sp>
        <p:nvSpPr>
          <p:cNvPr id="5" name="Text 3"/>
          <p:cNvSpPr txBox="1"/>
          <p:nvPr/>
        </p:nvSpPr>
        <p:spPr>
          <a:xfrm>
            <a:off x="914400" y="1737360"/>
            <a:ext cx="10360152" cy="822960"/>
          </a:xfrm>
          <a:prstGeom prst="rect">
            <a:avLst/>
          </a:prstGeom>
          <a:noFill/>
          <a:ln/>
        </p:spPr>
        <p:txBody>
          <a:bodyPr wrap="square" lIns="0" tIns="0" rIns="0" bIns="0" rtlCol="0" anchor="ctr"/>
          <a:lstStyle/>
          <a:p>
            <a:pPr marL="0" indent="0">
              <a:buNone/>
            </a:pPr>
            <a:r>
              <a:rPr lang="en-US" sz="1500" b="1" i="1" dirty="0">
                <a:solidFill>
                  <a:srgbClr val="21295C"/>
                </a:solidFill>
                <a:latin typeface="Calibri" pitchFamily="34" charset="0"/>
                <a:ea typeface="Calibri" pitchFamily="34" charset="-122"/>
                <a:cs typeface="Calibri" pitchFamily="34" charset="-120"/>
              </a:rPr>
              <a:t>“Chuyển mã tính toán đến nơi lưu trữ dữ liệu rẻ hơn nhiều so với việc chuyển dữ liệu đến mã tính toán.”</a:t>
            </a:r>
            <a:endParaRPr lang="en-US" sz="1500" dirty="0"/>
          </a:p>
        </p:txBody>
      </p:sp>
      <p:sp>
        <p:nvSpPr>
          <p:cNvPr id="6" name="Shape 4"/>
          <p:cNvSpPr/>
          <p:nvPr/>
        </p:nvSpPr>
        <p:spPr>
          <a:xfrm>
            <a:off x="548640" y="2788920"/>
            <a:ext cx="5317236" cy="2331720"/>
          </a:xfrm>
          <a:prstGeom prst="roundRect">
            <a:avLst>
              <a:gd name="adj" fmla="val 3922"/>
            </a:avLst>
          </a:prstGeom>
          <a:solidFill>
            <a:srgbClr val="FFFFFF"/>
          </a:solidFill>
          <a:ln w="19050">
            <a:solidFill>
              <a:srgbClr val="C1443C"/>
            </a:solidFill>
            <a:prstDash val="solid"/>
          </a:ln>
        </p:spPr>
      </p:sp>
      <p:sp>
        <p:nvSpPr>
          <p:cNvPr id="7" name="Shape 5"/>
          <p:cNvSpPr/>
          <p:nvPr/>
        </p:nvSpPr>
        <p:spPr>
          <a:xfrm>
            <a:off x="822960" y="3017520"/>
            <a:ext cx="1005840" cy="329184"/>
          </a:xfrm>
          <a:prstGeom prst="roundRect">
            <a:avLst>
              <a:gd name="adj" fmla="val 50000"/>
            </a:avLst>
          </a:prstGeom>
          <a:solidFill>
            <a:srgbClr val="C1443C"/>
          </a:solidFill>
          <a:ln/>
        </p:spPr>
      </p:sp>
      <p:sp>
        <p:nvSpPr>
          <p:cNvPr id="8" name="Text 6"/>
          <p:cNvSpPr txBox="1"/>
          <p:nvPr/>
        </p:nvSpPr>
        <p:spPr>
          <a:xfrm>
            <a:off x="822960" y="3017520"/>
            <a:ext cx="100584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Chậm</a:t>
            </a:r>
            <a:endParaRPr lang="en-US" sz="1100" dirty="0"/>
          </a:p>
        </p:txBody>
      </p:sp>
      <p:sp>
        <p:nvSpPr>
          <p:cNvPr id="9" name="Text 7"/>
          <p:cNvSpPr txBox="1"/>
          <p:nvPr/>
        </p:nvSpPr>
        <p:spPr>
          <a:xfrm>
            <a:off x="822960" y="3456432"/>
            <a:ext cx="4768596" cy="365760"/>
          </a:xfrm>
          <a:prstGeom prst="rect">
            <a:avLst/>
          </a:prstGeom>
          <a:noFill/>
          <a:ln/>
        </p:spPr>
        <p:txBody>
          <a:bodyPr wrap="square" lIns="0" tIns="0" rIns="0" bIns="0"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Cách truyền thống</a:t>
            </a:r>
            <a:endParaRPr lang="en-US" sz="1600" dirty="0"/>
          </a:p>
        </p:txBody>
      </p:sp>
      <p:sp>
        <p:nvSpPr>
          <p:cNvPr id="10" name="Text 8"/>
          <p:cNvSpPr txBox="1"/>
          <p:nvPr/>
        </p:nvSpPr>
        <p:spPr>
          <a:xfrm>
            <a:off x="822960" y="3840480"/>
            <a:ext cx="4768596" cy="777240"/>
          </a:xfrm>
          <a:prstGeom prst="rect">
            <a:avLst/>
          </a:prstGeom>
          <a:noFill/>
          <a:ln/>
        </p:spPr>
        <p:txBody>
          <a:bodyPr wrap="square" lIns="0" tIns="0" rIns="0" bIns="0" rtlCol="0" anchor="ctr"/>
          <a:lstStyle/>
          <a:p>
            <a:pPr marL="0" indent="0">
              <a:lnSpc>
                <a:spcPct val="120000"/>
              </a:lnSpc>
              <a:buNone/>
            </a:pPr>
            <a:r>
              <a:rPr lang="en-US" sz="1250" dirty="0">
                <a:solidFill>
                  <a:srgbClr val="6B7788"/>
                </a:solidFill>
                <a:latin typeface="Calibri" pitchFamily="34" charset="0"/>
                <a:ea typeface="Calibri" pitchFamily="34" charset="-122"/>
                <a:cs typeface="Calibri" pitchFamily="34" charset="-120"/>
              </a:rPr>
              <a:t>Kéo file log 100 GB qua mạng về máy chủ để tìm dòng lỗi.</a:t>
            </a:r>
            <a:endParaRPr lang="en-US" sz="1250" dirty="0"/>
          </a:p>
        </p:txBody>
      </p:sp>
      <p:sp>
        <p:nvSpPr>
          <p:cNvPr id="11" name="Shape 9"/>
          <p:cNvSpPr/>
          <p:nvPr/>
        </p:nvSpPr>
        <p:spPr>
          <a:xfrm>
            <a:off x="822960" y="4617720"/>
            <a:ext cx="4768596" cy="9144"/>
          </a:xfrm>
          <a:prstGeom prst="rect">
            <a:avLst/>
          </a:prstGeom>
          <a:solidFill>
            <a:srgbClr val="EAF2F7"/>
          </a:solidFill>
          <a:ln/>
        </p:spPr>
      </p:sp>
      <p:sp>
        <p:nvSpPr>
          <p:cNvPr id="12" name="Text 10"/>
          <p:cNvSpPr txBox="1"/>
          <p:nvPr/>
        </p:nvSpPr>
        <p:spPr>
          <a:xfrm>
            <a:off x="822960" y="4709160"/>
            <a:ext cx="4768596" cy="320040"/>
          </a:xfrm>
          <a:prstGeom prst="rect">
            <a:avLst/>
          </a:prstGeom>
          <a:noFill/>
          <a:ln/>
        </p:spPr>
        <p:txBody>
          <a:bodyPr wrap="square" lIns="0" tIns="0" rIns="0" bIns="0" rtlCol="0" anchor="ctr"/>
          <a:lstStyle/>
          <a:p>
            <a:pPr marL="0" indent="0">
              <a:buNone/>
            </a:pPr>
            <a:r>
              <a:rPr lang="en-US" sz="1250" b="1" dirty="0">
                <a:solidFill>
                  <a:srgbClr val="C1443C"/>
                </a:solidFill>
                <a:latin typeface="Calibri" pitchFamily="34" charset="0"/>
                <a:ea typeface="Calibri" pitchFamily="34" charset="-122"/>
                <a:cs typeface="Calibri" pitchFamily="34" charset="-120"/>
              </a:rPr>
              <a:t>Vài phút nghẽn mạng</a:t>
            </a:r>
            <a:endParaRPr lang="en-US" sz="1250" dirty="0"/>
          </a:p>
        </p:txBody>
      </p:sp>
      <p:sp>
        <p:nvSpPr>
          <p:cNvPr id="13" name="Shape 11"/>
          <p:cNvSpPr/>
          <p:nvPr/>
        </p:nvSpPr>
        <p:spPr>
          <a:xfrm>
            <a:off x="6323076" y="2788920"/>
            <a:ext cx="5317236" cy="2331720"/>
          </a:xfrm>
          <a:prstGeom prst="roundRect">
            <a:avLst>
              <a:gd name="adj" fmla="val 3922"/>
            </a:avLst>
          </a:prstGeom>
          <a:solidFill>
            <a:srgbClr val="FFFFFF"/>
          </a:solidFill>
          <a:ln w="19050">
            <a:solidFill>
              <a:srgbClr val="1C7293"/>
            </a:solidFill>
            <a:prstDash val="solid"/>
          </a:ln>
        </p:spPr>
      </p:sp>
      <p:sp>
        <p:nvSpPr>
          <p:cNvPr id="14" name="Shape 12"/>
          <p:cNvSpPr/>
          <p:nvPr/>
        </p:nvSpPr>
        <p:spPr>
          <a:xfrm>
            <a:off x="6597396" y="3017520"/>
            <a:ext cx="1005840" cy="329184"/>
          </a:xfrm>
          <a:prstGeom prst="roundRect">
            <a:avLst>
              <a:gd name="adj" fmla="val 50000"/>
            </a:avLst>
          </a:prstGeom>
          <a:solidFill>
            <a:srgbClr val="1C7293"/>
          </a:solidFill>
          <a:ln/>
        </p:spPr>
      </p:sp>
      <p:sp>
        <p:nvSpPr>
          <p:cNvPr id="15" name="Text 13"/>
          <p:cNvSpPr txBox="1"/>
          <p:nvPr/>
        </p:nvSpPr>
        <p:spPr>
          <a:xfrm>
            <a:off x="6597396" y="3017520"/>
            <a:ext cx="100584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Tối ưu</a:t>
            </a:r>
            <a:endParaRPr lang="en-US" sz="1100" dirty="0"/>
          </a:p>
        </p:txBody>
      </p:sp>
      <p:sp>
        <p:nvSpPr>
          <p:cNvPr id="16" name="Text 14"/>
          <p:cNvSpPr txBox="1"/>
          <p:nvPr/>
        </p:nvSpPr>
        <p:spPr>
          <a:xfrm>
            <a:off x="6597396" y="3456432"/>
            <a:ext cx="4768596" cy="365760"/>
          </a:xfrm>
          <a:prstGeom prst="rect">
            <a:avLst/>
          </a:prstGeom>
          <a:noFill/>
          <a:ln/>
        </p:spPr>
        <p:txBody>
          <a:bodyPr wrap="square" lIns="0" tIns="0" rIns="0" bIns="0"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HDFS + MapReduce</a:t>
            </a:r>
            <a:endParaRPr lang="en-US" sz="1600" dirty="0"/>
          </a:p>
        </p:txBody>
      </p:sp>
      <p:sp>
        <p:nvSpPr>
          <p:cNvPr id="17" name="Text 15"/>
          <p:cNvSpPr txBox="1"/>
          <p:nvPr/>
        </p:nvSpPr>
        <p:spPr>
          <a:xfrm>
            <a:off x="6597396" y="3840480"/>
            <a:ext cx="4768596" cy="777240"/>
          </a:xfrm>
          <a:prstGeom prst="rect">
            <a:avLst/>
          </a:prstGeom>
          <a:noFill/>
          <a:ln/>
        </p:spPr>
        <p:txBody>
          <a:bodyPr wrap="square" lIns="0" tIns="0" rIns="0" bIns="0" rtlCol="0" anchor="ctr"/>
          <a:lstStyle/>
          <a:p>
            <a:pPr marL="0" indent="0">
              <a:lnSpc>
                <a:spcPct val="120000"/>
              </a:lnSpc>
              <a:buNone/>
            </a:pPr>
            <a:r>
              <a:rPr lang="en-US" sz="1250" dirty="0">
                <a:solidFill>
                  <a:srgbClr val="6B7788"/>
                </a:solidFill>
                <a:latin typeface="Calibri" pitchFamily="34" charset="0"/>
                <a:ea typeface="Calibri" pitchFamily="34" charset="-122"/>
                <a:cs typeface="Calibri" pitchFamily="34" charset="-120"/>
              </a:rPr>
              <a:t>Gửi đoạn mã tìm kiếm (vài KB) chạy trực tiếp trên DataNode đang giữ file log.</a:t>
            </a:r>
            <a:endParaRPr lang="en-US" sz="1250" dirty="0"/>
          </a:p>
        </p:txBody>
      </p:sp>
      <p:sp>
        <p:nvSpPr>
          <p:cNvPr id="18" name="Shape 16"/>
          <p:cNvSpPr/>
          <p:nvPr/>
        </p:nvSpPr>
        <p:spPr>
          <a:xfrm>
            <a:off x="6597396" y="4617720"/>
            <a:ext cx="4768596" cy="9144"/>
          </a:xfrm>
          <a:prstGeom prst="rect">
            <a:avLst/>
          </a:prstGeom>
          <a:solidFill>
            <a:srgbClr val="EAF2F7"/>
          </a:solidFill>
          <a:ln/>
        </p:spPr>
      </p:sp>
      <p:sp>
        <p:nvSpPr>
          <p:cNvPr id="19" name="Text 17"/>
          <p:cNvSpPr txBox="1"/>
          <p:nvPr/>
        </p:nvSpPr>
        <p:spPr>
          <a:xfrm>
            <a:off x="6597396" y="4709160"/>
            <a:ext cx="4768596" cy="320040"/>
          </a:xfrm>
          <a:prstGeom prst="rect">
            <a:avLst/>
          </a:prstGeom>
          <a:noFill/>
          <a:ln/>
        </p:spPr>
        <p:txBody>
          <a:bodyPr wrap="square" lIns="0" tIns="0" rIns="0" bIns="0" rtlCol="0" anchor="ctr"/>
          <a:lstStyle/>
          <a:p>
            <a:pPr marL="0" indent="0">
              <a:buNone/>
            </a:pPr>
            <a:r>
              <a:rPr lang="en-US" sz="1250" b="1" dirty="0">
                <a:solidFill>
                  <a:srgbClr val="1C7293"/>
                </a:solidFill>
                <a:latin typeface="Calibri" pitchFamily="34" charset="0"/>
                <a:ea typeface="Calibri" pitchFamily="34" charset="-122"/>
                <a:cs typeface="Calibri" pitchFamily="34" charset="-120"/>
              </a:rPr>
              <a:t>Kết quả trả về chỉ vài byte</a:t>
            </a:r>
            <a:endParaRPr lang="en-US" sz="1250" dirty="0"/>
          </a:p>
        </p:txBody>
      </p:sp>
      <p:sp>
        <p:nvSpPr>
          <p:cNvPr id="20" name="Text 18"/>
          <p:cNvSpPr txBox="1"/>
          <p:nvPr/>
        </p:nvSpPr>
        <p:spPr>
          <a:xfrm>
            <a:off x="548640" y="6473952"/>
            <a:ext cx="3657600" cy="274320"/>
          </a:xfrm>
          <a:prstGeom prst="rect">
            <a:avLst/>
          </a:prstGeom>
          <a:noFill/>
          <a:ln/>
        </p:spPr>
        <p:txBody>
          <a:bodyPr wrap="square" lIns="0" tIns="0" rIns="0" bIns="0" rtlCol="0" anchor="ctr"/>
          <a:lstStyle/>
          <a:p>
            <a:pPr marL="0" indent="0" algn="l">
              <a:buNone/>
            </a:pPr>
            <a:r>
              <a:rPr lang="en-US" sz="900" dirty="0">
                <a:solidFill>
                  <a:srgbClr val="6B7788"/>
                </a:solidFill>
                <a:latin typeface="Calibri" pitchFamily="34" charset="0"/>
                <a:ea typeface="Calibri" pitchFamily="34" charset="-122"/>
                <a:cs typeface="Calibri" pitchFamily="34" charset="-120"/>
              </a:rPr>
              <a:t>APACHE HDFS  ·  BIG DATA</a:t>
            </a:r>
            <a:endParaRPr lang="en-US" sz="900" dirty="0"/>
          </a:p>
        </p:txBody>
      </p:sp>
      <p:sp>
        <p:nvSpPr>
          <p:cNvPr id="21" name="Text 19"/>
          <p:cNvSpPr txBox="1"/>
          <p:nvPr/>
        </p:nvSpPr>
        <p:spPr>
          <a:xfrm>
            <a:off x="11228832" y="6473952"/>
            <a:ext cx="411480" cy="274320"/>
          </a:xfrm>
          <a:prstGeom prst="rect">
            <a:avLst/>
          </a:prstGeom>
          <a:noFill/>
          <a:ln/>
        </p:spPr>
        <p:txBody>
          <a:bodyPr wrap="square" lIns="0" tIns="0" rIns="0" bIns="0" rtlCol="0" anchor="ctr"/>
          <a:lstStyle/>
          <a:p>
            <a:pPr marL="0" indent="0" algn="r">
              <a:buNone/>
            </a:pPr>
            <a:r>
              <a:rPr lang="en-US" sz="900" dirty="0">
                <a:solidFill>
                  <a:srgbClr val="6B7788"/>
                </a:solidFill>
                <a:latin typeface="Calibri" pitchFamily="34" charset="0"/>
                <a:ea typeface="Calibri" pitchFamily="34" charset="-122"/>
                <a:cs typeface="Calibri" pitchFamily="34" charset="-120"/>
              </a:rPr>
              <a:t>09</a:t>
            </a:r>
            <a:endParaRPr lang="en-US" sz="900" dirty="0"/>
          </a:p>
        </p:txBody>
      </p:sp>
      <p:sp>
        <p:nvSpPr>
          <p:cNvPr id="22" name="Shape 20"/>
          <p:cNvSpPr/>
          <p:nvPr/>
        </p:nvSpPr>
        <p:spPr>
          <a:xfrm>
            <a:off x="10543032" y="6473952"/>
            <a:ext cx="146304" cy="146304"/>
          </a:xfrm>
          <a:prstGeom prst="roundRect">
            <a:avLst>
              <a:gd name="adj" fmla="val 18750"/>
            </a:avLst>
          </a:prstGeom>
          <a:solidFill>
            <a:srgbClr val="065A82"/>
          </a:solidFill>
          <a:ln/>
        </p:spPr>
      </p:sp>
      <p:sp>
        <p:nvSpPr>
          <p:cNvPr id="23" name="Shape 21"/>
          <p:cNvSpPr/>
          <p:nvPr/>
        </p:nvSpPr>
        <p:spPr>
          <a:xfrm>
            <a:off x="10744200" y="6473952"/>
            <a:ext cx="146304" cy="146304"/>
          </a:xfrm>
          <a:prstGeom prst="roundRect">
            <a:avLst>
              <a:gd name="adj" fmla="val 18750"/>
            </a:avLst>
          </a:prstGeom>
          <a:solidFill>
            <a:srgbClr val="1C7293"/>
          </a:solidFill>
          <a:ln/>
        </p:spPr>
      </p:sp>
      <p:sp>
        <p:nvSpPr>
          <p:cNvPr id="24" name="Shape 22"/>
          <p:cNvSpPr/>
          <p:nvPr/>
        </p:nvSpPr>
        <p:spPr>
          <a:xfrm>
            <a:off x="10945368" y="6473952"/>
            <a:ext cx="146304" cy="146304"/>
          </a:xfrm>
          <a:prstGeom prst="roundRect">
            <a:avLst>
              <a:gd name="adj" fmla="val 18750"/>
            </a:avLst>
          </a:prstGeom>
          <a:solidFill>
            <a:srgbClr val="21295C"/>
          </a:solid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WordCount">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292608"/>
          </a:xfrm>
          <a:prstGeom prst="rect">
            <a:avLst/>
          </a:prstGeom>
          <a:noFill/>
          <a:ln/>
        </p:spPr>
        <p:txBody>
          <a:bodyPr wrap="square" lIns="0" tIns="0" rIns="0" bIns="0" rtlCol="0" anchor="ctr"/>
          <a:lstStyle/>
          <a:p>
            <a:pPr marL="0" indent="0">
              <a:buNone/>
            </a:pPr>
            <a:r>
              <a:rPr lang="en-US" sz="1300" b="1" kern="0" spc="150" dirty="0">
                <a:solidFill>
                  <a:srgbClr val="1C7293"/>
                </a:solidFill>
                <a:latin typeface="Calibri" pitchFamily="34" charset="0"/>
                <a:ea typeface="Calibri" pitchFamily="34" charset="-122"/>
                <a:cs typeface="Calibri" pitchFamily="34" charset="-120"/>
              </a:rPr>
              <a:t>Nguyên lý vận hành</a:t>
            </a:r>
            <a:endParaRPr lang="en-US" sz="1300" dirty="0"/>
          </a:p>
        </p:txBody>
      </p:sp>
      <p:sp>
        <p:nvSpPr>
          <p:cNvPr id="3" name="Text 1"/>
          <p:cNvSpPr txBox="1"/>
          <p:nvPr/>
        </p:nvSpPr>
        <p:spPr>
          <a:xfrm>
            <a:off x="548640" y="658368"/>
            <a:ext cx="11091672" cy="822960"/>
          </a:xfrm>
          <a:prstGeom prst="rect">
            <a:avLst/>
          </a:prstGeom>
          <a:noFill/>
          <a:ln/>
        </p:spPr>
        <p:txBody>
          <a:bodyPr wrap="square" lIns="0" tIns="0" rIns="0" bIns="0" rtlCol="0" anchor="t"/>
          <a:lstStyle/>
          <a:p>
            <a:pPr marL="0" indent="0">
              <a:buNone/>
            </a:pPr>
            <a:r>
              <a:rPr lang="en-US" sz="2800" b="1" dirty="0">
                <a:solidFill>
                  <a:srgbClr val="21295C"/>
                </a:solidFill>
                <a:latin typeface="Times New Roman" pitchFamily="34" charset="0"/>
                <a:ea typeface="Times New Roman" pitchFamily="34" charset="-122"/>
                <a:cs typeface="Times New Roman" pitchFamily="34" charset="-120"/>
              </a:rPr>
              <a:t>Ví Dụ MapReduce — Bài Toán WordCount</a:t>
            </a:r>
            <a:endParaRPr lang="en-US" sz="2800" dirty="0"/>
          </a:p>
        </p:txBody>
      </p:sp>
      <p:sp>
        <p:nvSpPr>
          <p:cNvPr id="4" name="Text 2"/>
          <p:cNvSpPr txBox="1"/>
          <p:nvPr/>
        </p:nvSpPr>
        <p:spPr>
          <a:xfrm>
            <a:off x="548640" y="1691640"/>
            <a:ext cx="11091672" cy="822960"/>
          </a:xfrm>
          <a:prstGeom prst="rect">
            <a:avLst/>
          </a:prstGeom>
          <a:noFill/>
          <a:ln/>
        </p:spPr>
        <p:txBody>
          <a:bodyPr wrap="square" lIns="0" tIns="0" rIns="0" bIns="0" rtlCol="0" anchor="ctr"/>
          <a:lstStyle/>
          <a:p>
            <a:pPr marL="0" indent="0">
              <a:lnSpc>
                <a:spcPct val="120000"/>
              </a:lnSpc>
              <a:buNone/>
            </a:pPr>
            <a:r>
              <a:rPr lang="en-US" sz="1350" dirty="0">
                <a:solidFill>
                  <a:srgbClr val="6B7788"/>
                </a:solidFill>
                <a:latin typeface="Calibri" pitchFamily="34" charset="0"/>
                <a:ea typeface="Calibri" pitchFamily="34" charset="-122"/>
                <a:cs typeface="Calibri" pitchFamily="34" charset="-120"/>
              </a:rPr>
              <a:t>WordCount — bài toán đếm tần suất xuất hiện của mỗi từ trong văn bản — là ví dụ kinh điển giúp minh hoạ trực quan cách MapReduce xử lý dữ liệu song song qua ba giai đoạn Map, Shuffle và Reduce.</a:t>
            </a:r>
            <a:endParaRPr lang="en-US" sz="1350" dirty="0"/>
          </a:p>
        </p:txBody>
      </p:sp>
      <p:sp>
        <p:nvSpPr>
          <p:cNvPr id="5" name="Text 3"/>
          <p:cNvSpPr txBox="1"/>
          <p:nvPr/>
        </p:nvSpPr>
        <p:spPr>
          <a:xfrm>
            <a:off x="548640" y="2697480"/>
            <a:ext cx="11091672" cy="274320"/>
          </a:xfrm>
          <a:prstGeom prst="rect">
            <a:avLst/>
          </a:prstGeom>
          <a:noFill/>
          <a:ln/>
        </p:spPr>
        <p:txBody>
          <a:bodyPr wrap="square" lIns="0" tIns="0" rIns="0" bIns="0" rtlCol="0" anchor="ctr"/>
          <a:lstStyle/>
          <a:p>
            <a:pPr marL="0" indent="0">
              <a:buNone/>
            </a:pPr>
            <a:r>
              <a:rPr lang="en-US" sz="1150" b="1" kern="0" spc="150" dirty="0">
                <a:solidFill>
                  <a:srgbClr val="1C7293"/>
                </a:solidFill>
                <a:latin typeface="Calibri" pitchFamily="34" charset="0"/>
                <a:ea typeface="Calibri" pitchFamily="34" charset="-122"/>
                <a:cs typeface="Calibri" pitchFamily="34" charset="-120"/>
              </a:rPr>
              <a:t>SƠ ĐỒ XỬ LÝ — MAP  →  SHUFFLE  →  REDUCE</a:t>
            </a:r>
            <a:endParaRPr lang="en-US" sz="1150" dirty="0"/>
          </a:p>
        </p:txBody>
      </p:sp>
      <p:sp>
        <p:nvSpPr>
          <p:cNvPr id="19" name="Shape 17"/>
          <p:cNvSpPr/>
          <p:nvPr/>
        </p:nvSpPr>
        <p:spPr>
          <a:xfrm>
            <a:off x="548640" y="6000000"/>
            <a:ext cx="11091672" cy="380000"/>
          </a:xfrm>
          <a:prstGeom prst="roundRect">
            <a:avLst>
              <a:gd name="adj" fmla="val 20000"/>
            </a:avLst>
          </a:prstGeom>
          <a:solidFill>
            <a:srgbClr val="EAF2F7"/>
          </a:solidFill>
          <a:ln/>
        </p:spPr>
      </p:sp>
      <p:sp>
        <p:nvSpPr>
          <p:cNvPr id="20" name="Text 18"/>
          <p:cNvSpPr txBox="1"/>
          <p:nvPr/>
        </p:nvSpPr>
        <p:spPr>
          <a:xfrm>
            <a:off x="868680" y="6052840"/>
            <a:ext cx="10451592" cy="274320"/>
          </a:xfrm>
          <a:prstGeom prst="rect">
            <a:avLst/>
          </a:prstGeom>
          <a:noFill/>
          <a:ln/>
        </p:spPr>
        <p:txBody>
          <a:bodyPr wrap="square" lIns="0" tIns="0" rIns="0" bIns="0" rtlCol="0" anchor="ctr"/>
          <a:lstStyle/>
          <a:p>
            <a:pPr marL="0" indent="0" algn="ctr">
              <a:buNone/>
            </a:pPr>
            <a:r>
              <a:rPr lang="en-US" sz="1200" i="1" dirty="0">
                <a:solidFill>
                  <a:srgbClr val="21295C"/>
                </a:solidFill>
                <a:latin typeface="Calibri" pitchFamily="34" charset="0"/>
                <a:ea typeface="Calibri" pitchFamily="34" charset="-122"/>
                <a:cs typeface="Calibri" pitchFamily="34" charset="-120"/>
              </a:rPr>
              <a:t>Map: sinh cặp &lt;word,1&gt; cho từng từ   →   Shuffle: gom nhóm theo từ khoá   →   Reduce: cộng tổng thành &lt;word, tổng số lần&gt;</a:t>
            </a:r>
            <a:endParaRPr lang="en-US" sz="1200" dirty="0"/>
          </a:p>
        </p:txBody>
      </p:sp>
      <p:sp>
        <p:nvSpPr>
          <p:cNvPr id="22" name="Text 20"/>
          <p:cNvSpPr txBox="1"/>
          <p:nvPr/>
        </p:nvSpPr>
        <p:spPr>
          <a:xfrm>
            <a:off x="548640" y="6473952"/>
            <a:ext cx="3657600" cy="274320"/>
          </a:xfrm>
          <a:prstGeom prst="rect">
            <a:avLst/>
          </a:prstGeom>
          <a:noFill/>
          <a:ln/>
        </p:spPr>
        <p:txBody>
          <a:bodyPr wrap="square" lIns="0" tIns="0" rIns="0" bIns="0" rtlCol="0" anchor="ctr"/>
          <a:lstStyle/>
          <a:p>
            <a:pPr marL="0" indent="0" algn="l">
              <a:buNone/>
            </a:pPr>
            <a:r>
              <a:rPr lang="en-US" sz="900" dirty="0">
                <a:solidFill>
                  <a:srgbClr val="6B7788"/>
                </a:solidFill>
                <a:latin typeface="Calibri" pitchFamily="34" charset="0"/>
                <a:ea typeface="Calibri" pitchFamily="34" charset="-122"/>
                <a:cs typeface="Calibri" pitchFamily="34" charset="-120"/>
              </a:rPr>
              <a:t>APACHE HDFS  ·  BIG DATA</a:t>
            </a:r>
            <a:endParaRPr lang="en-US" sz="900" dirty="0"/>
          </a:p>
        </p:txBody>
      </p:sp>
      <p:sp>
        <p:nvSpPr>
          <p:cNvPr id="23" name="Text 21"/>
          <p:cNvSpPr txBox="1"/>
          <p:nvPr/>
        </p:nvSpPr>
        <p:spPr>
          <a:xfrm>
            <a:off x="11228832" y="6473952"/>
            <a:ext cx="411480" cy="274320"/>
          </a:xfrm>
          <a:prstGeom prst="rect">
            <a:avLst/>
          </a:prstGeom>
          <a:noFill/>
          <a:ln/>
        </p:spPr>
        <p:txBody>
          <a:bodyPr wrap="square" lIns="0" tIns="0" rIns="0" bIns="0" rtlCol="0" anchor="ctr"/>
          <a:lstStyle/>
          <a:p>
            <a:pPr marL="0" indent="0" algn="r">
              <a:buNone/>
            </a:pPr>
            <a:r>
              <a:rPr lang="en-US" sz="900" dirty="0">
                <a:solidFill>
                  <a:srgbClr val="6B7788"/>
                </a:solidFill>
                <a:latin typeface="Calibri" pitchFamily="34" charset="0"/>
                <a:ea typeface="Calibri" pitchFamily="34" charset="-122"/>
                <a:cs typeface="Calibri" pitchFamily="34" charset="-120"/>
              </a:rPr>
              <a:t>10</a:t>
            </a:r>
            <a:endParaRPr lang="en-US" sz="900" dirty="0"/>
          </a:p>
        </p:txBody>
      </p:sp>
      <p:sp>
        <p:nvSpPr>
          <p:cNvPr id="24" name="Shape 22"/>
          <p:cNvSpPr/>
          <p:nvPr/>
        </p:nvSpPr>
        <p:spPr>
          <a:xfrm>
            <a:off x="10543032" y="6473952"/>
            <a:ext cx="146304" cy="146304"/>
          </a:xfrm>
          <a:prstGeom prst="roundRect">
            <a:avLst>
              <a:gd name="adj" fmla="val 18750"/>
            </a:avLst>
          </a:prstGeom>
          <a:solidFill>
            <a:srgbClr val="065A82"/>
          </a:solidFill>
          <a:ln/>
        </p:spPr>
      </p:sp>
      <p:sp>
        <p:nvSpPr>
          <p:cNvPr id="25" name="Shape 23"/>
          <p:cNvSpPr/>
          <p:nvPr/>
        </p:nvSpPr>
        <p:spPr>
          <a:xfrm>
            <a:off x="10744200" y="6473952"/>
            <a:ext cx="146304" cy="146304"/>
          </a:xfrm>
          <a:prstGeom prst="roundRect">
            <a:avLst>
              <a:gd name="adj" fmla="val 18750"/>
            </a:avLst>
          </a:prstGeom>
          <a:solidFill>
            <a:srgbClr val="1C7293"/>
          </a:solidFill>
          <a:ln/>
        </p:spPr>
      </p:sp>
      <p:sp>
        <p:nvSpPr>
          <p:cNvPr id="26" name="Shape 24"/>
          <p:cNvSpPr/>
          <p:nvPr/>
        </p:nvSpPr>
        <p:spPr>
          <a:xfrm>
            <a:off x="10945368" y="6473952"/>
            <a:ext cx="146304" cy="146304"/>
          </a:xfrm>
          <a:prstGeom prst="roundRect">
            <a:avLst>
              <a:gd name="adj" fmla="val 18750"/>
            </a:avLst>
          </a:prstGeom>
          <a:solidFill>
            <a:srgbClr val="21295C"/>
          </a:solidFill>
          <a:ln/>
        </p:spPr>
      </p:sp>
      <p:pic>
        <p:nvPicPr>
          <p:cNvPr id="27" name="WordCount Diagram"/>
          <p:cNvPicPr>
            <a:picLocks noChangeAspect="1"/>
          </p:cNvPicPr>
          <p:nvPr/>
        </p:nvPicPr>
        <p:blipFill>
          <a:blip r:embed="rId2"/>
          <a:stretch>
            <a:fillRect/>
          </a:stretch>
        </p:blipFill>
        <p:spPr>
          <a:xfrm>
            <a:off x="3453600" y="3050000"/>
            <a:ext cx="5284800" cy="2850000"/>
          </a:xfrm>
          <a:prstGeom prst="rect">
            <a:avLst/>
          </a:prstGeom>
          <a:ln w="9525">
            <a:solidFill>
              <a:srgbClr val="D9D9D9"/>
            </a:solid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292608"/>
          </a:xfrm>
          <a:prstGeom prst="rect">
            <a:avLst/>
          </a:prstGeom>
          <a:noFill/>
          <a:ln/>
        </p:spPr>
        <p:txBody>
          <a:bodyPr wrap="square" lIns="0" tIns="0" rIns="0" bIns="0" rtlCol="0" anchor="ctr"/>
          <a:lstStyle/>
          <a:p>
            <a:pPr marL="0" indent="0">
              <a:buNone/>
            </a:pPr>
            <a:r>
              <a:rPr lang="en-US" sz="1300" b="1" kern="0" spc="150" dirty="0">
                <a:solidFill>
                  <a:srgbClr val="1C7293"/>
                </a:solidFill>
                <a:latin typeface="Calibri" pitchFamily="34" charset="0"/>
                <a:ea typeface="Calibri" pitchFamily="34" charset="-122"/>
                <a:cs typeface="Calibri" pitchFamily="34" charset="-120"/>
              </a:rPr>
              <a:t>Quy trình vận hành</a:t>
            </a:r>
            <a:endParaRPr lang="en-US" sz="1300" dirty="0"/>
          </a:p>
        </p:txBody>
      </p:sp>
      <p:sp>
        <p:nvSpPr>
          <p:cNvPr id="3" name="Text 1"/>
          <p:cNvSpPr txBox="1"/>
          <p:nvPr/>
        </p:nvSpPr>
        <p:spPr>
          <a:xfrm>
            <a:off x="548640" y="658368"/>
            <a:ext cx="11091672" cy="822960"/>
          </a:xfrm>
          <a:prstGeom prst="rect">
            <a:avLst/>
          </a:prstGeom>
          <a:noFill/>
          <a:ln/>
        </p:spPr>
        <p:txBody>
          <a:bodyPr wrap="square" lIns="0" tIns="0" rIns="0" bIns="0" rtlCol="0" anchor="t"/>
          <a:lstStyle/>
          <a:p>
            <a:pPr marL="0" indent="0">
              <a:buNone/>
            </a:pPr>
            <a:r>
              <a:rPr lang="en-US" sz="2800" b="1" dirty="0">
                <a:solidFill>
                  <a:srgbClr val="21295C"/>
                </a:solidFill>
                <a:latin typeface="Times New Roman" pitchFamily="34" charset="0"/>
                <a:ea typeface="Times New Roman" pitchFamily="34" charset="-122"/>
                <a:cs typeface="Times New Roman" pitchFamily="34" charset="-120"/>
              </a:rPr>
              <a:t>Quy Trình Đọc Dữ Liệu (Read Pipeline)</a:t>
            </a:r>
            <a:endParaRPr lang="en-US" sz="2800" dirty="0"/>
          </a:p>
        </p:txBody>
      </p:sp>
      <p:sp>
        <p:nvSpPr>
          <p:cNvPr id="4" name="Shape 2"/>
          <p:cNvSpPr/>
          <p:nvPr/>
        </p:nvSpPr>
        <p:spPr>
          <a:xfrm>
            <a:off x="548640" y="1874520"/>
            <a:ext cx="2567178" cy="2286000"/>
          </a:xfrm>
          <a:prstGeom prst="roundRect">
            <a:avLst>
              <a:gd name="adj" fmla="val 4000"/>
            </a:avLst>
          </a:prstGeom>
          <a:solidFill>
            <a:srgbClr val="065A82"/>
          </a:solidFill>
          <a:ln/>
        </p:spPr>
      </p:sp>
      <p:sp>
        <p:nvSpPr>
          <p:cNvPr id="5" name="Text 3"/>
          <p:cNvSpPr txBox="1"/>
          <p:nvPr/>
        </p:nvSpPr>
        <p:spPr>
          <a:xfrm>
            <a:off x="777240" y="2057400"/>
            <a:ext cx="640080" cy="548640"/>
          </a:xfrm>
          <a:prstGeom prst="rect">
            <a:avLst/>
          </a:prstGeom>
          <a:noFill/>
          <a:ln/>
        </p:spPr>
        <p:txBody>
          <a:bodyPr wrap="square" lIns="0" tIns="0" rIns="0" bIns="0" rtlCol="0" anchor="ctr"/>
          <a:lstStyle/>
          <a:p>
            <a:pPr marL="0" indent="0">
              <a:buNone/>
            </a:pPr>
            <a:r>
              <a:rPr lang="en-US" sz="3000" b="1" dirty="0">
                <a:solidFill>
                  <a:srgbClr val="FFFFFF"/>
                </a:solidFill>
                <a:latin typeface="Times New Roman" pitchFamily="34" charset="0"/>
                <a:ea typeface="Times New Roman" pitchFamily="34" charset="-122"/>
                <a:cs typeface="Times New Roman" pitchFamily="34" charset="-120"/>
              </a:rPr>
              <a:t>1</a:t>
            </a:r>
            <a:endParaRPr lang="en-US" sz="3000" dirty="0"/>
          </a:p>
        </p:txBody>
      </p:sp>
      <p:sp>
        <p:nvSpPr>
          <p:cNvPr id="6" name="Text 4"/>
          <p:cNvSpPr txBox="1"/>
          <p:nvPr/>
        </p:nvSpPr>
        <p:spPr>
          <a:xfrm>
            <a:off x="777240" y="2697480"/>
            <a:ext cx="2109978"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open()</a:t>
            </a:r>
            <a:endParaRPr lang="en-US" sz="1400" dirty="0"/>
          </a:p>
        </p:txBody>
      </p:sp>
      <p:sp>
        <p:nvSpPr>
          <p:cNvPr id="7" name="Text 5"/>
          <p:cNvSpPr txBox="1"/>
          <p:nvPr/>
        </p:nvSpPr>
        <p:spPr>
          <a:xfrm>
            <a:off x="777240" y="3063240"/>
            <a:ext cx="2109978" cy="1005840"/>
          </a:xfrm>
          <a:prstGeom prst="rect">
            <a:avLst/>
          </a:prstGeom>
          <a:noFill/>
          <a:ln/>
        </p:spPr>
        <p:txBody>
          <a:bodyPr wrap="square" lIns="0" tIns="0" rIns="0" bIns="0" rtlCol="0" anchor="ctr"/>
          <a:lstStyle/>
          <a:p>
            <a:pPr marL="0" indent="0">
              <a:lnSpc>
                <a:spcPct val="120000"/>
              </a:lnSpc>
              <a:buNone/>
            </a:pPr>
            <a:r>
              <a:rPr lang="en-US" sz="1100" dirty="0">
                <a:solidFill>
                  <a:srgbClr val="EAF2F7"/>
                </a:solidFill>
                <a:latin typeface="Calibri" pitchFamily="34" charset="0"/>
                <a:ea typeface="Calibri" pitchFamily="34" charset="-122"/>
                <a:cs typeface="Calibri" pitchFamily="34" charset="-120"/>
              </a:rPr>
              <a:t>Client gửi yêu cầu đọc file tới NameNode.</a:t>
            </a:r>
            <a:endParaRPr lang="en-US" sz="1100" dirty="0"/>
          </a:p>
        </p:txBody>
      </p:sp>
      <p:sp>
        <p:nvSpPr>
          <p:cNvPr id="8" name="Shape 6"/>
          <p:cNvSpPr/>
          <p:nvPr/>
        </p:nvSpPr>
        <p:spPr>
          <a:xfrm>
            <a:off x="3134106" y="2834640"/>
            <a:ext cx="237744" cy="274320"/>
          </a:xfrm>
          <a:prstGeom prst="rightArrow">
            <a:avLst/>
          </a:prstGeom>
          <a:solidFill>
            <a:srgbClr val="AEC6D6"/>
          </a:solidFill>
          <a:ln/>
        </p:spPr>
      </p:sp>
      <p:sp>
        <p:nvSpPr>
          <p:cNvPr id="9" name="Shape 7"/>
          <p:cNvSpPr/>
          <p:nvPr/>
        </p:nvSpPr>
        <p:spPr>
          <a:xfrm>
            <a:off x="3390138" y="1874520"/>
            <a:ext cx="2567178" cy="2286000"/>
          </a:xfrm>
          <a:prstGeom prst="roundRect">
            <a:avLst>
              <a:gd name="adj" fmla="val 4000"/>
            </a:avLst>
          </a:prstGeom>
          <a:solidFill>
            <a:srgbClr val="1C7293"/>
          </a:solidFill>
          <a:ln/>
        </p:spPr>
      </p:sp>
      <p:sp>
        <p:nvSpPr>
          <p:cNvPr id="10" name="Text 8"/>
          <p:cNvSpPr txBox="1"/>
          <p:nvPr/>
        </p:nvSpPr>
        <p:spPr>
          <a:xfrm>
            <a:off x="3618738" y="2057400"/>
            <a:ext cx="640080" cy="548640"/>
          </a:xfrm>
          <a:prstGeom prst="rect">
            <a:avLst/>
          </a:prstGeom>
          <a:noFill/>
          <a:ln/>
        </p:spPr>
        <p:txBody>
          <a:bodyPr wrap="square" lIns="0" tIns="0" rIns="0" bIns="0" rtlCol="0" anchor="ctr"/>
          <a:lstStyle/>
          <a:p>
            <a:pPr marL="0" indent="0">
              <a:buNone/>
            </a:pPr>
            <a:r>
              <a:rPr lang="en-US" sz="3000" b="1" dirty="0">
                <a:solidFill>
                  <a:srgbClr val="FFFFFF"/>
                </a:solidFill>
                <a:latin typeface="Times New Roman" pitchFamily="34" charset="0"/>
                <a:ea typeface="Times New Roman" pitchFamily="34" charset="-122"/>
                <a:cs typeface="Times New Roman" pitchFamily="34" charset="-120"/>
              </a:rPr>
              <a:t>2</a:t>
            </a:r>
            <a:endParaRPr lang="en-US" sz="3000" dirty="0"/>
          </a:p>
        </p:txBody>
      </p:sp>
      <p:sp>
        <p:nvSpPr>
          <p:cNvPr id="11" name="Text 9"/>
          <p:cNvSpPr txBox="1"/>
          <p:nvPr/>
        </p:nvSpPr>
        <p:spPr>
          <a:xfrm>
            <a:off x="3618738" y="2697480"/>
            <a:ext cx="2109978"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Tra cứu</a:t>
            </a:r>
            <a:endParaRPr lang="en-US" sz="1400" dirty="0"/>
          </a:p>
        </p:txBody>
      </p:sp>
      <p:sp>
        <p:nvSpPr>
          <p:cNvPr id="12" name="Text 10"/>
          <p:cNvSpPr txBox="1"/>
          <p:nvPr/>
        </p:nvSpPr>
        <p:spPr>
          <a:xfrm>
            <a:off x="3618738" y="3063240"/>
            <a:ext cx="2109978" cy="1005840"/>
          </a:xfrm>
          <a:prstGeom prst="rect">
            <a:avLst/>
          </a:prstGeom>
          <a:noFill/>
          <a:ln/>
        </p:spPr>
        <p:txBody>
          <a:bodyPr wrap="square" lIns="0" tIns="0" rIns="0" bIns="0" rtlCol="0" anchor="ctr"/>
          <a:lstStyle/>
          <a:p>
            <a:pPr marL="0" indent="0">
              <a:lnSpc>
                <a:spcPct val="120000"/>
              </a:lnSpc>
              <a:buNone/>
            </a:pPr>
            <a:r>
              <a:rPr lang="en-US" sz="1100" dirty="0">
                <a:solidFill>
                  <a:srgbClr val="EAF2F7"/>
                </a:solidFill>
                <a:latin typeface="Calibri" pitchFamily="34" charset="0"/>
                <a:ea typeface="Calibri" pitchFamily="34" charset="-122"/>
                <a:cs typeface="Calibri" pitchFamily="34" charset="-120"/>
              </a:rPr>
              <a:t>NameNode tra Metadata, trả về danh sách block &amp; IP DataNode gần Client nhất.</a:t>
            </a:r>
            <a:endParaRPr lang="en-US" sz="1100" dirty="0"/>
          </a:p>
        </p:txBody>
      </p:sp>
      <p:sp>
        <p:nvSpPr>
          <p:cNvPr id="13" name="Shape 11"/>
          <p:cNvSpPr/>
          <p:nvPr/>
        </p:nvSpPr>
        <p:spPr>
          <a:xfrm>
            <a:off x="5975604" y="2834640"/>
            <a:ext cx="237744" cy="274320"/>
          </a:xfrm>
          <a:prstGeom prst="rightArrow">
            <a:avLst/>
          </a:prstGeom>
          <a:solidFill>
            <a:srgbClr val="AEC6D6"/>
          </a:solidFill>
          <a:ln/>
        </p:spPr>
      </p:sp>
      <p:sp>
        <p:nvSpPr>
          <p:cNvPr id="14" name="Shape 12"/>
          <p:cNvSpPr/>
          <p:nvPr/>
        </p:nvSpPr>
        <p:spPr>
          <a:xfrm>
            <a:off x="6231636" y="1874520"/>
            <a:ext cx="2567178" cy="2286000"/>
          </a:xfrm>
          <a:prstGeom prst="roundRect">
            <a:avLst>
              <a:gd name="adj" fmla="val 4000"/>
            </a:avLst>
          </a:prstGeom>
          <a:solidFill>
            <a:srgbClr val="065A82"/>
          </a:solidFill>
          <a:ln/>
        </p:spPr>
      </p:sp>
      <p:sp>
        <p:nvSpPr>
          <p:cNvPr id="15" name="Text 13"/>
          <p:cNvSpPr txBox="1"/>
          <p:nvPr/>
        </p:nvSpPr>
        <p:spPr>
          <a:xfrm>
            <a:off x="6460236" y="2057400"/>
            <a:ext cx="640080" cy="548640"/>
          </a:xfrm>
          <a:prstGeom prst="rect">
            <a:avLst/>
          </a:prstGeom>
          <a:noFill/>
          <a:ln/>
        </p:spPr>
        <p:txBody>
          <a:bodyPr wrap="square" lIns="0" tIns="0" rIns="0" bIns="0" rtlCol="0" anchor="ctr"/>
          <a:lstStyle/>
          <a:p>
            <a:pPr marL="0" indent="0">
              <a:buNone/>
            </a:pPr>
            <a:r>
              <a:rPr lang="en-US" sz="3000" b="1" dirty="0">
                <a:solidFill>
                  <a:srgbClr val="FFFFFF"/>
                </a:solidFill>
                <a:latin typeface="Times New Roman" pitchFamily="34" charset="0"/>
                <a:ea typeface="Times New Roman" pitchFamily="34" charset="-122"/>
                <a:cs typeface="Times New Roman" pitchFamily="34" charset="-120"/>
              </a:rPr>
              <a:t>3</a:t>
            </a:r>
            <a:endParaRPr lang="en-US" sz="3000" dirty="0"/>
          </a:p>
        </p:txBody>
      </p:sp>
      <p:sp>
        <p:nvSpPr>
          <p:cNvPr id="16" name="Text 14"/>
          <p:cNvSpPr txBox="1"/>
          <p:nvPr/>
        </p:nvSpPr>
        <p:spPr>
          <a:xfrm>
            <a:off x="6460236" y="2697480"/>
            <a:ext cx="2109978"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Kết nối trực tiếp</a:t>
            </a:r>
            <a:endParaRPr lang="en-US" sz="1400" dirty="0"/>
          </a:p>
        </p:txBody>
      </p:sp>
      <p:sp>
        <p:nvSpPr>
          <p:cNvPr id="17" name="Text 15"/>
          <p:cNvSpPr txBox="1"/>
          <p:nvPr/>
        </p:nvSpPr>
        <p:spPr>
          <a:xfrm>
            <a:off x="6460236" y="3063240"/>
            <a:ext cx="2109978" cy="1005840"/>
          </a:xfrm>
          <a:prstGeom prst="rect">
            <a:avLst/>
          </a:prstGeom>
          <a:noFill/>
          <a:ln/>
        </p:spPr>
        <p:txBody>
          <a:bodyPr wrap="square" lIns="0" tIns="0" rIns="0" bIns="0" rtlCol="0" anchor="ctr"/>
          <a:lstStyle/>
          <a:p>
            <a:pPr marL="0" indent="0">
              <a:lnSpc>
                <a:spcPct val="120000"/>
              </a:lnSpc>
              <a:buNone/>
            </a:pPr>
            <a:r>
              <a:rPr lang="en-US" sz="1100" dirty="0">
                <a:solidFill>
                  <a:srgbClr val="EAF2F7"/>
                </a:solidFill>
                <a:latin typeface="Calibri" pitchFamily="34" charset="0"/>
                <a:ea typeface="Calibri" pitchFamily="34" charset="-122"/>
                <a:cs typeface="Calibri" pitchFamily="34" charset="-120"/>
              </a:rPr>
              <a:t>Client kết nối thẳng đến DataNode để đọc — không qua NameNode.</a:t>
            </a:r>
            <a:endParaRPr lang="en-US" sz="1100" dirty="0"/>
          </a:p>
        </p:txBody>
      </p:sp>
      <p:sp>
        <p:nvSpPr>
          <p:cNvPr id="18" name="Shape 16"/>
          <p:cNvSpPr/>
          <p:nvPr/>
        </p:nvSpPr>
        <p:spPr>
          <a:xfrm>
            <a:off x="8817102" y="2834640"/>
            <a:ext cx="237744" cy="274320"/>
          </a:xfrm>
          <a:prstGeom prst="rightArrow">
            <a:avLst/>
          </a:prstGeom>
          <a:solidFill>
            <a:srgbClr val="AEC6D6"/>
          </a:solidFill>
          <a:ln/>
        </p:spPr>
      </p:sp>
      <p:sp>
        <p:nvSpPr>
          <p:cNvPr id="19" name="Shape 17"/>
          <p:cNvSpPr/>
          <p:nvPr/>
        </p:nvSpPr>
        <p:spPr>
          <a:xfrm>
            <a:off x="9073134" y="1874520"/>
            <a:ext cx="2567178" cy="2286000"/>
          </a:xfrm>
          <a:prstGeom prst="roundRect">
            <a:avLst>
              <a:gd name="adj" fmla="val 4000"/>
            </a:avLst>
          </a:prstGeom>
          <a:solidFill>
            <a:srgbClr val="1C7293"/>
          </a:solidFill>
          <a:ln/>
        </p:spPr>
      </p:sp>
      <p:sp>
        <p:nvSpPr>
          <p:cNvPr id="20" name="Text 18"/>
          <p:cNvSpPr txBox="1"/>
          <p:nvPr/>
        </p:nvSpPr>
        <p:spPr>
          <a:xfrm>
            <a:off x="9301734" y="2057400"/>
            <a:ext cx="640080" cy="548640"/>
          </a:xfrm>
          <a:prstGeom prst="rect">
            <a:avLst/>
          </a:prstGeom>
          <a:noFill/>
          <a:ln/>
        </p:spPr>
        <p:txBody>
          <a:bodyPr wrap="square" lIns="0" tIns="0" rIns="0" bIns="0" rtlCol="0" anchor="ctr"/>
          <a:lstStyle/>
          <a:p>
            <a:pPr marL="0" indent="0">
              <a:buNone/>
            </a:pPr>
            <a:r>
              <a:rPr lang="en-US" sz="3000" b="1" dirty="0">
                <a:solidFill>
                  <a:srgbClr val="FFFFFF"/>
                </a:solidFill>
                <a:latin typeface="Times New Roman" pitchFamily="34" charset="0"/>
                <a:ea typeface="Times New Roman" pitchFamily="34" charset="-122"/>
                <a:cs typeface="Times New Roman" pitchFamily="34" charset="-120"/>
              </a:rPr>
              <a:t>4</a:t>
            </a:r>
            <a:endParaRPr lang="en-US" sz="3000" dirty="0"/>
          </a:p>
        </p:txBody>
      </p:sp>
      <p:sp>
        <p:nvSpPr>
          <p:cNvPr id="21" name="Text 19"/>
          <p:cNvSpPr txBox="1"/>
          <p:nvPr/>
        </p:nvSpPr>
        <p:spPr>
          <a:xfrm>
            <a:off x="9301734" y="2697480"/>
            <a:ext cx="2109978"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Chuyển tiếp</a:t>
            </a:r>
            <a:endParaRPr lang="en-US" sz="1400" dirty="0"/>
          </a:p>
        </p:txBody>
      </p:sp>
      <p:sp>
        <p:nvSpPr>
          <p:cNvPr id="22" name="Text 20"/>
          <p:cNvSpPr txBox="1"/>
          <p:nvPr/>
        </p:nvSpPr>
        <p:spPr>
          <a:xfrm>
            <a:off x="9301734" y="3063240"/>
            <a:ext cx="2109978" cy="1005840"/>
          </a:xfrm>
          <a:prstGeom prst="rect">
            <a:avLst/>
          </a:prstGeom>
          <a:noFill/>
          <a:ln/>
        </p:spPr>
        <p:txBody>
          <a:bodyPr wrap="square" lIns="0" tIns="0" rIns="0" bIns="0" rtlCol="0" anchor="ctr"/>
          <a:lstStyle/>
          <a:p>
            <a:pPr marL="0" indent="0">
              <a:lnSpc>
                <a:spcPct val="120000"/>
              </a:lnSpc>
              <a:buNone/>
            </a:pPr>
            <a:r>
              <a:rPr lang="en-US" sz="1100" dirty="0">
                <a:solidFill>
                  <a:srgbClr val="EAF2F7"/>
                </a:solidFill>
                <a:latin typeface="Calibri" pitchFamily="34" charset="0"/>
                <a:ea typeface="Calibri" pitchFamily="34" charset="-122"/>
                <a:cs typeface="Calibri" pitchFamily="34" charset="-120"/>
              </a:rPr>
              <a:t>Đọc hết 1 block, Client tự động chuyển sang DataNode tiếp theo.</a:t>
            </a:r>
            <a:endParaRPr lang="en-US" sz="1100" dirty="0"/>
          </a:p>
        </p:txBody>
      </p:sp>
      <p:sp>
        <p:nvSpPr>
          <p:cNvPr id="23" name="Shape 21"/>
          <p:cNvSpPr/>
          <p:nvPr/>
        </p:nvSpPr>
        <p:spPr>
          <a:xfrm>
            <a:off x="548640" y="4480560"/>
            <a:ext cx="11091672" cy="1417320"/>
          </a:xfrm>
          <a:prstGeom prst="roundRect">
            <a:avLst>
              <a:gd name="adj" fmla="val 6452"/>
            </a:avLst>
          </a:prstGeom>
          <a:solidFill>
            <a:srgbClr val="EAF2F7"/>
          </a:solidFill>
          <a:ln/>
        </p:spPr>
      </p:sp>
      <p:sp>
        <p:nvSpPr>
          <p:cNvPr id="24" name="Text 22"/>
          <p:cNvSpPr txBox="1"/>
          <p:nvPr/>
        </p:nvSpPr>
        <p:spPr>
          <a:xfrm>
            <a:off x="868680" y="4645152"/>
            <a:ext cx="1828800" cy="256032"/>
          </a:xfrm>
          <a:prstGeom prst="rect">
            <a:avLst/>
          </a:prstGeom>
          <a:noFill/>
          <a:ln/>
        </p:spPr>
        <p:txBody>
          <a:bodyPr wrap="square" lIns="0" tIns="0" rIns="0" bIns="0"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VÍ DỤ</a:t>
            </a:r>
            <a:endParaRPr lang="en-US" sz="1050" dirty="0"/>
          </a:p>
        </p:txBody>
      </p:sp>
      <p:sp>
        <p:nvSpPr>
          <p:cNvPr id="25" name="Text 23"/>
          <p:cNvSpPr txBox="1"/>
          <p:nvPr/>
        </p:nvSpPr>
        <p:spPr>
          <a:xfrm>
            <a:off x="868680" y="4937760"/>
            <a:ext cx="10451592" cy="868680"/>
          </a:xfrm>
          <a:prstGeom prst="rect">
            <a:avLst/>
          </a:prstGeom>
          <a:noFill/>
          <a:ln/>
        </p:spPr>
        <p:txBody>
          <a:bodyPr wrap="square" lIns="0" tIns="0" rIns="0" bIns="0" rtlCol="0" anchor="ctr"/>
          <a:lstStyle/>
          <a:p>
            <a:pPr marL="0" indent="0">
              <a:lnSpc>
                <a:spcPct val="125000"/>
              </a:lnSpc>
              <a:buNone/>
            </a:pPr>
            <a:r>
              <a:rPr lang="en-US" sz="1300" dirty="0">
                <a:solidFill>
                  <a:srgbClr val="21295C"/>
                </a:solidFill>
                <a:latin typeface="Calibri" pitchFamily="34" charset="0"/>
                <a:ea typeface="Calibri" pitchFamily="34" charset="-122"/>
                <a:cs typeface="Calibri" pitchFamily="34" charset="-120"/>
              </a:rPr>
              <a:t>File report.csv có Block A ở Node 1 và Block B ở Node 4. Client hỏi NameNode đúng một lần, sau đó tự kéo byte từ Node 1 rồi đến Node 4 — NameNode không bị nghẽn cổ chai (bottleneck).</a:t>
            </a:r>
            <a:endParaRPr lang="en-US" sz="1300" dirty="0"/>
          </a:p>
        </p:txBody>
      </p:sp>
      <p:sp>
        <p:nvSpPr>
          <p:cNvPr id="26" name="Text 24"/>
          <p:cNvSpPr txBox="1"/>
          <p:nvPr/>
        </p:nvSpPr>
        <p:spPr>
          <a:xfrm>
            <a:off x="548640" y="6473952"/>
            <a:ext cx="3657600" cy="274320"/>
          </a:xfrm>
          <a:prstGeom prst="rect">
            <a:avLst/>
          </a:prstGeom>
          <a:noFill/>
          <a:ln/>
        </p:spPr>
        <p:txBody>
          <a:bodyPr wrap="square" lIns="0" tIns="0" rIns="0" bIns="0" rtlCol="0" anchor="ctr"/>
          <a:lstStyle/>
          <a:p>
            <a:pPr marL="0" indent="0" algn="l">
              <a:buNone/>
            </a:pPr>
            <a:r>
              <a:rPr lang="en-US" sz="900" dirty="0">
                <a:solidFill>
                  <a:srgbClr val="6B7788"/>
                </a:solidFill>
                <a:latin typeface="Calibri" pitchFamily="34" charset="0"/>
                <a:ea typeface="Calibri" pitchFamily="34" charset="-122"/>
                <a:cs typeface="Calibri" pitchFamily="34" charset="-120"/>
              </a:rPr>
              <a:t>APACHE HDFS  ·  BIG DATA</a:t>
            </a:r>
            <a:endParaRPr lang="en-US" sz="900" dirty="0"/>
          </a:p>
        </p:txBody>
      </p:sp>
      <p:sp>
        <p:nvSpPr>
          <p:cNvPr id="27" name="Text 25"/>
          <p:cNvSpPr txBox="1"/>
          <p:nvPr/>
        </p:nvSpPr>
        <p:spPr>
          <a:xfrm>
            <a:off x="11228832" y="6473952"/>
            <a:ext cx="411480" cy="274320"/>
          </a:xfrm>
          <a:prstGeom prst="rect">
            <a:avLst/>
          </a:prstGeom>
          <a:noFill/>
          <a:ln/>
        </p:spPr>
        <p:txBody>
          <a:bodyPr wrap="square" lIns="0" tIns="0" rIns="0" bIns="0" rtlCol="0" anchor="ctr"/>
          <a:lstStyle/>
          <a:p>
            <a:pPr marL="0" indent="0" algn="r">
              <a:buNone/>
            </a:pPr>
            <a:r>
              <a:rPr lang="en-US" sz="900" dirty="0">
                <a:solidFill>
                  <a:srgbClr val="6B7788"/>
                </a:solidFill>
                <a:latin typeface="Calibri" pitchFamily="34" charset="0"/>
                <a:ea typeface="Calibri" pitchFamily="34" charset="-122"/>
                <a:cs typeface="Calibri" pitchFamily="34" charset="-120"/>
              </a:rPr>
              <a:t>11</a:t>
            </a:r>
            <a:endParaRPr lang="en-US" sz="900" dirty="0"/>
          </a:p>
        </p:txBody>
      </p:sp>
      <p:sp>
        <p:nvSpPr>
          <p:cNvPr id="28" name="Shape 26"/>
          <p:cNvSpPr/>
          <p:nvPr/>
        </p:nvSpPr>
        <p:spPr>
          <a:xfrm>
            <a:off x="10543032" y="6473952"/>
            <a:ext cx="146304" cy="146304"/>
          </a:xfrm>
          <a:prstGeom prst="roundRect">
            <a:avLst>
              <a:gd name="adj" fmla="val 18750"/>
            </a:avLst>
          </a:prstGeom>
          <a:solidFill>
            <a:srgbClr val="065A82"/>
          </a:solidFill>
          <a:ln/>
        </p:spPr>
      </p:sp>
      <p:sp>
        <p:nvSpPr>
          <p:cNvPr id="29" name="Shape 27"/>
          <p:cNvSpPr/>
          <p:nvPr/>
        </p:nvSpPr>
        <p:spPr>
          <a:xfrm>
            <a:off x="10744200" y="6473952"/>
            <a:ext cx="146304" cy="146304"/>
          </a:xfrm>
          <a:prstGeom prst="roundRect">
            <a:avLst>
              <a:gd name="adj" fmla="val 18750"/>
            </a:avLst>
          </a:prstGeom>
          <a:solidFill>
            <a:srgbClr val="1C7293"/>
          </a:solidFill>
          <a:ln/>
        </p:spPr>
      </p:sp>
      <p:sp>
        <p:nvSpPr>
          <p:cNvPr id="30" name="Shape 28"/>
          <p:cNvSpPr/>
          <p:nvPr/>
        </p:nvSpPr>
        <p:spPr>
          <a:xfrm>
            <a:off x="10945368" y="6473952"/>
            <a:ext cx="146304" cy="146304"/>
          </a:xfrm>
          <a:prstGeom prst="roundRect">
            <a:avLst>
              <a:gd name="adj" fmla="val 18750"/>
            </a:avLst>
          </a:prstGeom>
          <a:solidFill>
            <a:srgbClr val="21295C"/>
          </a:solid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292608"/>
          </a:xfrm>
          <a:prstGeom prst="rect">
            <a:avLst/>
          </a:prstGeom>
          <a:noFill/>
          <a:ln/>
        </p:spPr>
        <p:txBody>
          <a:bodyPr wrap="square" lIns="0" tIns="0" rIns="0" bIns="0" rtlCol="0" anchor="ctr"/>
          <a:lstStyle/>
          <a:p>
            <a:pPr marL="0" indent="0">
              <a:buNone/>
            </a:pPr>
            <a:r>
              <a:rPr lang="en-US" sz="1300" b="1" kern="0" spc="150" dirty="0">
                <a:solidFill>
                  <a:srgbClr val="1C7293"/>
                </a:solidFill>
                <a:latin typeface="Calibri" pitchFamily="34" charset="0"/>
                <a:ea typeface="Calibri" pitchFamily="34" charset="-122"/>
                <a:cs typeface="Calibri" pitchFamily="34" charset="-120"/>
              </a:rPr>
              <a:t>Quy trình vận hành</a:t>
            </a:r>
            <a:endParaRPr lang="en-US" sz="1300" dirty="0"/>
          </a:p>
        </p:txBody>
      </p:sp>
      <p:sp>
        <p:nvSpPr>
          <p:cNvPr id="3" name="Text 1"/>
          <p:cNvSpPr txBox="1"/>
          <p:nvPr/>
        </p:nvSpPr>
        <p:spPr>
          <a:xfrm>
            <a:off x="548640" y="658368"/>
            <a:ext cx="11091672" cy="822960"/>
          </a:xfrm>
          <a:prstGeom prst="rect">
            <a:avLst/>
          </a:prstGeom>
          <a:noFill/>
          <a:ln/>
        </p:spPr>
        <p:txBody>
          <a:bodyPr wrap="square" lIns="0" tIns="0" rIns="0" bIns="0" rtlCol="0" anchor="t"/>
          <a:lstStyle/>
          <a:p>
            <a:pPr marL="0" indent="0">
              <a:buNone/>
            </a:pPr>
            <a:r>
              <a:rPr lang="en-US" sz="2800" b="1" dirty="0">
                <a:solidFill>
                  <a:srgbClr val="21295C"/>
                </a:solidFill>
                <a:latin typeface="Times New Roman" pitchFamily="34" charset="0"/>
                <a:ea typeface="Times New Roman" pitchFamily="34" charset="-122"/>
                <a:cs typeface="Times New Roman" pitchFamily="34" charset="-120"/>
              </a:rPr>
              <a:t>Quy Trình Ghi Dữ Liệu Theo Đường Ống (Write Pipeline)</a:t>
            </a:r>
            <a:endParaRPr lang="en-US" sz="2800" dirty="0"/>
          </a:p>
        </p:txBody>
      </p:sp>
      <p:sp>
        <p:nvSpPr>
          <p:cNvPr id="4" name="Text 2"/>
          <p:cNvSpPr txBox="1"/>
          <p:nvPr/>
        </p:nvSpPr>
        <p:spPr>
          <a:xfrm>
            <a:off x="548640" y="1691640"/>
            <a:ext cx="11091672" cy="502920"/>
          </a:xfrm>
          <a:prstGeom prst="rect">
            <a:avLst/>
          </a:prstGeom>
          <a:noFill/>
          <a:ln/>
        </p:spPr>
        <p:txBody>
          <a:bodyPr wrap="square" lIns="0" tIns="0" rIns="0" bIns="0" rtlCol="0" anchor="ctr"/>
          <a:lstStyle/>
          <a:p>
            <a:pPr marL="0" indent="0">
              <a:lnSpc>
                <a:spcPct val="120000"/>
              </a:lnSpc>
              <a:buNone/>
            </a:pPr>
            <a:r>
              <a:rPr lang="en-US" sz="1300" dirty="0">
                <a:solidFill>
                  <a:srgbClr val="6B7788"/>
                </a:solidFill>
                <a:latin typeface="Calibri" pitchFamily="34" charset="0"/>
                <a:ea typeface="Calibri" pitchFamily="34" charset="-122"/>
                <a:cs typeface="Calibri" pitchFamily="34" charset="-120"/>
              </a:rPr>
              <a:t>Client tạo file mới → NameNode cấp danh sách 3 DataNode (A, B, C) → dữ liệu chia thành gói tin (Packets ~64 KB) và truyền theo đường ống:</a:t>
            </a:r>
            <a:endParaRPr lang="en-US" sz="1300" dirty="0"/>
          </a:p>
        </p:txBody>
      </p:sp>
      <p:sp>
        <p:nvSpPr>
          <p:cNvPr id="5" name="Shape 3"/>
          <p:cNvSpPr/>
          <p:nvPr/>
        </p:nvSpPr>
        <p:spPr>
          <a:xfrm>
            <a:off x="548640" y="2514600"/>
            <a:ext cx="1828800" cy="777240"/>
          </a:xfrm>
          <a:prstGeom prst="roundRect">
            <a:avLst>
              <a:gd name="adj" fmla="val 9412"/>
            </a:avLst>
          </a:prstGeom>
          <a:solidFill>
            <a:srgbClr val="21295C"/>
          </a:solidFill>
          <a:ln/>
        </p:spPr>
      </p:sp>
      <p:sp>
        <p:nvSpPr>
          <p:cNvPr id="6" name="Text 4"/>
          <p:cNvSpPr txBox="1"/>
          <p:nvPr/>
        </p:nvSpPr>
        <p:spPr>
          <a:xfrm>
            <a:off x="548640" y="2514600"/>
            <a:ext cx="1828800"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Client</a:t>
            </a:r>
            <a:endParaRPr lang="en-US" sz="1500" dirty="0"/>
          </a:p>
        </p:txBody>
      </p:sp>
      <p:sp>
        <p:nvSpPr>
          <p:cNvPr id="7" name="Shape 5"/>
          <p:cNvSpPr/>
          <p:nvPr/>
        </p:nvSpPr>
        <p:spPr>
          <a:xfrm>
            <a:off x="2686812" y="2761488"/>
            <a:ext cx="640080" cy="274320"/>
          </a:xfrm>
          <a:prstGeom prst="rightArrow">
            <a:avLst/>
          </a:prstGeom>
          <a:solidFill>
            <a:srgbClr val="1C7293"/>
          </a:solidFill>
          <a:ln/>
        </p:spPr>
      </p:sp>
      <p:sp>
        <p:nvSpPr>
          <p:cNvPr id="8" name="Shape 6"/>
          <p:cNvSpPr/>
          <p:nvPr/>
        </p:nvSpPr>
        <p:spPr>
          <a:xfrm>
            <a:off x="3636264" y="2514600"/>
            <a:ext cx="1828800" cy="777240"/>
          </a:xfrm>
          <a:prstGeom prst="roundRect">
            <a:avLst>
              <a:gd name="adj" fmla="val 9412"/>
            </a:avLst>
          </a:prstGeom>
          <a:solidFill>
            <a:srgbClr val="065A82"/>
          </a:solidFill>
          <a:ln/>
        </p:spPr>
      </p:sp>
      <p:sp>
        <p:nvSpPr>
          <p:cNvPr id="9" name="Text 7"/>
          <p:cNvSpPr txBox="1"/>
          <p:nvPr/>
        </p:nvSpPr>
        <p:spPr>
          <a:xfrm>
            <a:off x="3636264" y="2514600"/>
            <a:ext cx="1828800"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Node A</a:t>
            </a:r>
            <a:endParaRPr lang="en-US" sz="1500" dirty="0"/>
          </a:p>
        </p:txBody>
      </p:sp>
      <p:sp>
        <p:nvSpPr>
          <p:cNvPr id="10" name="Shape 8"/>
          <p:cNvSpPr/>
          <p:nvPr/>
        </p:nvSpPr>
        <p:spPr>
          <a:xfrm>
            <a:off x="5774436" y="2761488"/>
            <a:ext cx="640080" cy="274320"/>
          </a:xfrm>
          <a:prstGeom prst="rightArrow">
            <a:avLst/>
          </a:prstGeom>
          <a:solidFill>
            <a:srgbClr val="1C7293"/>
          </a:solidFill>
          <a:ln/>
        </p:spPr>
      </p:sp>
      <p:sp>
        <p:nvSpPr>
          <p:cNvPr id="11" name="Shape 9"/>
          <p:cNvSpPr/>
          <p:nvPr/>
        </p:nvSpPr>
        <p:spPr>
          <a:xfrm>
            <a:off x="6723888" y="2514600"/>
            <a:ext cx="1828800" cy="777240"/>
          </a:xfrm>
          <a:prstGeom prst="roundRect">
            <a:avLst>
              <a:gd name="adj" fmla="val 9412"/>
            </a:avLst>
          </a:prstGeom>
          <a:solidFill>
            <a:srgbClr val="065A82"/>
          </a:solidFill>
          <a:ln/>
        </p:spPr>
      </p:sp>
      <p:sp>
        <p:nvSpPr>
          <p:cNvPr id="12" name="Text 10"/>
          <p:cNvSpPr txBox="1"/>
          <p:nvPr/>
        </p:nvSpPr>
        <p:spPr>
          <a:xfrm>
            <a:off x="6723888" y="2514600"/>
            <a:ext cx="1828800"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Node B</a:t>
            </a:r>
            <a:endParaRPr lang="en-US" sz="1500" dirty="0"/>
          </a:p>
        </p:txBody>
      </p:sp>
      <p:sp>
        <p:nvSpPr>
          <p:cNvPr id="13" name="Shape 11"/>
          <p:cNvSpPr/>
          <p:nvPr/>
        </p:nvSpPr>
        <p:spPr>
          <a:xfrm>
            <a:off x="8862060" y="2761488"/>
            <a:ext cx="640080" cy="274320"/>
          </a:xfrm>
          <a:prstGeom prst="rightArrow">
            <a:avLst/>
          </a:prstGeom>
          <a:solidFill>
            <a:srgbClr val="1C7293"/>
          </a:solidFill>
          <a:ln/>
        </p:spPr>
      </p:sp>
      <p:sp>
        <p:nvSpPr>
          <p:cNvPr id="14" name="Shape 12"/>
          <p:cNvSpPr/>
          <p:nvPr/>
        </p:nvSpPr>
        <p:spPr>
          <a:xfrm>
            <a:off x="9811512" y="2514600"/>
            <a:ext cx="1828800" cy="777240"/>
          </a:xfrm>
          <a:prstGeom prst="roundRect">
            <a:avLst>
              <a:gd name="adj" fmla="val 9412"/>
            </a:avLst>
          </a:prstGeom>
          <a:solidFill>
            <a:srgbClr val="065A82"/>
          </a:solidFill>
          <a:ln/>
        </p:spPr>
      </p:sp>
      <p:sp>
        <p:nvSpPr>
          <p:cNvPr id="15" name="Text 13"/>
          <p:cNvSpPr txBox="1"/>
          <p:nvPr/>
        </p:nvSpPr>
        <p:spPr>
          <a:xfrm>
            <a:off x="9811512" y="2514600"/>
            <a:ext cx="1828800"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Node C</a:t>
            </a:r>
            <a:endParaRPr lang="en-US" sz="1500" dirty="0"/>
          </a:p>
        </p:txBody>
      </p:sp>
      <p:sp>
        <p:nvSpPr>
          <p:cNvPr id="16" name="Text 14"/>
          <p:cNvSpPr txBox="1"/>
          <p:nvPr/>
        </p:nvSpPr>
        <p:spPr>
          <a:xfrm>
            <a:off x="548640" y="3429000"/>
            <a:ext cx="11091672" cy="320040"/>
          </a:xfrm>
          <a:prstGeom prst="rect">
            <a:avLst/>
          </a:prstGeom>
          <a:noFill/>
          <a:ln/>
        </p:spPr>
        <p:txBody>
          <a:bodyPr wrap="square" lIns="0" tIns="0" rIns="0" bIns="0" rtlCol="0" anchor="ctr"/>
          <a:lstStyle/>
          <a:p>
            <a:pPr marL="0" indent="0" algn="ctr">
              <a:buNone/>
            </a:pPr>
            <a:r>
              <a:rPr lang="en-US" sz="1200" i="1" dirty="0">
                <a:solidFill>
                  <a:srgbClr val="1C7293"/>
                </a:solidFill>
                <a:latin typeface="Calibri" pitchFamily="34" charset="0"/>
                <a:ea typeface="Calibri" pitchFamily="34" charset="-122"/>
                <a:cs typeface="Calibri" pitchFamily="34" charset="-120"/>
              </a:rPr>
              <a:t>Ack (xác nhận) →  ngược lại  C → B → A → Client cho từng gói tin</a:t>
            </a:r>
            <a:endParaRPr lang="en-US" sz="1200" dirty="0"/>
          </a:p>
        </p:txBody>
      </p:sp>
      <p:sp>
        <p:nvSpPr>
          <p:cNvPr id="17" name="Shape 15"/>
          <p:cNvSpPr/>
          <p:nvPr/>
        </p:nvSpPr>
        <p:spPr>
          <a:xfrm>
            <a:off x="548640" y="4251960"/>
            <a:ext cx="329184" cy="329184"/>
          </a:xfrm>
          <a:prstGeom prst="ellipse">
            <a:avLst/>
          </a:prstGeom>
          <a:solidFill>
            <a:srgbClr val="1C7293"/>
          </a:solidFill>
          <a:ln/>
        </p:spPr>
      </p:sp>
      <p:sp>
        <p:nvSpPr>
          <p:cNvPr id="18" name="Text 16"/>
          <p:cNvSpPr txBox="1"/>
          <p:nvPr/>
        </p:nvSpPr>
        <p:spPr>
          <a:xfrm>
            <a:off x="548640" y="4251960"/>
            <a:ext cx="329184" cy="329184"/>
          </a:xfrm>
          <a:prstGeom prst="rect">
            <a:avLst/>
          </a:prstGeom>
          <a:noFill/>
          <a:ln/>
        </p:spPr>
        <p:txBody>
          <a:bodyPr wrap="square" lIns="0" tIns="0" rIns="0" bIns="0" rtlCol="0" anchor="ctr"/>
          <a:lstStyle/>
          <a:p>
            <a:pPr marL="0" indent="0" algn="ctr">
              <a:buNone/>
            </a:pPr>
            <a:r>
              <a:rPr lang="en-US" sz="1080" b="1" dirty="0">
                <a:solidFill>
                  <a:srgbClr val="FFFFFF"/>
                </a:solidFill>
                <a:latin typeface="Calibri" pitchFamily="34" charset="0"/>
                <a:ea typeface="Calibri" pitchFamily="34" charset="-122"/>
                <a:cs typeface="Calibri" pitchFamily="34" charset="-120"/>
              </a:rPr>
              <a:t>1</a:t>
            </a:r>
            <a:endParaRPr lang="en-US" sz="1080" dirty="0"/>
          </a:p>
        </p:txBody>
      </p:sp>
      <p:sp>
        <p:nvSpPr>
          <p:cNvPr id="19" name="Text 17"/>
          <p:cNvSpPr txBox="1"/>
          <p:nvPr/>
        </p:nvSpPr>
        <p:spPr>
          <a:xfrm>
            <a:off x="1005840" y="4215384"/>
            <a:ext cx="4905756" cy="685800"/>
          </a:xfrm>
          <a:prstGeom prst="rect">
            <a:avLst/>
          </a:prstGeom>
          <a:noFill/>
          <a:ln/>
        </p:spPr>
        <p:txBody>
          <a:bodyPr wrap="square" lIns="0" tIns="0" rIns="0" bIns="0" rtlCol="0" anchor="ctr"/>
          <a:lstStyle/>
          <a:p>
            <a:pPr marL="0" indent="0">
              <a:lnSpc>
                <a:spcPct val="115000"/>
              </a:lnSpc>
              <a:buNone/>
            </a:pPr>
            <a:r>
              <a:rPr lang="en-US" sz="1150" dirty="0">
                <a:solidFill>
                  <a:srgbClr val="1A2233"/>
                </a:solidFill>
                <a:latin typeface="Calibri" pitchFamily="34" charset="0"/>
                <a:ea typeface="Calibri" pitchFamily="34" charset="-122"/>
                <a:cs typeface="Calibri" pitchFamily="34" charset="-120"/>
              </a:rPr>
              <a:t>Client yêu cầu NameNode tạo file mới; NameNode kiểm tra quyền và cấp quyền ghi.</a:t>
            </a:r>
            <a:endParaRPr lang="en-US" sz="1150" dirty="0"/>
          </a:p>
        </p:txBody>
      </p:sp>
      <p:sp>
        <p:nvSpPr>
          <p:cNvPr id="20" name="Shape 18"/>
          <p:cNvSpPr/>
          <p:nvPr/>
        </p:nvSpPr>
        <p:spPr>
          <a:xfrm>
            <a:off x="6277356" y="4251960"/>
            <a:ext cx="329184" cy="329184"/>
          </a:xfrm>
          <a:prstGeom prst="ellipse">
            <a:avLst/>
          </a:prstGeom>
          <a:solidFill>
            <a:srgbClr val="1C7293"/>
          </a:solidFill>
          <a:ln/>
        </p:spPr>
      </p:sp>
      <p:sp>
        <p:nvSpPr>
          <p:cNvPr id="21" name="Text 19"/>
          <p:cNvSpPr txBox="1"/>
          <p:nvPr/>
        </p:nvSpPr>
        <p:spPr>
          <a:xfrm>
            <a:off x="6277356" y="4251960"/>
            <a:ext cx="329184" cy="329184"/>
          </a:xfrm>
          <a:prstGeom prst="rect">
            <a:avLst/>
          </a:prstGeom>
          <a:noFill/>
          <a:ln/>
        </p:spPr>
        <p:txBody>
          <a:bodyPr wrap="square" lIns="0" tIns="0" rIns="0" bIns="0" rtlCol="0" anchor="ctr"/>
          <a:lstStyle/>
          <a:p>
            <a:pPr marL="0" indent="0" algn="ctr">
              <a:buNone/>
            </a:pPr>
            <a:r>
              <a:rPr lang="en-US" sz="1080" b="1" dirty="0">
                <a:solidFill>
                  <a:srgbClr val="FFFFFF"/>
                </a:solidFill>
                <a:latin typeface="Calibri" pitchFamily="34" charset="0"/>
                <a:ea typeface="Calibri" pitchFamily="34" charset="-122"/>
                <a:cs typeface="Calibri" pitchFamily="34" charset="-120"/>
              </a:rPr>
              <a:t>2</a:t>
            </a:r>
            <a:endParaRPr lang="en-US" sz="1080" dirty="0"/>
          </a:p>
        </p:txBody>
      </p:sp>
      <p:sp>
        <p:nvSpPr>
          <p:cNvPr id="22" name="Text 20"/>
          <p:cNvSpPr txBox="1"/>
          <p:nvPr/>
        </p:nvSpPr>
        <p:spPr>
          <a:xfrm>
            <a:off x="6734556" y="4215384"/>
            <a:ext cx="4905756" cy="685800"/>
          </a:xfrm>
          <a:prstGeom prst="rect">
            <a:avLst/>
          </a:prstGeom>
          <a:noFill/>
          <a:ln/>
        </p:spPr>
        <p:txBody>
          <a:bodyPr wrap="square" lIns="0" tIns="0" rIns="0" bIns="0" rtlCol="0" anchor="ctr"/>
          <a:lstStyle/>
          <a:p>
            <a:pPr marL="0" indent="0">
              <a:lnSpc>
                <a:spcPct val="115000"/>
              </a:lnSpc>
              <a:buNone/>
            </a:pPr>
            <a:r>
              <a:rPr lang="en-US" sz="1150" dirty="0">
                <a:solidFill>
                  <a:srgbClr val="1A2233"/>
                </a:solidFill>
                <a:latin typeface="Calibri" pitchFamily="34" charset="0"/>
                <a:ea typeface="Calibri" pitchFamily="34" charset="-122"/>
                <a:cs typeface="Calibri" pitchFamily="34" charset="-120"/>
              </a:rPr>
              <a:t>NameNode cấp danh sách 3 DataNode để lưu trữ (VD: Node A, B, C).</a:t>
            </a:r>
            <a:endParaRPr lang="en-US" sz="1150" dirty="0"/>
          </a:p>
        </p:txBody>
      </p:sp>
      <p:sp>
        <p:nvSpPr>
          <p:cNvPr id="23" name="Shape 21"/>
          <p:cNvSpPr/>
          <p:nvPr/>
        </p:nvSpPr>
        <p:spPr>
          <a:xfrm>
            <a:off x="548640" y="5029200"/>
            <a:ext cx="329184" cy="329184"/>
          </a:xfrm>
          <a:prstGeom prst="ellipse">
            <a:avLst/>
          </a:prstGeom>
          <a:solidFill>
            <a:srgbClr val="1C7293"/>
          </a:solidFill>
          <a:ln/>
        </p:spPr>
      </p:sp>
      <p:sp>
        <p:nvSpPr>
          <p:cNvPr id="24" name="Text 22"/>
          <p:cNvSpPr txBox="1"/>
          <p:nvPr/>
        </p:nvSpPr>
        <p:spPr>
          <a:xfrm>
            <a:off x="548640" y="5029200"/>
            <a:ext cx="329184" cy="329184"/>
          </a:xfrm>
          <a:prstGeom prst="rect">
            <a:avLst/>
          </a:prstGeom>
          <a:noFill/>
          <a:ln/>
        </p:spPr>
        <p:txBody>
          <a:bodyPr wrap="square" lIns="0" tIns="0" rIns="0" bIns="0" rtlCol="0" anchor="ctr"/>
          <a:lstStyle/>
          <a:p>
            <a:pPr marL="0" indent="0" algn="ctr">
              <a:buNone/>
            </a:pPr>
            <a:r>
              <a:rPr lang="en-US" sz="1080" b="1" dirty="0">
                <a:solidFill>
                  <a:srgbClr val="FFFFFF"/>
                </a:solidFill>
                <a:latin typeface="Calibri" pitchFamily="34" charset="0"/>
                <a:ea typeface="Calibri" pitchFamily="34" charset="-122"/>
                <a:cs typeface="Calibri" pitchFamily="34" charset="-120"/>
              </a:rPr>
              <a:t>3</a:t>
            </a:r>
            <a:endParaRPr lang="en-US" sz="1080" dirty="0"/>
          </a:p>
        </p:txBody>
      </p:sp>
      <p:sp>
        <p:nvSpPr>
          <p:cNvPr id="25" name="Text 23"/>
          <p:cNvSpPr txBox="1"/>
          <p:nvPr/>
        </p:nvSpPr>
        <p:spPr>
          <a:xfrm>
            <a:off x="1005840" y="4992624"/>
            <a:ext cx="4905756" cy="685800"/>
          </a:xfrm>
          <a:prstGeom prst="rect">
            <a:avLst/>
          </a:prstGeom>
          <a:noFill/>
          <a:ln/>
        </p:spPr>
        <p:txBody>
          <a:bodyPr wrap="square" lIns="0" tIns="0" rIns="0" bIns="0" rtlCol="0" anchor="ctr"/>
          <a:lstStyle/>
          <a:p>
            <a:pPr marL="0" indent="0">
              <a:lnSpc>
                <a:spcPct val="115000"/>
              </a:lnSpc>
              <a:buNone/>
            </a:pPr>
            <a:r>
              <a:rPr lang="en-US" sz="1150" dirty="0">
                <a:solidFill>
                  <a:srgbClr val="1A2233"/>
                </a:solidFill>
                <a:latin typeface="Calibri" pitchFamily="34" charset="0"/>
                <a:ea typeface="Calibri" pitchFamily="34" charset="-122"/>
                <a:cs typeface="Calibri" pitchFamily="34" charset="-120"/>
              </a:rPr>
              <a:t>Client chia nhỏ block thành các gói tin (Packets, cỡ ~64 KB).</a:t>
            </a:r>
            <a:endParaRPr lang="en-US" sz="1150" dirty="0"/>
          </a:p>
        </p:txBody>
      </p:sp>
      <p:sp>
        <p:nvSpPr>
          <p:cNvPr id="26" name="Shape 24"/>
          <p:cNvSpPr/>
          <p:nvPr/>
        </p:nvSpPr>
        <p:spPr>
          <a:xfrm>
            <a:off x="6277356" y="5029200"/>
            <a:ext cx="329184" cy="329184"/>
          </a:xfrm>
          <a:prstGeom prst="ellipse">
            <a:avLst/>
          </a:prstGeom>
          <a:solidFill>
            <a:srgbClr val="1C7293"/>
          </a:solidFill>
          <a:ln/>
        </p:spPr>
      </p:sp>
      <p:sp>
        <p:nvSpPr>
          <p:cNvPr id="27" name="Text 25"/>
          <p:cNvSpPr txBox="1"/>
          <p:nvPr/>
        </p:nvSpPr>
        <p:spPr>
          <a:xfrm>
            <a:off x="6277356" y="5029200"/>
            <a:ext cx="329184" cy="329184"/>
          </a:xfrm>
          <a:prstGeom prst="rect">
            <a:avLst/>
          </a:prstGeom>
          <a:noFill/>
          <a:ln/>
        </p:spPr>
        <p:txBody>
          <a:bodyPr wrap="square" lIns="0" tIns="0" rIns="0" bIns="0" rtlCol="0" anchor="ctr"/>
          <a:lstStyle/>
          <a:p>
            <a:pPr marL="0" indent="0" algn="ctr">
              <a:buNone/>
            </a:pPr>
            <a:r>
              <a:rPr lang="en-US" sz="1080" b="1" dirty="0">
                <a:solidFill>
                  <a:srgbClr val="FFFFFF"/>
                </a:solidFill>
                <a:latin typeface="Calibri" pitchFamily="34" charset="0"/>
                <a:ea typeface="Calibri" pitchFamily="34" charset="-122"/>
                <a:cs typeface="Calibri" pitchFamily="34" charset="-120"/>
              </a:rPr>
              <a:t>4</a:t>
            </a:r>
            <a:endParaRPr lang="en-US" sz="1080" dirty="0"/>
          </a:p>
        </p:txBody>
      </p:sp>
      <p:sp>
        <p:nvSpPr>
          <p:cNvPr id="28" name="Text 26"/>
          <p:cNvSpPr txBox="1"/>
          <p:nvPr/>
        </p:nvSpPr>
        <p:spPr>
          <a:xfrm>
            <a:off x="6734556" y="4992624"/>
            <a:ext cx="4905756" cy="685800"/>
          </a:xfrm>
          <a:prstGeom prst="rect">
            <a:avLst/>
          </a:prstGeom>
          <a:noFill/>
          <a:ln/>
        </p:spPr>
        <p:txBody>
          <a:bodyPr wrap="square" lIns="0" tIns="0" rIns="0" bIns="0" rtlCol="0" anchor="ctr"/>
          <a:lstStyle/>
          <a:p>
            <a:pPr marL="0" indent="0">
              <a:lnSpc>
                <a:spcPct val="115000"/>
              </a:lnSpc>
              <a:buNone/>
            </a:pPr>
            <a:r>
              <a:rPr lang="en-US" sz="1150" dirty="0">
                <a:solidFill>
                  <a:srgbClr val="1A2233"/>
                </a:solidFill>
                <a:latin typeface="Calibri" pitchFamily="34" charset="0"/>
                <a:ea typeface="Calibri" pitchFamily="34" charset="-122"/>
                <a:cs typeface="Calibri" pitchFamily="34" charset="-120"/>
              </a:rPr>
              <a:t>Đường ống: Client → A → B → C, mỗi node ghi rồi chuyển tiếp ngay.</a:t>
            </a:r>
            <a:endParaRPr lang="en-US" sz="1150" dirty="0"/>
          </a:p>
        </p:txBody>
      </p:sp>
      <p:sp>
        <p:nvSpPr>
          <p:cNvPr id="29" name="Text 27"/>
          <p:cNvSpPr txBox="1"/>
          <p:nvPr/>
        </p:nvSpPr>
        <p:spPr>
          <a:xfrm>
            <a:off x="548640" y="6473952"/>
            <a:ext cx="3657600" cy="274320"/>
          </a:xfrm>
          <a:prstGeom prst="rect">
            <a:avLst/>
          </a:prstGeom>
          <a:noFill/>
          <a:ln/>
        </p:spPr>
        <p:txBody>
          <a:bodyPr wrap="square" lIns="0" tIns="0" rIns="0" bIns="0" rtlCol="0" anchor="ctr"/>
          <a:lstStyle/>
          <a:p>
            <a:pPr marL="0" indent="0" algn="l">
              <a:buNone/>
            </a:pPr>
            <a:r>
              <a:rPr lang="en-US" sz="900" dirty="0">
                <a:solidFill>
                  <a:srgbClr val="6B7788"/>
                </a:solidFill>
                <a:latin typeface="Calibri" pitchFamily="34" charset="0"/>
                <a:ea typeface="Calibri" pitchFamily="34" charset="-122"/>
                <a:cs typeface="Calibri" pitchFamily="34" charset="-120"/>
              </a:rPr>
              <a:t>APACHE HDFS  ·  BIG DATA</a:t>
            </a:r>
            <a:endParaRPr lang="en-US" sz="900" dirty="0"/>
          </a:p>
        </p:txBody>
      </p:sp>
      <p:sp>
        <p:nvSpPr>
          <p:cNvPr id="30" name="Text 28"/>
          <p:cNvSpPr txBox="1"/>
          <p:nvPr/>
        </p:nvSpPr>
        <p:spPr>
          <a:xfrm>
            <a:off x="11228832" y="6473952"/>
            <a:ext cx="411480" cy="274320"/>
          </a:xfrm>
          <a:prstGeom prst="rect">
            <a:avLst/>
          </a:prstGeom>
          <a:noFill/>
          <a:ln/>
        </p:spPr>
        <p:txBody>
          <a:bodyPr wrap="square" lIns="0" tIns="0" rIns="0" bIns="0" rtlCol="0" anchor="ctr"/>
          <a:lstStyle/>
          <a:p>
            <a:pPr marL="0" indent="0" algn="r">
              <a:buNone/>
            </a:pPr>
            <a:r>
              <a:rPr lang="en-US" sz="900" dirty="0">
                <a:solidFill>
                  <a:srgbClr val="6B7788"/>
                </a:solidFill>
                <a:latin typeface="Calibri" pitchFamily="34" charset="0"/>
                <a:ea typeface="Calibri" pitchFamily="34" charset="-122"/>
                <a:cs typeface="Calibri" pitchFamily="34" charset="-120"/>
              </a:rPr>
              <a:t>12</a:t>
            </a:r>
            <a:endParaRPr lang="en-US" sz="900" dirty="0"/>
          </a:p>
        </p:txBody>
      </p:sp>
      <p:sp>
        <p:nvSpPr>
          <p:cNvPr id="31" name="Shape 29"/>
          <p:cNvSpPr/>
          <p:nvPr/>
        </p:nvSpPr>
        <p:spPr>
          <a:xfrm>
            <a:off x="10543032" y="6473952"/>
            <a:ext cx="146304" cy="146304"/>
          </a:xfrm>
          <a:prstGeom prst="roundRect">
            <a:avLst>
              <a:gd name="adj" fmla="val 18750"/>
            </a:avLst>
          </a:prstGeom>
          <a:solidFill>
            <a:srgbClr val="065A82"/>
          </a:solidFill>
          <a:ln/>
        </p:spPr>
      </p:sp>
      <p:sp>
        <p:nvSpPr>
          <p:cNvPr id="32" name="Shape 30"/>
          <p:cNvSpPr/>
          <p:nvPr/>
        </p:nvSpPr>
        <p:spPr>
          <a:xfrm>
            <a:off x="10744200" y="6473952"/>
            <a:ext cx="146304" cy="146304"/>
          </a:xfrm>
          <a:prstGeom prst="roundRect">
            <a:avLst>
              <a:gd name="adj" fmla="val 18750"/>
            </a:avLst>
          </a:prstGeom>
          <a:solidFill>
            <a:srgbClr val="1C7293"/>
          </a:solidFill>
          <a:ln/>
        </p:spPr>
      </p:sp>
      <p:sp>
        <p:nvSpPr>
          <p:cNvPr id="33" name="Shape 31"/>
          <p:cNvSpPr/>
          <p:nvPr/>
        </p:nvSpPr>
        <p:spPr>
          <a:xfrm>
            <a:off x="10945368" y="6473952"/>
            <a:ext cx="146304" cy="146304"/>
          </a:xfrm>
          <a:prstGeom prst="roundRect">
            <a:avLst>
              <a:gd name="adj" fmla="val 18750"/>
            </a:avLst>
          </a:prstGeom>
          <a:solidFill>
            <a:srgbClr val="21295C"/>
          </a:solid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292608"/>
          </a:xfrm>
          <a:prstGeom prst="rect">
            <a:avLst/>
          </a:prstGeom>
          <a:noFill/>
          <a:ln/>
        </p:spPr>
        <p:txBody>
          <a:bodyPr wrap="square" lIns="0" tIns="0" rIns="0" bIns="0" rtlCol="0" anchor="ctr"/>
          <a:lstStyle/>
          <a:p>
            <a:pPr marL="0" indent="0">
              <a:buNone/>
            </a:pPr>
            <a:r>
              <a:rPr lang="en-US" sz="1300" b="1" kern="0" spc="150" dirty="0">
                <a:solidFill>
                  <a:srgbClr val="1C7293"/>
                </a:solidFill>
                <a:latin typeface="Calibri" pitchFamily="34" charset="0"/>
                <a:ea typeface="Calibri" pitchFamily="34" charset="-122"/>
                <a:cs typeface="Calibri" pitchFamily="34" charset="-120"/>
              </a:rPr>
              <a:t>Độ tin cậy</a:t>
            </a:r>
            <a:endParaRPr lang="en-US" sz="1300" dirty="0"/>
          </a:p>
        </p:txBody>
      </p:sp>
      <p:sp>
        <p:nvSpPr>
          <p:cNvPr id="3" name="Text 1"/>
          <p:cNvSpPr txBox="1"/>
          <p:nvPr/>
        </p:nvSpPr>
        <p:spPr>
          <a:xfrm>
            <a:off x="548640" y="658368"/>
            <a:ext cx="11091672" cy="822960"/>
          </a:xfrm>
          <a:prstGeom prst="rect">
            <a:avLst/>
          </a:prstGeom>
          <a:noFill/>
          <a:ln/>
        </p:spPr>
        <p:txBody>
          <a:bodyPr wrap="square" lIns="0" tIns="0" rIns="0" bIns="0" rtlCol="0" anchor="t"/>
          <a:lstStyle/>
          <a:p>
            <a:pPr marL="0" indent="0">
              <a:buNone/>
            </a:pPr>
            <a:r>
              <a:rPr lang="en-US" sz="2800" b="1" dirty="0">
                <a:solidFill>
                  <a:srgbClr val="21295C"/>
                </a:solidFill>
                <a:latin typeface="Times New Roman" pitchFamily="34" charset="0"/>
                <a:ea typeface="Times New Roman" pitchFamily="34" charset="-122"/>
                <a:cs typeface="Times New Roman" pitchFamily="34" charset="-120"/>
              </a:rPr>
              <a:t>Cơ Chế Tự Phục Hồi Dữ Liệu (Fault Tolerance)</a:t>
            </a:r>
            <a:endParaRPr lang="en-US" sz="2800" dirty="0"/>
          </a:p>
        </p:txBody>
      </p:sp>
      <p:sp>
        <p:nvSpPr>
          <p:cNvPr id="4" name="Shape 2"/>
          <p:cNvSpPr/>
          <p:nvPr/>
        </p:nvSpPr>
        <p:spPr>
          <a:xfrm>
            <a:off x="548640" y="1737360"/>
            <a:ext cx="11091672" cy="594360"/>
          </a:xfrm>
          <a:prstGeom prst="roundRect">
            <a:avLst>
              <a:gd name="adj" fmla="val 12308"/>
            </a:avLst>
          </a:prstGeom>
          <a:solidFill>
            <a:srgbClr val="F7E7E5"/>
          </a:solidFill>
          <a:ln/>
        </p:spPr>
      </p:sp>
      <p:sp>
        <p:nvSpPr>
          <p:cNvPr id="5" name="Text 3"/>
          <p:cNvSpPr txBox="1"/>
          <p:nvPr/>
        </p:nvSpPr>
        <p:spPr>
          <a:xfrm>
            <a:off x="868680" y="1737360"/>
            <a:ext cx="10451592" cy="594360"/>
          </a:xfrm>
          <a:prstGeom prst="rect">
            <a:avLst/>
          </a:prstGeom>
          <a:noFill/>
          <a:ln/>
        </p:spPr>
        <p:txBody>
          <a:bodyPr wrap="square" lIns="0" tIns="0" rIns="0" bIns="0" rtlCol="0" anchor="ctr"/>
          <a:lstStyle/>
          <a:p>
            <a:pPr marL="0" indent="0">
              <a:buNone/>
            </a:pPr>
            <a:r>
              <a:rPr lang="en-US" sz="1350" b="1" dirty="0">
                <a:solidFill>
                  <a:srgbClr val="C1443C"/>
                </a:solidFill>
                <a:latin typeface="Calibri" pitchFamily="34" charset="0"/>
                <a:ea typeface="Calibri" pitchFamily="34" charset="-122"/>
                <a:cs typeface="Calibri" pitchFamily="34" charset="-120"/>
              </a:rPr>
              <a:t>TÌNH HUỐNG:  DataNode số 3 bị hỏng ổ cứng hoặc mất nguồn đột ngột</a:t>
            </a:r>
            <a:endParaRPr lang="en-US" sz="1350" dirty="0"/>
          </a:p>
        </p:txBody>
      </p:sp>
      <p:sp>
        <p:nvSpPr>
          <p:cNvPr id="6" name="Shape 4"/>
          <p:cNvSpPr/>
          <p:nvPr/>
        </p:nvSpPr>
        <p:spPr>
          <a:xfrm>
            <a:off x="548640" y="2606040"/>
            <a:ext cx="2567178" cy="3246120"/>
          </a:xfrm>
          <a:prstGeom prst="roundRect">
            <a:avLst>
              <a:gd name="adj" fmla="val 3562"/>
            </a:avLst>
          </a:prstGeom>
          <a:solidFill>
            <a:srgbClr val="EAF2F7"/>
          </a:solidFill>
          <a:ln/>
        </p:spPr>
      </p:sp>
      <p:sp>
        <p:nvSpPr>
          <p:cNvPr id="7" name="Shape 5"/>
          <p:cNvSpPr/>
          <p:nvPr/>
        </p:nvSpPr>
        <p:spPr>
          <a:xfrm>
            <a:off x="1580769" y="2834640"/>
            <a:ext cx="502920" cy="502920"/>
          </a:xfrm>
          <a:prstGeom prst="ellipse">
            <a:avLst/>
          </a:prstGeom>
          <a:solidFill>
            <a:srgbClr val="065A82"/>
          </a:solidFill>
          <a:ln/>
        </p:spPr>
      </p:sp>
      <p:sp>
        <p:nvSpPr>
          <p:cNvPr id="8" name="Text 6"/>
          <p:cNvSpPr txBox="1"/>
          <p:nvPr/>
        </p:nvSpPr>
        <p:spPr>
          <a:xfrm>
            <a:off x="1580769" y="2834640"/>
            <a:ext cx="502920" cy="502920"/>
          </a:xfrm>
          <a:prstGeom prst="rect">
            <a:avLst/>
          </a:prstGeom>
          <a:noFill/>
          <a:ln/>
        </p:spPr>
        <p:txBody>
          <a:bodyPr wrap="square" lIns="0" tIns="0" rIns="0" bIns="0" rtlCol="0" anchor="ctr"/>
          <a:lstStyle/>
          <a:p>
            <a:pPr marL="0" indent="0" algn="ctr">
              <a:buNone/>
            </a:pPr>
            <a:r>
              <a:rPr lang="en-US" sz="1650" b="1" dirty="0">
                <a:solidFill>
                  <a:srgbClr val="FFFFFF"/>
                </a:solidFill>
                <a:latin typeface="Calibri" pitchFamily="34" charset="0"/>
                <a:ea typeface="Calibri" pitchFamily="34" charset="-122"/>
                <a:cs typeface="Calibri" pitchFamily="34" charset="-120"/>
              </a:rPr>
              <a:t>1</a:t>
            </a:r>
            <a:endParaRPr lang="en-US" sz="1650" dirty="0"/>
          </a:p>
        </p:txBody>
      </p:sp>
      <p:sp>
        <p:nvSpPr>
          <p:cNvPr id="9" name="Text 7"/>
          <p:cNvSpPr txBox="1"/>
          <p:nvPr/>
        </p:nvSpPr>
        <p:spPr>
          <a:xfrm>
            <a:off x="731520" y="3474720"/>
            <a:ext cx="2201418" cy="320040"/>
          </a:xfrm>
          <a:prstGeom prst="rect">
            <a:avLst/>
          </a:prstGeom>
          <a:noFill/>
          <a:ln/>
        </p:spPr>
        <p:txBody>
          <a:bodyPr wrap="square" lIns="0" tIns="0" rIns="0" bIns="0" rtlCol="0" anchor="ctr"/>
          <a:lstStyle/>
          <a:p>
            <a:pPr marL="0" indent="0" algn="ctr">
              <a:buNone/>
            </a:pPr>
            <a:r>
              <a:rPr lang="en-US" sz="1350" b="1" dirty="0">
                <a:solidFill>
                  <a:srgbClr val="21295C"/>
                </a:solidFill>
                <a:latin typeface="Calibri" pitchFamily="34" charset="0"/>
                <a:ea typeface="Calibri" pitchFamily="34" charset="-122"/>
                <a:cs typeface="Calibri" pitchFamily="34" charset="-120"/>
              </a:rPr>
              <a:t>Phát hiện</a:t>
            </a:r>
            <a:endParaRPr lang="en-US" sz="1350" dirty="0"/>
          </a:p>
        </p:txBody>
      </p:sp>
      <p:sp>
        <p:nvSpPr>
          <p:cNvPr id="10" name="Text 8"/>
          <p:cNvSpPr txBox="1"/>
          <p:nvPr/>
        </p:nvSpPr>
        <p:spPr>
          <a:xfrm>
            <a:off x="731520" y="3840480"/>
            <a:ext cx="2201418" cy="1874520"/>
          </a:xfrm>
          <a:prstGeom prst="rect">
            <a:avLst/>
          </a:prstGeom>
          <a:noFill/>
          <a:ln/>
        </p:spPr>
        <p:txBody>
          <a:bodyPr wrap="square" lIns="0" tIns="0" rIns="0" bIns="0" rtlCol="0" anchor="ctr"/>
          <a:lstStyle/>
          <a:p>
            <a:pPr marL="0" indent="0" algn="ctr">
              <a:lnSpc>
                <a:spcPct val="120000"/>
              </a:lnSpc>
              <a:buNone/>
            </a:pPr>
            <a:r>
              <a:rPr lang="en-US" sz="1100" dirty="0">
                <a:solidFill>
                  <a:srgbClr val="6B7788"/>
                </a:solidFill>
                <a:latin typeface="Calibri" pitchFamily="34" charset="0"/>
                <a:ea typeface="Calibri" pitchFamily="34" charset="-122"/>
                <a:cs typeface="Calibri" pitchFamily="34" charset="-120"/>
              </a:rPr>
              <a:t>Sau 10 phút không nhận Heartbeat từ Node 3, NameNode đánh dấu node này đã chết.</a:t>
            </a:r>
            <a:endParaRPr lang="en-US" sz="1100" dirty="0"/>
          </a:p>
        </p:txBody>
      </p:sp>
      <p:sp>
        <p:nvSpPr>
          <p:cNvPr id="11" name="Shape 9"/>
          <p:cNvSpPr/>
          <p:nvPr/>
        </p:nvSpPr>
        <p:spPr>
          <a:xfrm>
            <a:off x="3390138" y="2606040"/>
            <a:ext cx="2567178" cy="3246120"/>
          </a:xfrm>
          <a:prstGeom prst="roundRect">
            <a:avLst>
              <a:gd name="adj" fmla="val 3562"/>
            </a:avLst>
          </a:prstGeom>
          <a:solidFill>
            <a:srgbClr val="EAF2F7"/>
          </a:solidFill>
          <a:ln/>
        </p:spPr>
      </p:sp>
      <p:sp>
        <p:nvSpPr>
          <p:cNvPr id="12" name="Shape 10"/>
          <p:cNvSpPr/>
          <p:nvPr/>
        </p:nvSpPr>
        <p:spPr>
          <a:xfrm>
            <a:off x="4422267" y="2834640"/>
            <a:ext cx="502920" cy="502920"/>
          </a:xfrm>
          <a:prstGeom prst="ellipse">
            <a:avLst/>
          </a:prstGeom>
          <a:solidFill>
            <a:srgbClr val="065A82"/>
          </a:solidFill>
          <a:ln/>
        </p:spPr>
      </p:sp>
      <p:sp>
        <p:nvSpPr>
          <p:cNvPr id="13" name="Text 11"/>
          <p:cNvSpPr txBox="1"/>
          <p:nvPr/>
        </p:nvSpPr>
        <p:spPr>
          <a:xfrm>
            <a:off x="4422267" y="2834640"/>
            <a:ext cx="502920" cy="502920"/>
          </a:xfrm>
          <a:prstGeom prst="rect">
            <a:avLst/>
          </a:prstGeom>
          <a:noFill/>
          <a:ln/>
        </p:spPr>
        <p:txBody>
          <a:bodyPr wrap="square" lIns="0" tIns="0" rIns="0" bIns="0" rtlCol="0" anchor="ctr"/>
          <a:lstStyle/>
          <a:p>
            <a:pPr marL="0" indent="0" algn="ctr">
              <a:buNone/>
            </a:pPr>
            <a:r>
              <a:rPr lang="en-US" sz="1650" b="1" dirty="0">
                <a:solidFill>
                  <a:srgbClr val="FFFFFF"/>
                </a:solidFill>
                <a:latin typeface="Calibri" pitchFamily="34" charset="0"/>
                <a:ea typeface="Calibri" pitchFamily="34" charset="-122"/>
                <a:cs typeface="Calibri" pitchFamily="34" charset="-120"/>
              </a:rPr>
              <a:t>2</a:t>
            </a:r>
            <a:endParaRPr lang="en-US" sz="1650" dirty="0"/>
          </a:p>
        </p:txBody>
      </p:sp>
      <p:sp>
        <p:nvSpPr>
          <p:cNvPr id="14" name="Text 12"/>
          <p:cNvSpPr txBox="1"/>
          <p:nvPr/>
        </p:nvSpPr>
        <p:spPr>
          <a:xfrm>
            <a:off x="3573018" y="3474720"/>
            <a:ext cx="2201418" cy="320040"/>
          </a:xfrm>
          <a:prstGeom prst="rect">
            <a:avLst/>
          </a:prstGeom>
          <a:noFill/>
          <a:ln/>
        </p:spPr>
        <p:txBody>
          <a:bodyPr wrap="square" lIns="0" tIns="0" rIns="0" bIns="0" rtlCol="0" anchor="ctr"/>
          <a:lstStyle/>
          <a:p>
            <a:pPr marL="0" indent="0" algn="ctr">
              <a:buNone/>
            </a:pPr>
            <a:r>
              <a:rPr lang="en-US" sz="1350" b="1" dirty="0">
                <a:solidFill>
                  <a:srgbClr val="21295C"/>
                </a:solidFill>
                <a:latin typeface="Calibri" pitchFamily="34" charset="0"/>
                <a:ea typeface="Calibri" pitchFamily="34" charset="-122"/>
                <a:cs typeface="Calibri" pitchFamily="34" charset="-120"/>
              </a:rPr>
              <a:t>Quét metadata</a:t>
            </a:r>
            <a:endParaRPr lang="en-US" sz="1350" dirty="0"/>
          </a:p>
        </p:txBody>
      </p:sp>
      <p:sp>
        <p:nvSpPr>
          <p:cNvPr id="15" name="Text 13"/>
          <p:cNvSpPr txBox="1"/>
          <p:nvPr/>
        </p:nvSpPr>
        <p:spPr>
          <a:xfrm>
            <a:off x="3573018" y="3840480"/>
            <a:ext cx="2201418" cy="1874520"/>
          </a:xfrm>
          <a:prstGeom prst="rect">
            <a:avLst/>
          </a:prstGeom>
          <a:noFill/>
          <a:ln/>
        </p:spPr>
        <p:txBody>
          <a:bodyPr wrap="square" lIns="0" tIns="0" rIns="0" bIns="0" rtlCol="0" anchor="ctr"/>
          <a:lstStyle/>
          <a:p>
            <a:pPr marL="0" indent="0" algn="ctr">
              <a:lnSpc>
                <a:spcPct val="120000"/>
              </a:lnSpc>
              <a:buNone/>
            </a:pPr>
            <a:r>
              <a:rPr lang="en-US" sz="1100" dirty="0">
                <a:solidFill>
                  <a:srgbClr val="6B7788"/>
                </a:solidFill>
                <a:latin typeface="Calibri" pitchFamily="34" charset="0"/>
                <a:ea typeface="Calibri" pitchFamily="34" charset="-122"/>
                <a:cs typeface="Calibri" pitchFamily="34" charset="-120"/>
              </a:rPr>
              <a:t>NameNode phát hiện các block trên Node 3 chỉ còn 2 bản sao (thiếu 1 so với chuẩn).</a:t>
            </a:r>
            <a:endParaRPr lang="en-US" sz="1100" dirty="0"/>
          </a:p>
        </p:txBody>
      </p:sp>
      <p:sp>
        <p:nvSpPr>
          <p:cNvPr id="16" name="Shape 14"/>
          <p:cNvSpPr/>
          <p:nvPr/>
        </p:nvSpPr>
        <p:spPr>
          <a:xfrm>
            <a:off x="6231636" y="2606040"/>
            <a:ext cx="2567178" cy="3246120"/>
          </a:xfrm>
          <a:prstGeom prst="roundRect">
            <a:avLst>
              <a:gd name="adj" fmla="val 3562"/>
            </a:avLst>
          </a:prstGeom>
          <a:solidFill>
            <a:srgbClr val="EAF2F7"/>
          </a:solidFill>
          <a:ln/>
        </p:spPr>
      </p:sp>
      <p:sp>
        <p:nvSpPr>
          <p:cNvPr id="17" name="Shape 15"/>
          <p:cNvSpPr/>
          <p:nvPr/>
        </p:nvSpPr>
        <p:spPr>
          <a:xfrm>
            <a:off x="7263765" y="2834640"/>
            <a:ext cx="502920" cy="502920"/>
          </a:xfrm>
          <a:prstGeom prst="ellipse">
            <a:avLst/>
          </a:prstGeom>
          <a:solidFill>
            <a:srgbClr val="065A82"/>
          </a:solidFill>
          <a:ln/>
        </p:spPr>
      </p:sp>
      <p:sp>
        <p:nvSpPr>
          <p:cNvPr id="18" name="Text 16"/>
          <p:cNvSpPr txBox="1"/>
          <p:nvPr/>
        </p:nvSpPr>
        <p:spPr>
          <a:xfrm>
            <a:off x="7263765" y="2834640"/>
            <a:ext cx="502920" cy="502920"/>
          </a:xfrm>
          <a:prstGeom prst="rect">
            <a:avLst/>
          </a:prstGeom>
          <a:noFill/>
          <a:ln/>
        </p:spPr>
        <p:txBody>
          <a:bodyPr wrap="square" lIns="0" tIns="0" rIns="0" bIns="0" rtlCol="0" anchor="ctr"/>
          <a:lstStyle/>
          <a:p>
            <a:pPr marL="0" indent="0" algn="ctr">
              <a:buNone/>
            </a:pPr>
            <a:r>
              <a:rPr lang="en-US" sz="1650" b="1" dirty="0">
                <a:solidFill>
                  <a:srgbClr val="FFFFFF"/>
                </a:solidFill>
                <a:latin typeface="Calibri" pitchFamily="34" charset="0"/>
                <a:ea typeface="Calibri" pitchFamily="34" charset="-122"/>
                <a:cs typeface="Calibri" pitchFamily="34" charset="-120"/>
              </a:rPr>
              <a:t>3</a:t>
            </a:r>
            <a:endParaRPr lang="en-US" sz="1650" dirty="0"/>
          </a:p>
        </p:txBody>
      </p:sp>
      <p:sp>
        <p:nvSpPr>
          <p:cNvPr id="19" name="Text 17"/>
          <p:cNvSpPr txBox="1"/>
          <p:nvPr/>
        </p:nvSpPr>
        <p:spPr>
          <a:xfrm>
            <a:off x="6414516" y="3474720"/>
            <a:ext cx="2201418" cy="320040"/>
          </a:xfrm>
          <a:prstGeom prst="rect">
            <a:avLst/>
          </a:prstGeom>
          <a:noFill/>
          <a:ln/>
        </p:spPr>
        <p:txBody>
          <a:bodyPr wrap="square" lIns="0" tIns="0" rIns="0" bIns="0" rtlCol="0" anchor="ctr"/>
          <a:lstStyle/>
          <a:p>
            <a:pPr marL="0" indent="0" algn="ctr">
              <a:buNone/>
            </a:pPr>
            <a:r>
              <a:rPr lang="en-US" sz="1350" b="1" dirty="0">
                <a:solidFill>
                  <a:srgbClr val="21295C"/>
                </a:solidFill>
                <a:latin typeface="Calibri" pitchFamily="34" charset="0"/>
                <a:ea typeface="Calibri" pitchFamily="34" charset="-122"/>
                <a:cs typeface="Calibri" pitchFamily="34" charset="-120"/>
              </a:rPr>
              <a:t>Nhân bản lại</a:t>
            </a:r>
            <a:endParaRPr lang="en-US" sz="1350" dirty="0"/>
          </a:p>
        </p:txBody>
      </p:sp>
      <p:sp>
        <p:nvSpPr>
          <p:cNvPr id="20" name="Text 18"/>
          <p:cNvSpPr txBox="1"/>
          <p:nvPr/>
        </p:nvSpPr>
        <p:spPr>
          <a:xfrm>
            <a:off x="6414516" y="3840480"/>
            <a:ext cx="2201418" cy="1874520"/>
          </a:xfrm>
          <a:prstGeom prst="rect">
            <a:avLst/>
          </a:prstGeom>
          <a:noFill/>
          <a:ln/>
        </p:spPr>
        <p:txBody>
          <a:bodyPr wrap="square" lIns="0" tIns="0" rIns="0" bIns="0" rtlCol="0" anchor="ctr"/>
          <a:lstStyle/>
          <a:p>
            <a:pPr marL="0" indent="0" algn="ctr">
              <a:lnSpc>
                <a:spcPct val="120000"/>
              </a:lnSpc>
              <a:buNone/>
            </a:pPr>
            <a:r>
              <a:rPr lang="en-US" sz="1100" dirty="0">
                <a:solidFill>
                  <a:srgbClr val="6B7788"/>
                </a:solidFill>
                <a:latin typeface="Calibri" pitchFamily="34" charset="0"/>
                <a:ea typeface="Calibri" pitchFamily="34" charset="-122"/>
                <a:cs typeface="Calibri" pitchFamily="34" charset="-120"/>
              </a:rPr>
              <a:t>NameNode ra lệnh cho Node 1 hoặc 2 (còn giữ bản sao) nhân bản block thiếu sang Node 5 còn trống.</a:t>
            </a:r>
            <a:endParaRPr lang="en-US" sz="1100" dirty="0"/>
          </a:p>
        </p:txBody>
      </p:sp>
      <p:sp>
        <p:nvSpPr>
          <p:cNvPr id="21" name="Shape 19"/>
          <p:cNvSpPr/>
          <p:nvPr/>
        </p:nvSpPr>
        <p:spPr>
          <a:xfrm>
            <a:off x="9073134" y="2606040"/>
            <a:ext cx="2567178" cy="3246120"/>
          </a:xfrm>
          <a:prstGeom prst="roundRect">
            <a:avLst>
              <a:gd name="adj" fmla="val 3562"/>
            </a:avLst>
          </a:prstGeom>
          <a:solidFill>
            <a:srgbClr val="EAF2F7"/>
          </a:solidFill>
          <a:ln/>
        </p:spPr>
      </p:sp>
      <p:sp>
        <p:nvSpPr>
          <p:cNvPr id="22" name="Shape 20"/>
          <p:cNvSpPr/>
          <p:nvPr/>
        </p:nvSpPr>
        <p:spPr>
          <a:xfrm>
            <a:off x="10105263" y="2834640"/>
            <a:ext cx="502920" cy="502920"/>
          </a:xfrm>
          <a:prstGeom prst="ellipse">
            <a:avLst/>
          </a:prstGeom>
          <a:solidFill>
            <a:srgbClr val="1C7293"/>
          </a:solidFill>
          <a:ln/>
        </p:spPr>
      </p:sp>
      <p:sp>
        <p:nvSpPr>
          <p:cNvPr id="23" name="Text 21"/>
          <p:cNvSpPr txBox="1"/>
          <p:nvPr/>
        </p:nvSpPr>
        <p:spPr>
          <a:xfrm>
            <a:off x="10105263" y="2834640"/>
            <a:ext cx="502920" cy="502920"/>
          </a:xfrm>
          <a:prstGeom prst="rect">
            <a:avLst/>
          </a:prstGeom>
          <a:noFill/>
          <a:ln/>
        </p:spPr>
        <p:txBody>
          <a:bodyPr wrap="square" lIns="0" tIns="0" rIns="0" bIns="0" rtlCol="0" anchor="ctr"/>
          <a:lstStyle/>
          <a:p>
            <a:pPr marL="0" indent="0" algn="ctr">
              <a:buNone/>
            </a:pPr>
            <a:r>
              <a:rPr lang="en-US" sz="1650" b="1" dirty="0">
                <a:solidFill>
                  <a:srgbClr val="FFFFFF"/>
                </a:solidFill>
                <a:latin typeface="Calibri" pitchFamily="34" charset="0"/>
                <a:ea typeface="Calibri" pitchFamily="34" charset="-122"/>
                <a:cs typeface="Calibri" pitchFamily="34" charset="-120"/>
              </a:rPr>
              <a:t>4</a:t>
            </a:r>
            <a:endParaRPr lang="en-US" sz="1650" dirty="0"/>
          </a:p>
        </p:txBody>
      </p:sp>
      <p:sp>
        <p:nvSpPr>
          <p:cNvPr id="24" name="Text 22"/>
          <p:cNvSpPr txBox="1"/>
          <p:nvPr/>
        </p:nvSpPr>
        <p:spPr>
          <a:xfrm>
            <a:off x="9256014" y="3474720"/>
            <a:ext cx="2201418" cy="320040"/>
          </a:xfrm>
          <a:prstGeom prst="rect">
            <a:avLst/>
          </a:prstGeom>
          <a:noFill/>
          <a:ln/>
        </p:spPr>
        <p:txBody>
          <a:bodyPr wrap="square" lIns="0" tIns="0" rIns="0" bIns="0" rtlCol="0" anchor="ctr"/>
          <a:lstStyle/>
          <a:p>
            <a:pPr marL="0" indent="0" algn="ctr">
              <a:buNone/>
            </a:pPr>
            <a:r>
              <a:rPr lang="en-US" sz="1350" b="1" dirty="0">
                <a:solidFill>
                  <a:srgbClr val="21295C"/>
                </a:solidFill>
                <a:latin typeface="Calibri" pitchFamily="34" charset="0"/>
                <a:ea typeface="Calibri" pitchFamily="34" charset="-122"/>
                <a:cs typeface="Calibri" pitchFamily="34" charset="-120"/>
              </a:rPr>
              <a:t>Phục hồi</a:t>
            </a:r>
            <a:endParaRPr lang="en-US" sz="1350" dirty="0"/>
          </a:p>
        </p:txBody>
      </p:sp>
      <p:sp>
        <p:nvSpPr>
          <p:cNvPr id="25" name="Text 23"/>
          <p:cNvSpPr txBox="1"/>
          <p:nvPr/>
        </p:nvSpPr>
        <p:spPr>
          <a:xfrm>
            <a:off x="9256014" y="3840480"/>
            <a:ext cx="2201418" cy="1874520"/>
          </a:xfrm>
          <a:prstGeom prst="rect">
            <a:avLst/>
          </a:prstGeom>
          <a:noFill/>
          <a:ln/>
        </p:spPr>
        <p:txBody>
          <a:bodyPr wrap="square" lIns="0" tIns="0" rIns="0" bIns="0" rtlCol="0" anchor="ctr"/>
          <a:lstStyle/>
          <a:p>
            <a:pPr marL="0" indent="0" algn="ctr">
              <a:lnSpc>
                <a:spcPct val="120000"/>
              </a:lnSpc>
              <a:buNone/>
            </a:pPr>
            <a:r>
              <a:rPr lang="en-US" sz="1100" dirty="0">
                <a:solidFill>
                  <a:srgbClr val="6B7788"/>
                </a:solidFill>
                <a:latin typeface="Calibri" pitchFamily="34" charset="0"/>
                <a:ea typeface="Calibri" pitchFamily="34" charset="-122"/>
                <a:cs typeface="Calibri" pitchFamily="34" charset="-120"/>
              </a:rPr>
              <a:t>Cụm trở lại trạng thái an toàn với Replication Factor = 3 mà không cần kỹ sư can thiệp thủ công.</a:t>
            </a:r>
            <a:endParaRPr lang="en-US" sz="1100" dirty="0"/>
          </a:p>
        </p:txBody>
      </p:sp>
      <p:sp>
        <p:nvSpPr>
          <p:cNvPr id="26" name="Text 24"/>
          <p:cNvSpPr txBox="1"/>
          <p:nvPr/>
        </p:nvSpPr>
        <p:spPr>
          <a:xfrm>
            <a:off x="548640" y="6473952"/>
            <a:ext cx="3657600" cy="274320"/>
          </a:xfrm>
          <a:prstGeom prst="rect">
            <a:avLst/>
          </a:prstGeom>
          <a:noFill/>
          <a:ln/>
        </p:spPr>
        <p:txBody>
          <a:bodyPr wrap="square" lIns="0" tIns="0" rIns="0" bIns="0" rtlCol="0" anchor="ctr"/>
          <a:lstStyle/>
          <a:p>
            <a:pPr marL="0" indent="0" algn="l">
              <a:buNone/>
            </a:pPr>
            <a:r>
              <a:rPr lang="en-US" sz="900" dirty="0">
                <a:solidFill>
                  <a:srgbClr val="6B7788"/>
                </a:solidFill>
                <a:latin typeface="Calibri" pitchFamily="34" charset="0"/>
                <a:ea typeface="Calibri" pitchFamily="34" charset="-122"/>
                <a:cs typeface="Calibri" pitchFamily="34" charset="-120"/>
              </a:rPr>
              <a:t>APACHE HDFS  ·  BIG DATA</a:t>
            </a:r>
            <a:endParaRPr lang="en-US" sz="900" dirty="0"/>
          </a:p>
        </p:txBody>
      </p:sp>
      <p:sp>
        <p:nvSpPr>
          <p:cNvPr id="27" name="Text 25"/>
          <p:cNvSpPr txBox="1"/>
          <p:nvPr/>
        </p:nvSpPr>
        <p:spPr>
          <a:xfrm>
            <a:off x="11228832" y="6473952"/>
            <a:ext cx="411480" cy="274320"/>
          </a:xfrm>
          <a:prstGeom prst="rect">
            <a:avLst/>
          </a:prstGeom>
          <a:noFill/>
          <a:ln/>
        </p:spPr>
        <p:txBody>
          <a:bodyPr wrap="square" lIns="0" tIns="0" rIns="0" bIns="0" rtlCol="0" anchor="ctr"/>
          <a:lstStyle/>
          <a:p>
            <a:pPr marL="0" indent="0" algn="r">
              <a:buNone/>
            </a:pPr>
            <a:r>
              <a:rPr lang="en-US" sz="900" dirty="0">
                <a:solidFill>
                  <a:srgbClr val="6B7788"/>
                </a:solidFill>
                <a:latin typeface="Calibri" pitchFamily="34" charset="0"/>
                <a:ea typeface="Calibri" pitchFamily="34" charset="-122"/>
                <a:cs typeface="Calibri" pitchFamily="34" charset="-120"/>
              </a:rPr>
              <a:t>13</a:t>
            </a:r>
            <a:endParaRPr lang="en-US" sz="900" dirty="0"/>
          </a:p>
        </p:txBody>
      </p:sp>
      <p:sp>
        <p:nvSpPr>
          <p:cNvPr id="28" name="Shape 26"/>
          <p:cNvSpPr/>
          <p:nvPr/>
        </p:nvSpPr>
        <p:spPr>
          <a:xfrm>
            <a:off x="10543032" y="6473952"/>
            <a:ext cx="146304" cy="146304"/>
          </a:xfrm>
          <a:prstGeom prst="roundRect">
            <a:avLst>
              <a:gd name="adj" fmla="val 18750"/>
            </a:avLst>
          </a:prstGeom>
          <a:solidFill>
            <a:srgbClr val="065A82"/>
          </a:solidFill>
          <a:ln/>
        </p:spPr>
      </p:sp>
      <p:sp>
        <p:nvSpPr>
          <p:cNvPr id="29" name="Shape 27"/>
          <p:cNvSpPr/>
          <p:nvPr/>
        </p:nvSpPr>
        <p:spPr>
          <a:xfrm>
            <a:off x="10744200" y="6473952"/>
            <a:ext cx="146304" cy="146304"/>
          </a:xfrm>
          <a:prstGeom prst="roundRect">
            <a:avLst>
              <a:gd name="adj" fmla="val 18750"/>
            </a:avLst>
          </a:prstGeom>
          <a:solidFill>
            <a:srgbClr val="1C7293"/>
          </a:solidFill>
          <a:ln/>
        </p:spPr>
      </p:sp>
      <p:sp>
        <p:nvSpPr>
          <p:cNvPr id="30" name="Shape 28"/>
          <p:cNvSpPr/>
          <p:nvPr/>
        </p:nvSpPr>
        <p:spPr>
          <a:xfrm>
            <a:off x="10945368" y="6473952"/>
            <a:ext cx="146304" cy="146304"/>
          </a:xfrm>
          <a:prstGeom prst="roundRect">
            <a:avLst>
              <a:gd name="adj" fmla="val 18750"/>
            </a:avLst>
          </a:prstGeom>
          <a:solidFill>
            <a:srgbClr val="21295C"/>
          </a:solid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292608"/>
          </a:xfrm>
          <a:prstGeom prst="rect">
            <a:avLst/>
          </a:prstGeom>
          <a:noFill/>
          <a:ln/>
        </p:spPr>
        <p:txBody>
          <a:bodyPr wrap="square" lIns="0" tIns="0" rIns="0" bIns="0" rtlCol="0" anchor="ctr"/>
          <a:lstStyle/>
          <a:p>
            <a:pPr marL="0" indent="0">
              <a:buNone/>
            </a:pPr>
            <a:r>
              <a:rPr lang="en-US" sz="1300" b="1" kern="0" spc="150" dirty="0">
                <a:solidFill>
                  <a:srgbClr val="1C7293"/>
                </a:solidFill>
                <a:latin typeface="Calibri" pitchFamily="34" charset="0"/>
                <a:ea typeface="Calibri" pitchFamily="34" charset="-122"/>
                <a:cs typeface="Calibri" pitchFamily="34" charset="-120"/>
              </a:rPr>
              <a:t>Điểm yếu cốt tử</a:t>
            </a:r>
            <a:endParaRPr lang="en-US" sz="1300" dirty="0"/>
          </a:p>
        </p:txBody>
      </p:sp>
      <p:sp>
        <p:nvSpPr>
          <p:cNvPr id="3" name="Text 1"/>
          <p:cNvSpPr txBox="1"/>
          <p:nvPr/>
        </p:nvSpPr>
        <p:spPr>
          <a:xfrm>
            <a:off x="548640" y="658368"/>
            <a:ext cx="11091672" cy="822960"/>
          </a:xfrm>
          <a:prstGeom prst="rect">
            <a:avLst/>
          </a:prstGeom>
          <a:noFill/>
          <a:ln/>
        </p:spPr>
        <p:txBody>
          <a:bodyPr wrap="square" lIns="0" tIns="0" rIns="0" bIns="0" rtlCol="0" anchor="t"/>
          <a:lstStyle/>
          <a:p>
            <a:pPr marL="0" indent="0">
              <a:buNone/>
            </a:pPr>
            <a:r>
              <a:rPr lang="en-US" sz="2800" b="1" dirty="0">
                <a:solidFill>
                  <a:srgbClr val="FFFFFF"/>
                </a:solidFill>
                <a:latin typeface="Times New Roman" pitchFamily="34" charset="0"/>
                <a:ea typeface="Times New Roman" pitchFamily="34" charset="-122"/>
                <a:cs typeface="Times New Roman" pitchFamily="34" charset="-120"/>
              </a:rPr>
              <a:t>Vấn Đề “File Nhỏ” (The Small Files Problem)</a:t>
            </a:r>
            <a:endParaRPr lang="en-US" sz="2800" dirty="0"/>
          </a:p>
        </p:txBody>
      </p:sp>
      <p:sp>
        <p:nvSpPr>
          <p:cNvPr id="4" name="Text 2"/>
          <p:cNvSpPr txBox="1"/>
          <p:nvPr/>
        </p:nvSpPr>
        <p:spPr>
          <a:xfrm>
            <a:off x="548640" y="1691640"/>
            <a:ext cx="11091672" cy="411480"/>
          </a:xfrm>
          <a:prstGeom prst="rect">
            <a:avLst/>
          </a:prstGeom>
          <a:noFill/>
          <a:ln/>
        </p:spPr>
        <p:txBody>
          <a:bodyPr wrap="square" lIns="0" tIns="0" rIns="0" bIns="0" rtlCol="0" anchor="ctr"/>
          <a:lstStyle/>
          <a:p>
            <a:pPr marL="0" indent="0">
              <a:buNone/>
            </a:pPr>
            <a:r>
              <a:rPr lang="en-US" sz="1350" dirty="0">
                <a:solidFill>
                  <a:srgbClr val="AEC6D6"/>
                </a:solidFill>
                <a:latin typeface="Calibri" pitchFamily="34" charset="0"/>
                <a:ea typeface="Calibri" pitchFamily="34" charset="-122"/>
                <a:cs typeface="Calibri" pitchFamily="34" charset="-120"/>
              </a:rPr>
              <a:t>HDFS tối ưu cho file lớn, hoạt động cực kỳ kém hiệu quả khi lưu hàng triệu file nhỏ (vài KB).</a:t>
            </a:r>
            <a:endParaRPr lang="en-US" sz="1350" dirty="0"/>
          </a:p>
        </p:txBody>
      </p:sp>
      <p:sp>
        <p:nvSpPr>
          <p:cNvPr id="5" name="Shape 3"/>
          <p:cNvSpPr/>
          <p:nvPr/>
        </p:nvSpPr>
        <p:spPr>
          <a:xfrm>
            <a:off x="548640" y="2286000"/>
            <a:ext cx="3453384" cy="1920240"/>
          </a:xfrm>
          <a:prstGeom prst="roundRect">
            <a:avLst>
              <a:gd name="adj" fmla="val 4762"/>
            </a:avLst>
          </a:prstGeom>
          <a:solidFill>
            <a:srgbClr val="2A3568"/>
          </a:solidFill>
          <a:ln/>
        </p:spPr>
      </p:sp>
      <p:sp>
        <p:nvSpPr>
          <p:cNvPr id="6" name="Text 4"/>
          <p:cNvSpPr txBox="1"/>
          <p:nvPr/>
        </p:nvSpPr>
        <p:spPr>
          <a:xfrm>
            <a:off x="777240" y="2468880"/>
            <a:ext cx="2996184" cy="685800"/>
          </a:xfrm>
          <a:prstGeom prst="rect">
            <a:avLst/>
          </a:prstGeom>
          <a:noFill/>
          <a:ln/>
        </p:spPr>
        <p:txBody>
          <a:bodyPr wrap="square" lIns="0" tIns="0" rIns="0" bIns="0" rtlCol="0" anchor="ctr"/>
          <a:lstStyle/>
          <a:p>
            <a:pPr marL="0" indent="0">
              <a:buNone/>
            </a:pPr>
            <a:r>
              <a:rPr lang="en-US" sz="2600" b="1" dirty="0">
                <a:solidFill>
                  <a:srgbClr val="5FD0C6"/>
                </a:solidFill>
                <a:latin typeface="Times New Roman" pitchFamily="34" charset="0"/>
                <a:ea typeface="Times New Roman" pitchFamily="34" charset="-122"/>
                <a:cs typeface="Times New Roman" pitchFamily="34" charset="-120"/>
              </a:rPr>
              <a:t>1,000,000</a:t>
            </a:r>
            <a:endParaRPr lang="en-US" sz="2600" dirty="0"/>
          </a:p>
        </p:txBody>
      </p:sp>
      <p:sp>
        <p:nvSpPr>
          <p:cNvPr id="7" name="Text 5"/>
          <p:cNvSpPr txBox="1"/>
          <p:nvPr/>
        </p:nvSpPr>
        <p:spPr>
          <a:xfrm>
            <a:off x="777240" y="3154680"/>
            <a:ext cx="2996184" cy="45720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file, mỗi file 1 KB</a:t>
            </a:r>
            <a:endParaRPr lang="en-US" sz="1250" dirty="0"/>
          </a:p>
        </p:txBody>
      </p:sp>
      <p:sp>
        <p:nvSpPr>
          <p:cNvPr id="8" name="Text 6"/>
          <p:cNvSpPr txBox="1"/>
          <p:nvPr/>
        </p:nvSpPr>
        <p:spPr>
          <a:xfrm>
            <a:off x="777240" y="3611880"/>
            <a:ext cx="2996184" cy="502920"/>
          </a:xfrm>
          <a:prstGeom prst="rect">
            <a:avLst/>
          </a:prstGeom>
          <a:noFill/>
          <a:ln/>
        </p:spPr>
        <p:txBody>
          <a:bodyPr wrap="square" lIns="0" tIns="0" rIns="0" bIns="0" rtlCol="0" anchor="ctr"/>
          <a:lstStyle/>
          <a:p>
            <a:pPr marL="0" indent="0">
              <a:buNone/>
            </a:pPr>
            <a:r>
              <a:rPr lang="en-US" sz="1050" dirty="0">
                <a:solidFill>
                  <a:srgbClr val="AEC6D6"/>
                </a:solidFill>
                <a:latin typeface="Calibri" pitchFamily="34" charset="0"/>
                <a:ea typeface="Calibri" pitchFamily="34" charset="-122"/>
                <a:cs typeface="Calibri" pitchFamily="34" charset="-120"/>
              </a:rPr>
              <a:t>Tổng dữ liệu thô chỉ ~1 GB</a:t>
            </a:r>
            <a:endParaRPr lang="en-US" sz="1050" dirty="0"/>
          </a:p>
        </p:txBody>
      </p:sp>
      <p:sp>
        <p:nvSpPr>
          <p:cNvPr id="9" name="Shape 7"/>
          <p:cNvSpPr/>
          <p:nvPr/>
        </p:nvSpPr>
        <p:spPr>
          <a:xfrm>
            <a:off x="4367784" y="2286000"/>
            <a:ext cx="3453384" cy="1920240"/>
          </a:xfrm>
          <a:prstGeom prst="roundRect">
            <a:avLst>
              <a:gd name="adj" fmla="val 4762"/>
            </a:avLst>
          </a:prstGeom>
          <a:solidFill>
            <a:srgbClr val="2A3568"/>
          </a:solidFill>
          <a:ln/>
        </p:spPr>
      </p:sp>
      <p:sp>
        <p:nvSpPr>
          <p:cNvPr id="10" name="Text 8"/>
          <p:cNvSpPr txBox="1"/>
          <p:nvPr/>
        </p:nvSpPr>
        <p:spPr>
          <a:xfrm>
            <a:off x="4596384" y="2468880"/>
            <a:ext cx="2996184" cy="685800"/>
          </a:xfrm>
          <a:prstGeom prst="rect">
            <a:avLst/>
          </a:prstGeom>
          <a:noFill/>
          <a:ln/>
        </p:spPr>
        <p:txBody>
          <a:bodyPr wrap="square" lIns="0" tIns="0" rIns="0" bIns="0" rtlCol="0" anchor="ctr"/>
          <a:lstStyle/>
          <a:p>
            <a:pPr marL="0" indent="0">
              <a:buNone/>
            </a:pPr>
            <a:r>
              <a:rPr lang="en-US" sz="2600" b="1" dirty="0">
                <a:solidFill>
                  <a:srgbClr val="5FD0C6"/>
                </a:solidFill>
                <a:latin typeface="Times New Roman" pitchFamily="34" charset="0"/>
                <a:ea typeface="Times New Roman" pitchFamily="34" charset="-122"/>
                <a:cs typeface="Times New Roman" pitchFamily="34" charset="-120"/>
              </a:rPr>
              <a:t>150 bytes</a:t>
            </a:r>
            <a:endParaRPr lang="en-US" sz="2600" dirty="0"/>
          </a:p>
        </p:txBody>
      </p:sp>
      <p:sp>
        <p:nvSpPr>
          <p:cNvPr id="11" name="Text 9"/>
          <p:cNvSpPr txBox="1"/>
          <p:nvPr/>
        </p:nvSpPr>
        <p:spPr>
          <a:xfrm>
            <a:off x="4596384" y="3154680"/>
            <a:ext cx="2996184" cy="45720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metadata RAM / file</a:t>
            </a:r>
            <a:endParaRPr lang="en-US" sz="1250" dirty="0"/>
          </a:p>
        </p:txBody>
      </p:sp>
      <p:sp>
        <p:nvSpPr>
          <p:cNvPr id="12" name="Text 10"/>
          <p:cNvSpPr txBox="1"/>
          <p:nvPr/>
        </p:nvSpPr>
        <p:spPr>
          <a:xfrm>
            <a:off x="4596384" y="3611880"/>
            <a:ext cx="2996184" cy="502920"/>
          </a:xfrm>
          <a:prstGeom prst="rect">
            <a:avLst/>
          </a:prstGeom>
          <a:noFill/>
          <a:ln/>
        </p:spPr>
        <p:txBody>
          <a:bodyPr wrap="square" lIns="0" tIns="0" rIns="0" bIns="0" rtlCol="0" anchor="ctr"/>
          <a:lstStyle/>
          <a:p>
            <a:pPr marL="0" indent="0">
              <a:buNone/>
            </a:pPr>
            <a:r>
              <a:rPr lang="en-US" sz="1050" dirty="0">
                <a:solidFill>
                  <a:srgbClr val="AEC6D6"/>
                </a:solidFill>
                <a:latin typeface="Calibri" pitchFamily="34" charset="0"/>
                <a:ea typeface="Calibri" pitchFamily="34" charset="-122"/>
                <a:cs typeface="Calibri" pitchFamily="34" charset="-120"/>
              </a:rPr>
              <a:t>Mỗi file vẫn tính là 1 block</a:t>
            </a:r>
            <a:endParaRPr lang="en-US" sz="1050" dirty="0"/>
          </a:p>
        </p:txBody>
      </p:sp>
      <p:sp>
        <p:nvSpPr>
          <p:cNvPr id="13" name="Shape 11"/>
          <p:cNvSpPr/>
          <p:nvPr/>
        </p:nvSpPr>
        <p:spPr>
          <a:xfrm>
            <a:off x="8186928" y="2286000"/>
            <a:ext cx="3453384" cy="1920240"/>
          </a:xfrm>
          <a:prstGeom prst="roundRect">
            <a:avLst>
              <a:gd name="adj" fmla="val 4762"/>
            </a:avLst>
          </a:prstGeom>
          <a:solidFill>
            <a:srgbClr val="2A3568"/>
          </a:solidFill>
          <a:ln/>
        </p:spPr>
      </p:sp>
      <p:sp>
        <p:nvSpPr>
          <p:cNvPr id="14" name="Text 12"/>
          <p:cNvSpPr txBox="1"/>
          <p:nvPr/>
        </p:nvSpPr>
        <p:spPr>
          <a:xfrm>
            <a:off x="8415528" y="2468880"/>
            <a:ext cx="2996184" cy="685800"/>
          </a:xfrm>
          <a:prstGeom prst="rect">
            <a:avLst/>
          </a:prstGeom>
          <a:noFill/>
          <a:ln/>
        </p:spPr>
        <p:txBody>
          <a:bodyPr wrap="square" lIns="0" tIns="0" rIns="0" bIns="0" rtlCol="0" anchor="ctr"/>
          <a:lstStyle/>
          <a:p>
            <a:pPr marL="0" indent="0">
              <a:buNone/>
            </a:pPr>
            <a:r>
              <a:rPr lang="en-US" sz="2600" b="1" dirty="0">
                <a:solidFill>
                  <a:srgbClr val="5FD0C6"/>
                </a:solidFill>
                <a:latin typeface="Times New Roman" pitchFamily="34" charset="0"/>
                <a:ea typeface="Times New Roman" pitchFamily="34" charset="-122"/>
                <a:cs typeface="Times New Roman" pitchFamily="34" charset="-120"/>
              </a:rPr>
              <a:t>150 MB</a:t>
            </a:r>
            <a:endParaRPr lang="en-US" sz="2600" dirty="0"/>
          </a:p>
        </p:txBody>
      </p:sp>
      <p:sp>
        <p:nvSpPr>
          <p:cNvPr id="15" name="Text 13"/>
          <p:cNvSpPr txBox="1"/>
          <p:nvPr/>
        </p:nvSpPr>
        <p:spPr>
          <a:xfrm>
            <a:off x="8415528" y="3154680"/>
            <a:ext cx="2996184" cy="45720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RAM NameNode bị tốn</a:t>
            </a:r>
            <a:endParaRPr lang="en-US" sz="1250" dirty="0"/>
          </a:p>
        </p:txBody>
      </p:sp>
      <p:sp>
        <p:nvSpPr>
          <p:cNvPr id="16" name="Text 14"/>
          <p:cNvSpPr txBox="1"/>
          <p:nvPr/>
        </p:nvSpPr>
        <p:spPr>
          <a:xfrm>
            <a:off x="8415528" y="3611880"/>
            <a:ext cx="2996184" cy="502920"/>
          </a:xfrm>
          <a:prstGeom prst="rect">
            <a:avLst/>
          </a:prstGeom>
          <a:noFill/>
          <a:ln/>
        </p:spPr>
        <p:txBody>
          <a:bodyPr wrap="square" lIns="0" tIns="0" rIns="0" bIns="0" rtlCol="0" anchor="ctr"/>
          <a:lstStyle/>
          <a:p>
            <a:pPr marL="0" indent="0">
              <a:buNone/>
            </a:pPr>
            <a:r>
              <a:rPr lang="en-US" sz="1050" dirty="0">
                <a:solidFill>
                  <a:srgbClr val="AEC6D6"/>
                </a:solidFill>
                <a:latin typeface="Calibri" pitchFamily="34" charset="0"/>
                <a:ea typeface="Calibri" pitchFamily="34" charset="-122"/>
                <a:cs typeface="Calibri" pitchFamily="34" charset="-120"/>
              </a:rPr>
              <a:t>1.000.000 × 150 bytes</a:t>
            </a:r>
            <a:endParaRPr lang="en-US" sz="1050" dirty="0"/>
          </a:p>
        </p:txBody>
      </p:sp>
      <p:sp>
        <p:nvSpPr>
          <p:cNvPr id="17" name="Shape 15"/>
          <p:cNvSpPr/>
          <p:nvPr/>
        </p:nvSpPr>
        <p:spPr>
          <a:xfrm>
            <a:off x="548640" y="4480560"/>
            <a:ext cx="11091672" cy="685800"/>
          </a:xfrm>
          <a:prstGeom prst="roundRect">
            <a:avLst>
              <a:gd name="adj" fmla="val 10667"/>
            </a:avLst>
          </a:prstGeom>
          <a:solidFill>
            <a:srgbClr val="4A1F1F"/>
          </a:solidFill>
          <a:ln/>
        </p:spPr>
      </p:sp>
      <p:sp>
        <p:nvSpPr>
          <p:cNvPr id="18" name="Text 16"/>
          <p:cNvSpPr txBox="1"/>
          <p:nvPr/>
        </p:nvSpPr>
        <p:spPr>
          <a:xfrm>
            <a:off x="868680" y="4480560"/>
            <a:ext cx="10451592" cy="685800"/>
          </a:xfrm>
          <a:prstGeom prst="rect">
            <a:avLst/>
          </a:prstGeom>
          <a:noFill/>
          <a:ln/>
        </p:spPr>
        <p:txBody>
          <a:bodyPr wrap="square" lIns="0" tIns="0" rIns="0" bIns="0" rtlCol="0" anchor="ctr"/>
          <a:lstStyle/>
          <a:p>
            <a:pPr marL="0" indent="0">
              <a:buNone/>
            </a:pPr>
            <a:r>
              <a:rPr lang="en-US" sz="1300" b="1" dirty="0">
                <a:solidFill>
                  <a:srgbClr val="FFB4AC"/>
                </a:solidFill>
                <a:latin typeface="Calibri" pitchFamily="34" charset="0"/>
                <a:ea typeface="Calibri" pitchFamily="34" charset="-122"/>
                <a:cs typeface="Calibri" pitchFamily="34" charset="-120"/>
              </a:rPr>
              <a:t>Hậu quả: NameNode cạn kiệt RAM trong khi ổ cứng DataNode vẫn còn trống rỗng hàng Terabyte.</a:t>
            </a:r>
            <a:endParaRPr lang="en-US" sz="1300" dirty="0"/>
          </a:p>
        </p:txBody>
      </p:sp>
      <p:sp>
        <p:nvSpPr>
          <p:cNvPr id="19" name="Text 17"/>
          <p:cNvSpPr txBox="1"/>
          <p:nvPr/>
        </p:nvSpPr>
        <p:spPr>
          <a:xfrm>
            <a:off x="548640" y="5349240"/>
            <a:ext cx="2743200" cy="256032"/>
          </a:xfrm>
          <a:prstGeom prst="rect">
            <a:avLst/>
          </a:prstGeom>
          <a:noFill/>
          <a:ln/>
        </p:spPr>
        <p:txBody>
          <a:bodyPr wrap="square" lIns="0" tIns="0" rIns="0" bIns="0" rtlCol="0" anchor="ctr"/>
          <a:lstStyle/>
          <a:p>
            <a:pPr marL="0" indent="0">
              <a:buNone/>
            </a:pPr>
            <a:r>
              <a:rPr lang="en-US" sz="1100" b="1" kern="0" spc="200" dirty="0">
                <a:solidFill>
                  <a:srgbClr val="5FD0C6"/>
                </a:solidFill>
                <a:latin typeface="Calibri" pitchFamily="34" charset="0"/>
                <a:ea typeface="Calibri" pitchFamily="34" charset="-122"/>
                <a:cs typeface="Calibri" pitchFamily="34" charset="-120"/>
              </a:rPr>
              <a:t>GIẢI PHÁP</a:t>
            </a:r>
            <a:endParaRPr lang="en-US" sz="1100" dirty="0"/>
          </a:p>
        </p:txBody>
      </p:sp>
      <p:sp>
        <p:nvSpPr>
          <p:cNvPr id="20" name="Text 18"/>
          <p:cNvSpPr txBox="1"/>
          <p:nvPr/>
        </p:nvSpPr>
        <p:spPr>
          <a:xfrm>
            <a:off x="548640" y="5623560"/>
            <a:ext cx="11091672"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Sử dụng Hadoop Archive (HAR), nén SequenceFile, hoặc gộp file trước khi đưa vào HDFS.</a:t>
            </a:r>
            <a:endParaRPr lang="en-US" sz="1300" dirty="0"/>
          </a:p>
        </p:txBody>
      </p:sp>
      <p:sp>
        <p:nvSpPr>
          <p:cNvPr id="21" name="Text 19"/>
          <p:cNvSpPr txBox="1"/>
          <p:nvPr/>
        </p:nvSpPr>
        <p:spPr>
          <a:xfrm>
            <a:off x="548640" y="6473952"/>
            <a:ext cx="3657600" cy="274320"/>
          </a:xfrm>
          <a:prstGeom prst="rect">
            <a:avLst/>
          </a:prstGeom>
          <a:noFill/>
          <a:ln/>
        </p:spPr>
        <p:txBody>
          <a:bodyPr wrap="square" lIns="0" tIns="0" rIns="0" bIns="0" rtlCol="0" anchor="ctr"/>
          <a:lstStyle/>
          <a:p>
            <a:pPr marL="0" indent="0" algn="l">
              <a:buNone/>
            </a:pPr>
            <a:r>
              <a:rPr lang="en-US" sz="900" dirty="0">
                <a:solidFill>
                  <a:srgbClr val="AEC6D6"/>
                </a:solidFill>
                <a:latin typeface="Calibri" pitchFamily="34" charset="0"/>
                <a:ea typeface="Calibri" pitchFamily="34" charset="-122"/>
                <a:cs typeface="Calibri" pitchFamily="34" charset="-120"/>
              </a:rPr>
              <a:t>APACHE HDFS  ·  BIG DATA</a:t>
            </a:r>
            <a:endParaRPr lang="en-US" sz="900" dirty="0"/>
          </a:p>
        </p:txBody>
      </p:sp>
      <p:sp>
        <p:nvSpPr>
          <p:cNvPr id="22" name="Text 20"/>
          <p:cNvSpPr txBox="1"/>
          <p:nvPr/>
        </p:nvSpPr>
        <p:spPr>
          <a:xfrm>
            <a:off x="11228832" y="6473952"/>
            <a:ext cx="411480" cy="274320"/>
          </a:xfrm>
          <a:prstGeom prst="rect">
            <a:avLst/>
          </a:prstGeom>
          <a:noFill/>
          <a:ln/>
        </p:spPr>
        <p:txBody>
          <a:bodyPr wrap="square" lIns="0" tIns="0" rIns="0" bIns="0" rtlCol="0" anchor="ctr"/>
          <a:lstStyle/>
          <a:p>
            <a:pPr marL="0" indent="0" algn="r">
              <a:buNone/>
            </a:pPr>
            <a:r>
              <a:rPr lang="en-US" sz="900" dirty="0">
                <a:solidFill>
                  <a:srgbClr val="AEC6D6"/>
                </a:solidFill>
                <a:latin typeface="Calibri" pitchFamily="34" charset="0"/>
                <a:ea typeface="Calibri" pitchFamily="34" charset="-122"/>
                <a:cs typeface="Calibri" pitchFamily="34" charset="-120"/>
              </a:rPr>
              <a:t>14</a:t>
            </a:r>
            <a:endParaRPr lang="en-US" sz="900" dirty="0"/>
          </a:p>
        </p:txBody>
      </p:sp>
      <p:sp>
        <p:nvSpPr>
          <p:cNvPr id="23" name="Shape 21"/>
          <p:cNvSpPr/>
          <p:nvPr/>
        </p:nvSpPr>
        <p:spPr>
          <a:xfrm>
            <a:off x="10543032" y="6473952"/>
            <a:ext cx="146304" cy="146304"/>
          </a:xfrm>
          <a:prstGeom prst="roundRect">
            <a:avLst>
              <a:gd name="adj" fmla="val 18750"/>
            </a:avLst>
          </a:prstGeom>
          <a:solidFill>
            <a:srgbClr val="065A82"/>
          </a:solidFill>
          <a:ln/>
        </p:spPr>
      </p:sp>
      <p:sp>
        <p:nvSpPr>
          <p:cNvPr id="24" name="Shape 22"/>
          <p:cNvSpPr/>
          <p:nvPr/>
        </p:nvSpPr>
        <p:spPr>
          <a:xfrm>
            <a:off x="10744200" y="6473952"/>
            <a:ext cx="146304" cy="146304"/>
          </a:xfrm>
          <a:prstGeom prst="roundRect">
            <a:avLst>
              <a:gd name="adj" fmla="val 18750"/>
            </a:avLst>
          </a:prstGeom>
          <a:solidFill>
            <a:srgbClr val="1C7293"/>
          </a:solidFill>
          <a:ln/>
        </p:spPr>
      </p:sp>
      <p:sp>
        <p:nvSpPr>
          <p:cNvPr id="25" name="Shape 23"/>
          <p:cNvSpPr/>
          <p:nvPr/>
        </p:nvSpPr>
        <p:spPr>
          <a:xfrm>
            <a:off x="10945368" y="6473952"/>
            <a:ext cx="146304" cy="146304"/>
          </a:xfrm>
          <a:prstGeom prst="roundRect">
            <a:avLst>
              <a:gd name="adj" fmla="val 18750"/>
            </a:avLst>
          </a:prstGeom>
          <a:solidFill>
            <a:srgbClr val="AEC6D6"/>
          </a:solid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292608"/>
          </a:xfrm>
          <a:prstGeom prst="rect">
            <a:avLst/>
          </a:prstGeom>
          <a:noFill/>
          <a:ln/>
        </p:spPr>
        <p:txBody>
          <a:bodyPr wrap="square" lIns="0" tIns="0" rIns="0" bIns="0" rtlCol="0" anchor="ctr"/>
          <a:lstStyle/>
          <a:p>
            <a:pPr marL="0" indent="0">
              <a:buNone/>
            </a:pPr>
            <a:r>
              <a:rPr lang="en-US" sz="1300" b="1" kern="0" spc="150" dirty="0">
                <a:solidFill>
                  <a:srgbClr val="1C7293"/>
                </a:solidFill>
                <a:latin typeface="Calibri" pitchFamily="34" charset="0"/>
                <a:ea typeface="Calibri" pitchFamily="34" charset="-122"/>
                <a:cs typeface="Calibri" pitchFamily="34" charset="-120"/>
              </a:rPr>
              <a:t>Góc nhìn hiện đại</a:t>
            </a:r>
            <a:endParaRPr lang="en-US" sz="1300" dirty="0"/>
          </a:p>
        </p:txBody>
      </p:sp>
      <p:sp>
        <p:nvSpPr>
          <p:cNvPr id="3" name="Text 1"/>
          <p:cNvSpPr txBox="1"/>
          <p:nvPr/>
        </p:nvSpPr>
        <p:spPr>
          <a:xfrm>
            <a:off x="548640" y="658368"/>
            <a:ext cx="11091672" cy="822960"/>
          </a:xfrm>
          <a:prstGeom prst="rect">
            <a:avLst/>
          </a:prstGeom>
          <a:noFill/>
          <a:ln/>
        </p:spPr>
        <p:txBody>
          <a:bodyPr wrap="square" lIns="0" tIns="0" rIns="0" bIns="0" rtlCol="0" anchor="t"/>
          <a:lstStyle/>
          <a:p>
            <a:pPr marL="0" indent="0">
              <a:buNone/>
            </a:pPr>
            <a:r>
              <a:rPr lang="en-US" sz="2800" b="1" dirty="0">
                <a:solidFill>
                  <a:srgbClr val="21295C"/>
                </a:solidFill>
                <a:latin typeface="Times New Roman" pitchFamily="34" charset="0"/>
                <a:ea typeface="Times New Roman" pitchFamily="34" charset="-122"/>
                <a:cs typeface="Times New Roman" pitchFamily="34" charset="-120"/>
              </a:rPr>
              <a:t>Hạn Chế Vận Hành HDFS Theo Góc Nhìn Databricks</a:t>
            </a:r>
            <a:endParaRPr lang="en-US" sz="2800" dirty="0"/>
          </a:p>
        </p:txBody>
      </p:sp>
      <p:sp>
        <p:nvSpPr>
          <p:cNvPr id="4" name="Shape 2"/>
          <p:cNvSpPr/>
          <p:nvPr/>
        </p:nvSpPr>
        <p:spPr>
          <a:xfrm>
            <a:off x="548640" y="1874520"/>
            <a:ext cx="11091672" cy="1280160"/>
          </a:xfrm>
          <a:prstGeom prst="roundRect">
            <a:avLst>
              <a:gd name="adj" fmla="val 7143"/>
            </a:avLst>
          </a:prstGeom>
          <a:solidFill>
            <a:srgbClr val="EAF2F7"/>
          </a:solidFill>
          <a:ln w="9525">
            <a:solidFill>
              <a:srgbClr val="EAF2F7"/>
            </a:solidFill>
            <a:prstDash val="solid"/>
          </a:ln>
        </p:spPr>
      </p:sp>
      <p:sp>
        <p:nvSpPr>
          <p:cNvPr id="5" name="Shape 3"/>
          <p:cNvSpPr/>
          <p:nvPr/>
        </p:nvSpPr>
        <p:spPr>
          <a:xfrm>
            <a:off x="822960" y="2203704"/>
            <a:ext cx="548640" cy="548640"/>
          </a:xfrm>
          <a:prstGeom prst="ellipse">
            <a:avLst/>
          </a:prstGeom>
          <a:solidFill>
            <a:srgbClr val="065A82"/>
          </a:solidFill>
          <a:ln/>
        </p:spPr>
      </p:sp>
      <p:sp>
        <p:nvSpPr>
          <p:cNvPr id="6" name="Text 4"/>
          <p:cNvSpPr txBox="1"/>
          <p:nvPr/>
        </p:nvSpPr>
        <p:spPr>
          <a:xfrm>
            <a:off x="822960" y="2203704"/>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554480" y="2011680"/>
            <a:ext cx="9811512" cy="320040"/>
          </a:xfrm>
          <a:prstGeom prst="rect">
            <a:avLst/>
          </a:prstGeom>
          <a:noFill/>
          <a:ln/>
        </p:spPr>
        <p:txBody>
          <a:bodyPr wrap="square" lIns="0" tIns="0" rIns="0" bIns="0" rtlCol="0" anchor="ctr"/>
          <a:lstStyle/>
          <a:p>
            <a:pPr marL="0" indent="0">
              <a:buNone/>
            </a:pPr>
            <a:r>
              <a:rPr lang="en-US" sz="1500" b="1" dirty="0">
                <a:solidFill>
                  <a:srgbClr val="21295C"/>
                </a:solidFill>
                <a:latin typeface="Calibri" pitchFamily="34" charset="0"/>
                <a:ea typeface="Calibri" pitchFamily="34" charset="-122"/>
                <a:cs typeface="Calibri" pitchFamily="34" charset="-120"/>
              </a:rPr>
              <a:t>Khớp cứng tính toán &amp; lưu trữ</a:t>
            </a:r>
            <a:endParaRPr lang="en-US" sz="1500" dirty="0"/>
          </a:p>
        </p:txBody>
      </p:sp>
      <p:sp>
        <p:nvSpPr>
          <p:cNvPr id="8" name="Text 6"/>
          <p:cNvSpPr txBox="1"/>
          <p:nvPr/>
        </p:nvSpPr>
        <p:spPr>
          <a:xfrm>
            <a:off x="1554480" y="2350008"/>
            <a:ext cx="9811512" cy="731520"/>
          </a:xfrm>
          <a:prstGeom prst="rect">
            <a:avLst/>
          </a:prstGeom>
          <a:noFill/>
          <a:ln/>
        </p:spPr>
        <p:txBody>
          <a:bodyPr wrap="square" lIns="0" tIns="0" rIns="0" bIns="0" rtlCol="0" anchor="ctr"/>
          <a:lstStyle/>
          <a:p>
            <a:pPr marL="0" indent="0">
              <a:lnSpc>
                <a:spcPct val="120000"/>
              </a:lnSpc>
              <a:buNone/>
            </a:pPr>
            <a:r>
              <a:rPr lang="en-US" sz="1200" dirty="0">
                <a:solidFill>
                  <a:srgbClr val="6B7788"/>
                </a:solidFill>
                <a:latin typeface="Calibri" pitchFamily="34" charset="0"/>
                <a:ea typeface="Calibri" pitchFamily="34" charset="-122"/>
                <a:cs typeface="Calibri" pitchFamily="34" charset="-120"/>
              </a:rPr>
              <a:t>CPU, RAM và ổ đĩa nằm chung một máy chủ vật lý. VD: chỉ muốn thêm 50 TB lưu trữ dữ liệu cũ nhưng vẫn phải mua thêm server đầy đủ CPU/RAM đắt đỏ.</a:t>
            </a:r>
            <a:endParaRPr lang="en-US" sz="1200" dirty="0"/>
          </a:p>
        </p:txBody>
      </p:sp>
      <p:sp>
        <p:nvSpPr>
          <p:cNvPr id="9" name="Shape 7"/>
          <p:cNvSpPr/>
          <p:nvPr/>
        </p:nvSpPr>
        <p:spPr>
          <a:xfrm>
            <a:off x="548640" y="3291840"/>
            <a:ext cx="11091672" cy="1280160"/>
          </a:xfrm>
          <a:prstGeom prst="roundRect">
            <a:avLst>
              <a:gd name="adj" fmla="val 7143"/>
            </a:avLst>
          </a:prstGeom>
          <a:solidFill>
            <a:srgbClr val="FFFFFF"/>
          </a:solidFill>
          <a:ln w="9525">
            <a:solidFill>
              <a:srgbClr val="AEC6D6"/>
            </a:solidFill>
            <a:prstDash val="solid"/>
          </a:ln>
        </p:spPr>
      </p:sp>
      <p:sp>
        <p:nvSpPr>
          <p:cNvPr id="10" name="Shape 8"/>
          <p:cNvSpPr/>
          <p:nvPr/>
        </p:nvSpPr>
        <p:spPr>
          <a:xfrm>
            <a:off x="822960" y="3621024"/>
            <a:ext cx="548640" cy="548640"/>
          </a:xfrm>
          <a:prstGeom prst="ellipse">
            <a:avLst/>
          </a:prstGeom>
          <a:solidFill>
            <a:srgbClr val="065A82"/>
          </a:solidFill>
          <a:ln/>
        </p:spPr>
      </p:sp>
      <p:sp>
        <p:nvSpPr>
          <p:cNvPr id="11" name="Text 9"/>
          <p:cNvSpPr txBox="1"/>
          <p:nvPr/>
        </p:nvSpPr>
        <p:spPr>
          <a:xfrm>
            <a:off x="822960" y="3621024"/>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1554480" y="3429000"/>
            <a:ext cx="9811512" cy="320040"/>
          </a:xfrm>
          <a:prstGeom prst="rect">
            <a:avLst/>
          </a:prstGeom>
          <a:noFill/>
          <a:ln/>
        </p:spPr>
        <p:txBody>
          <a:bodyPr wrap="square" lIns="0" tIns="0" rIns="0" bIns="0" rtlCol="0" anchor="ctr"/>
          <a:lstStyle/>
          <a:p>
            <a:pPr marL="0" indent="0">
              <a:buNone/>
            </a:pPr>
            <a:r>
              <a:rPr lang="en-US" sz="1500" b="1" dirty="0">
                <a:solidFill>
                  <a:srgbClr val="21295C"/>
                </a:solidFill>
                <a:latin typeface="Calibri" pitchFamily="34" charset="0"/>
                <a:ea typeface="Calibri" pitchFamily="34" charset="-122"/>
                <a:cs typeface="Calibri" pitchFamily="34" charset="-120"/>
              </a:rPr>
              <a:t>Gánh nặng bảo trì phần cứng</a:t>
            </a:r>
            <a:endParaRPr lang="en-US" sz="1500" dirty="0"/>
          </a:p>
        </p:txBody>
      </p:sp>
      <p:sp>
        <p:nvSpPr>
          <p:cNvPr id="13" name="Text 11"/>
          <p:cNvSpPr txBox="1"/>
          <p:nvPr/>
        </p:nvSpPr>
        <p:spPr>
          <a:xfrm>
            <a:off x="1554480" y="3767328"/>
            <a:ext cx="9811512" cy="731520"/>
          </a:xfrm>
          <a:prstGeom prst="rect">
            <a:avLst/>
          </a:prstGeom>
          <a:noFill/>
          <a:ln/>
        </p:spPr>
        <p:txBody>
          <a:bodyPr wrap="square" lIns="0" tIns="0" rIns="0" bIns="0" rtlCol="0" anchor="ctr"/>
          <a:lstStyle/>
          <a:p>
            <a:pPr marL="0" indent="0">
              <a:lnSpc>
                <a:spcPct val="120000"/>
              </a:lnSpc>
              <a:buNone/>
            </a:pPr>
            <a:r>
              <a:rPr lang="en-US" sz="1200" dirty="0">
                <a:solidFill>
                  <a:srgbClr val="6B7788"/>
                </a:solidFill>
                <a:latin typeface="Calibri" pitchFamily="34" charset="0"/>
                <a:ea typeface="Calibri" pitchFamily="34" charset="-122"/>
                <a:cs typeface="Calibri" pitchFamily="34" charset="-120"/>
              </a:rPr>
              <a:t>Phải duy trì phòng server, điện làm mát, thay thế linh kiện hỏng hóc liên tục.</a:t>
            </a:r>
            <a:endParaRPr lang="en-US" sz="1200" dirty="0"/>
          </a:p>
        </p:txBody>
      </p:sp>
      <p:sp>
        <p:nvSpPr>
          <p:cNvPr id="14" name="Shape 12"/>
          <p:cNvSpPr/>
          <p:nvPr/>
        </p:nvSpPr>
        <p:spPr>
          <a:xfrm>
            <a:off x="548640" y="4709160"/>
            <a:ext cx="11091672" cy="1280160"/>
          </a:xfrm>
          <a:prstGeom prst="roundRect">
            <a:avLst>
              <a:gd name="adj" fmla="val 7143"/>
            </a:avLst>
          </a:prstGeom>
          <a:solidFill>
            <a:srgbClr val="EAF2F7"/>
          </a:solidFill>
          <a:ln w="9525">
            <a:solidFill>
              <a:srgbClr val="EAF2F7"/>
            </a:solidFill>
            <a:prstDash val="solid"/>
          </a:ln>
        </p:spPr>
      </p:sp>
      <p:sp>
        <p:nvSpPr>
          <p:cNvPr id="15" name="Shape 13"/>
          <p:cNvSpPr/>
          <p:nvPr/>
        </p:nvSpPr>
        <p:spPr>
          <a:xfrm>
            <a:off x="822960" y="5038344"/>
            <a:ext cx="548640" cy="548640"/>
          </a:xfrm>
          <a:prstGeom prst="ellipse">
            <a:avLst/>
          </a:prstGeom>
          <a:solidFill>
            <a:srgbClr val="065A82"/>
          </a:solidFill>
          <a:ln/>
        </p:spPr>
      </p:sp>
      <p:sp>
        <p:nvSpPr>
          <p:cNvPr id="16" name="Text 14"/>
          <p:cNvSpPr txBox="1"/>
          <p:nvPr/>
        </p:nvSpPr>
        <p:spPr>
          <a:xfrm>
            <a:off x="822960" y="5038344"/>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txBox="1"/>
          <p:nvPr/>
        </p:nvSpPr>
        <p:spPr>
          <a:xfrm>
            <a:off x="1554480" y="4846320"/>
            <a:ext cx="9811512" cy="320040"/>
          </a:xfrm>
          <a:prstGeom prst="rect">
            <a:avLst/>
          </a:prstGeom>
          <a:noFill/>
          <a:ln/>
        </p:spPr>
        <p:txBody>
          <a:bodyPr wrap="square" lIns="0" tIns="0" rIns="0" bIns="0" rtlCol="0" anchor="ctr"/>
          <a:lstStyle/>
          <a:p>
            <a:pPr marL="0" indent="0">
              <a:buNone/>
            </a:pPr>
            <a:r>
              <a:rPr lang="en-US" sz="1500" b="1" dirty="0">
                <a:solidFill>
                  <a:srgbClr val="21295C"/>
                </a:solidFill>
                <a:latin typeface="Calibri" pitchFamily="34" charset="0"/>
                <a:ea typeface="Calibri" pitchFamily="34" charset="-122"/>
                <a:cs typeface="Calibri" pitchFamily="34" charset="-120"/>
              </a:rPr>
              <a:t>Điểm nghẽn NameNode (SPOF)</a:t>
            </a:r>
            <a:endParaRPr lang="en-US" sz="1500" dirty="0"/>
          </a:p>
        </p:txBody>
      </p:sp>
      <p:sp>
        <p:nvSpPr>
          <p:cNvPr id="18" name="Text 16"/>
          <p:cNvSpPr txBox="1"/>
          <p:nvPr/>
        </p:nvSpPr>
        <p:spPr>
          <a:xfrm>
            <a:off x="1554480" y="5184648"/>
            <a:ext cx="9811512" cy="731520"/>
          </a:xfrm>
          <a:prstGeom prst="rect">
            <a:avLst/>
          </a:prstGeom>
          <a:noFill/>
          <a:ln/>
        </p:spPr>
        <p:txBody>
          <a:bodyPr wrap="square" lIns="0" tIns="0" rIns="0" bIns="0" rtlCol="0" anchor="ctr"/>
          <a:lstStyle/>
          <a:p>
            <a:pPr marL="0" indent="0">
              <a:lnSpc>
                <a:spcPct val="120000"/>
              </a:lnSpc>
              <a:buNone/>
            </a:pPr>
            <a:r>
              <a:rPr lang="en-US" sz="1200" dirty="0">
                <a:solidFill>
                  <a:srgbClr val="6B7788"/>
                </a:solidFill>
                <a:latin typeface="Calibri" pitchFamily="34" charset="0"/>
                <a:ea typeface="Calibri" pitchFamily="34" charset="-122"/>
                <a:cs typeface="Calibri" pitchFamily="34" charset="-120"/>
              </a:rPr>
              <a:t>NameNode là điểm yếu chí mạng — nếu gặp sự cố, toàn bộ cụm dừng hoạt động (giảm bớt nhờ High Availability Active/Standby).</a:t>
            </a:r>
            <a:endParaRPr lang="en-US" sz="1200" dirty="0"/>
          </a:p>
        </p:txBody>
      </p:sp>
      <p:sp>
        <p:nvSpPr>
          <p:cNvPr id="19" name="Text 17"/>
          <p:cNvSpPr txBox="1"/>
          <p:nvPr/>
        </p:nvSpPr>
        <p:spPr>
          <a:xfrm>
            <a:off x="548640" y="6473952"/>
            <a:ext cx="3657600" cy="274320"/>
          </a:xfrm>
          <a:prstGeom prst="rect">
            <a:avLst/>
          </a:prstGeom>
          <a:noFill/>
          <a:ln/>
        </p:spPr>
        <p:txBody>
          <a:bodyPr wrap="square" lIns="0" tIns="0" rIns="0" bIns="0" rtlCol="0" anchor="ctr"/>
          <a:lstStyle/>
          <a:p>
            <a:pPr marL="0" indent="0" algn="l">
              <a:buNone/>
            </a:pPr>
            <a:r>
              <a:rPr lang="en-US" sz="900" dirty="0">
                <a:solidFill>
                  <a:srgbClr val="6B7788"/>
                </a:solidFill>
                <a:latin typeface="Calibri" pitchFamily="34" charset="0"/>
                <a:ea typeface="Calibri" pitchFamily="34" charset="-122"/>
                <a:cs typeface="Calibri" pitchFamily="34" charset="-120"/>
              </a:rPr>
              <a:t>APACHE HDFS  ·  BIG DATA</a:t>
            </a:r>
            <a:endParaRPr lang="en-US" sz="900" dirty="0"/>
          </a:p>
        </p:txBody>
      </p:sp>
      <p:sp>
        <p:nvSpPr>
          <p:cNvPr id="20" name="Text 18"/>
          <p:cNvSpPr txBox="1"/>
          <p:nvPr/>
        </p:nvSpPr>
        <p:spPr>
          <a:xfrm>
            <a:off x="11228832" y="6473952"/>
            <a:ext cx="411480" cy="274320"/>
          </a:xfrm>
          <a:prstGeom prst="rect">
            <a:avLst/>
          </a:prstGeom>
          <a:noFill/>
          <a:ln/>
        </p:spPr>
        <p:txBody>
          <a:bodyPr wrap="square" lIns="0" tIns="0" rIns="0" bIns="0" rtlCol="0" anchor="ctr"/>
          <a:lstStyle/>
          <a:p>
            <a:pPr marL="0" indent="0" algn="r">
              <a:buNone/>
            </a:pPr>
            <a:r>
              <a:rPr lang="en-US" sz="900" dirty="0">
                <a:solidFill>
                  <a:srgbClr val="6B7788"/>
                </a:solidFill>
                <a:latin typeface="Calibri" pitchFamily="34" charset="0"/>
                <a:ea typeface="Calibri" pitchFamily="34" charset="-122"/>
                <a:cs typeface="Calibri" pitchFamily="34" charset="-120"/>
              </a:rPr>
              <a:t>15</a:t>
            </a:r>
            <a:endParaRPr lang="en-US" sz="900" dirty="0"/>
          </a:p>
        </p:txBody>
      </p:sp>
      <p:sp>
        <p:nvSpPr>
          <p:cNvPr id="21" name="Shape 19"/>
          <p:cNvSpPr/>
          <p:nvPr/>
        </p:nvSpPr>
        <p:spPr>
          <a:xfrm>
            <a:off x="10543032" y="6473952"/>
            <a:ext cx="146304" cy="146304"/>
          </a:xfrm>
          <a:prstGeom prst="roundRect">
            <a:avLst>
              <a:gd name="adj" fmla="val 18750"/>
            </a:avLst>
          </a:prstGeom>
          <a:solidFill>
            <a:srgbClr val="065A82"/>
          </a:solidFill>
          <a:ln/>
        </p:spPr>
      </p:sp>
      <p:sp>
        <p:nvSpPr>
          <p:cNvPr id="22" name="Shape 20"/>
          <p:cNvSpPr/>
          <p:nvPr/>
        </p:nvSpPr>
        <p:spPr>
          <a:xfrm>
            <a:off x="10744200" y="6473952"/>
            <a:ext cx="146304" cy="146304"/>
          </a:xfrm>
          <a:prstGeom prst="roundRect">
            <a:avLst>
              <a:gd name="adj" fmla="val 18750"/>
            </a:avLst>
          </a:prstGeom>
          <a:solidFill>
            <a:srgbClr val="1C7293"/>
          </a:solidFill>
          <a:ln/>
        </p:spPr>
      </p:sp>
      <p:sp>
        <p:nvSpPr>
          <p:cNvPr id="23" name="Shape 21"/>
          <p:cNvSpPr/>
          <p:nvPr/>
        </p:nvSpPr>
        <p:spPr>
          <a:xfrm>
            <a:off x="10945368" y="6473952"/>
            <a:ext cx="146304" cy="146304"/>
          </a:xfrm>
          <a:prstGeom prst="roundRect">
            <a:avLst>
              <a:gd name="adj" fmla="val 18750"/>
            </a:avLst>
          </a:prstGeom>
          <a:solidFill>
            <a:srgbClr val="21295C"/>
          </a:solid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292608"/>
          </a:xfrm>
          <a:prstGeom prst="rect">
            <a:avLst/>
          </a:prstGeom>
          <a:noFill/>
          <a:ln/>
        </p:spPr>
        <p:txBody>
          <a:bodyPr wrap="square" lIns="0" tIns="0" rIns="0" bIns="0" rtlCol="0" anchor="ctr"/>
          <a:lstStyle/>
          <a:p>
            <a:pPr marL="0" indent="0">
              <a:buNone/>
            </a:pPr>
            <a:r>
              <a:rPr lang="en-US" sz="1300" b="1" kern="0" spc="150" dirty="0">
                <a:solidFill>
                  <a:srgbClr val="1C7293"/>
                </a:solidFill>
                <a:latin typeface="Calibri" pitchFamily="34" charset="0"/>
                <a:ea typeface="Calibri" pitchFamily="34" charset="-122"/>
                <a:cs typeface="Calibri" pitchFamily="34" charset="-120"/>
              </a:rPr>
              <a:t>So sánh</a:t>
            </a:r>
            <a:endParaRPr lang="en-US" sz="1300" dirty="0"/>
          </a:p>
        </p:txBody>
      </p:sp>
      <p:sp>
        <p:nvSpPr>
          <p:cNvPr id="3" name="Text 1"/>
          <p:cNvSpPr txBox="1"/>
          <p:nvPr/>
        </p:nvSpPr>
        <p:spPr>
          <a:xfrm>
            <a:off x="548640" y="658368"/>
            <a:ext cx="11091672" cy="822960"/>
          </a:xfrm>
          <a:prstGeom prst="rect">
            <a:avLst/>
          </a:prstGeom>
          <a:noFill/>
          <a:ln/>
        </p:spPr>
        <p:txBody>
          <a:bodyPr wrap="square" lIns="0" tIns="0" rIns="0" bIns="0" rtlCol="0" anchor="t"/>
          <a:lstStyle/>
          <a:p>
            <a:pPr marL="0" indent="0">
              <a:buNone/>
            </a:pPr>
            <a:r>
              <a:rPr lang="en-US" sz="2800" b="1" dirty="0">
                <a:solidFill>
                  <a:srgbClr val="21295C"/>
                </a:solidFill>
                <a:latin typeface="Times New Roman" pitchFamily="34" charset="0"/>
                <a:ea typeface="Times New Roman" pitchFamily="34" charset="-122"/>
                <a:cs typeface="Times New Roman" pitchFamily="34" charset="-120"/>
              </a:rPr>
              <a:t>HDFS vs. Cloud Object Storage</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3950208"/>
        </p:xfrm>
        <a:graphic>
          <a:graphicData uri="http://schemas.openxmlformats.org/drawingml/2006/table">
            <a:tbl>
              <a:tblPr/>
              <a:tblGrid>
                <a:gridCol w="237744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233672">
                  <a:extLst>
                    <a:ext uri="{9D8B030D-6E8A-4147-A177-3AD203B41FA5}">
                      <a16:colId xmlns:a16="http://schemas.microsoft.com/office/drawing/2014/main" val="20002"/>
                    </a:ext>
                  </a:extLst>
                </a:gridCol>
              </a:tblGrid>
              <a:tr h="658368">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Tiêu chí</a:t>
                      </a:r>
                      <a:endParaRPr lang="en-US" sz="12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21295C"/>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Apache HDFS (On-Premise)</a:t>
                      </a:r>
                      <a:endParaRPr lang="en-US" sz="12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21295C"/>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Cloud Storage (S3, ADLS, GCS)</a:t>
                      </a:r>
                      <a:endParaRPr lang="en-US" sz="12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658368">
                <a:tc>
                  <a:txBody>
                    <a:bodyPr/>
                    <a:lstStyle/>
                    <a:p>
                      <a:pPr marL="0" indent="0" algn="l">
                        <a:buNone/>
                      </a:pPr>
                      <a:r>
                        <a:rPr lang="en-US" sz="1150" b="1" dirty="0">
                          <a:solidFill>
                            <a:srgbClr val="21295C"/>
                          </a:solidFill>
                          <a:latin typeface="Calibri" pitchFamily="34" charset="0"/>
                          <a:ea typeface="Calibri" pitchFamily="34" charset="-122"/>
                          <a:cs typeface="Calibri" pitchFamily="34" charset="-120"/>
                        </a:rPr>
                        <a:t>Kiến trúc</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2233"/>
                          </a:solidFill>
                          <a:latin typeface="Calibri" pitchFamily="34" charset="0"/>
                          <a:ea typeface="Calibri" pitchFamily="34" charset="-122"/>
                          <a:cs typeface="Calibri" pitchFamily="34" charset="-120"/>
                        </a:rPr>
                        <a:t>Gắn chặt Lưu trữ và Tính toán</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2233"/>
                          </a:solidFill>
                          <a:latin typeface="Calibri" pitchFamily="34" charset="0"/>
                          <a:ea typeface="Calibri" pitchFamily="34" charset="-122"/>
                          <a:cs typeface="Calibri" pitchFamily="34" charset="-120"/>
                        </a:rPr>
                        <a:t>Tách biệt hoàn toàn (Decoupled)</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lgn="l">
                        <a:buNone/>
                      </a:pPr>
                      <a:r>
                        <a:rPr lang="en-US" sz="1150" b="1" dirty="0">
                          <a:solidFill>
                            <a:srgbClr val="21295C"/>
                          </a:solidFill>
                          <a:latin typeface="Calibri" pitchFamily="34" charset="0"/>
                          <a:ea typeface="Calibri" pitchFamily="34" charset="-122"/>
                          <a:cs typeface="Calibri" pitchFamily="34" charset="-120"/>
                        </a:rPr>
                        <a:t>Chi phí lưu trữ</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EAF2F7"/>
                    </a:solidFill>
                  </a:tcPr>
                </a:tc>
                <a:tc>
                  <a:txBody>
                    <a:bodyPr/>
                    <a:lstStyle/>
                    <a:p>
                      <a:pPr marL="0" indent="0" algn="l">
                        <a:buNone/>
                      </a:pPr>
                      <a:r>
                        <a:rPr lang="en-US" sz="1150" dirty="0">
                          <a:solidFill>
                            <a:srgbClr val="1A2233"/>
                          </a:solidFill>
                          <a:latin typeface="Calibri" pitchFamily="34" charset="0"/>
                          <a:ea typeface="Calibri" pitchFamily="34" charset="-122"/>
                          <a:cs typeface="Calibri" pitchFamily="34" charset="-120"/>
                        </a:rPr>
                        <a:t>Cao (mua phần cứng trước, bảo trì)</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EAF2F7"/>
                    </a:solidFill>
                  </a:tcPr>
                </a:tc>
                <a:tc>
                  <a:txBody>
                    <a:bodyPr/>
                    <a:lstStyle/>
                    <a:p>
                      <a:pPr marL="0" indent="0" algn="l">
                        <a:buNone/>
                      </a:pPr>
                      <a:r>
                        <a:rPr lang="en-US" sz="1150" dirty="0">
                          <a:solidFill>
                            <a:srgbClr val="1A2233"/>
                          </a:solidFill>
                          <a:latin typeface="Calibri" pitchFamily="34" charset="0"/>
                          <a:ea typeface="Calibri" pitchFamily="34" charset="-122"/>
                          <a:cs typeface="Calibri" pitchFamily="34" charset="-120"/>
                        </a:rPr>
                        <a:t>Rất thấp (trả theo dung lượng thực tế)</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EAF2F7"/>
                    </a:solidFill>
                  </a:tcPr>
                </a:tc>
                <a:extLst>
                  <a:ext uri="{0D108BD9-81ED-4DB2-BD59-A6C34878D82A}">
                    <a16:rowId xmlns:a16="http://schemas.microsoft.com/office/drawing/2014/main" val="10002"/>
                  </a:ext>
                </a:extLst>
              </a:tr>
              <a:tr h="658368">
                <a:tc>
                  <a:txBody>
                    <a:bodyPr/>
                    <a:lstStyle/>
                    <a:p>
                      <a:pPr marL="0" indent="0" algn="l">
                        <a:buNone/>
                      </a:pPr>
                      <a:r>
                        <a:rPr lang="en-US" sz="1150" b="1" dirty="0">
                          <a:solidFill>
                            <a:srgbClr val="21295C"/>
                          </a:solidFill>
                          <a:latin typeface="Calibri" pitchFamily="34" charset="0"/>
                          <a:ea typeface="Calibri" pitchFamily="34" charset="-122"/>
                          <a:cs typeface="Calibri" pitchFamily="34" charset="-120"/>
                        </a:rPr>
                        <a:t>Khả năng mở rộng</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2233"/>
                          </a:solidFill>
                          <a:latin typeface="Calibri" pitchFamily="34" charset="0"/>
                          <a:ea typeface="Calibri" pitchFamily="34" charset="-122"/>
                          <a:cs typeface="Calibri" pitchFamily="34" charset="-120"/>
                        </a:rPr>
                        <a:t>Thủ công theo cụm máy chủ vật lý</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2233"/>
                          </a:solidFill>
                          <a:latin typeface="Calibri" pitchFamily="34" charset="0"/>
                          <a:ea typeface="Calibri" pitchFamily="34" charset="-122"/>
                          <a:cs typeface="Calibri" pitchFamily="34" charset="-120"/>
                        </a:rPr>
                        <a:t>Mở rộng vô hạn tức thì theo yêu cầu</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lgn="l">
                        <a:buNone/>
                      </a:pPr>
                      <a:r>
                        <a:rPr lang="en-US" sz="1150" b="1" dirty="0">
                          <a:solidFill>
                            <a:srgbClr val="21295C"/>
                          </a:solidFill>
                          <a:latin typeface="Calibri" pitchFamily="34" charset="0"/>
                          <a:ea typeface="Calibri" pitchFamily="34" charset="-122"/>
                          <a:cs typeface="Calibri" pitchFamily="34" charset="-120"/>
                        </a:rPr>
                        <a:t>Độ bền dữ liệu</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EAF2F7"/>
                    </a:solidFill>
                  </a:tcPr>
                </a:tc>
                <a:tc>
                  <a:txBody>
                    <a:bodyPr/>
                    <a:lstStyle/>
                    <a:p>
                      <a:pPr marL="0" indent="0" algn="l">
                        <a:buNone/>
                      </a:pPr>
                      <a:r>
                        <a:rPr lang="en-US" sz="1150" dirty="0">
                          <a:solidFill>
                            <a:srgbClr val="1A2233"/>
                          </a:solidFill>
                          <a:latin typeface="Calibri" pitchFamily="34" charset="0"/>
                          <a:ea typeface="Calibri" pitchFamily="34" charset="-122"/>
                          <a:cs typeface="Calibri" pitchFamily="34" charset="-120"/>
                        </a:rPr>
                        <a:t>Dựa vào nhân bản 3x (tốn đĩa)</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EAF2F7"/>
                    </a:solidFill>
                  </a:tcPr>
                </a:tc>
                <a:tc>
                  <a:txBody>
                    <a:bodyPr/>
                    <a:lstStyle/>
                    <a:p>
                      <a:pPr marL="0" indent="0" algn="l">
                        <a:buNone/>
                      </a:pPr>
                      <a:r>
                        <a:rPr lang="en-US" sz="1150" dirty="0">
                          <a:solidFill>
                            <a:srgbClr val="1A2233"/>
                          </a:solidFill>
                          <a:latin typeface="Calibri" pitchFamily="34" charset="0"/>
                          <a:ea typeface="Calibri" pitchFamily="34" charset="-122"/>
                          <a:cs typeface="Calibri" pitchFamily="34" charset="-120"/>
                        </a:rPr>
                        <a:t>99.999999999% (11 số 9) — Erasure Coding</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EAF2F7"/>
                    </a:solidFill>
                  </a:tcPr>
                </a:tc>
                <a:extLst>
                  <a:ext uri="{0D108BD9-81ED-4DB2-BD59-A6C34878D82A}">
                    <a16:rowId xmlns:a16="http://schemas.microsoft.com/office/drawing/2014/main" val="10004"/>
                  </a:ext>
                </a:extLst>
              </a:tr>
              <a:tr h="658368">
                <a:tc>
                  <a:txBody>
                    <a:bodyPr/>
                    <a:lstStyle/>
                    <a:p>
                      <a:pPr marL="0" indent="0" algn="l">
                        <a:buNone/>
                      </a:pPr>
                      <a:r>
                        <a:rPr lang="en-US" sz="1150" b="1" dirty="0">
                          <a:solidFill>
                            <a:srgbClr val="21295C"/>
                          </a:solidFill>
                          <a:latin typeface="Calibri" pitchFamily="34" charset="0"/>
                          <a:ea typeface="Calibri" pitchFamily="34" charset="-122"/>
                          <a:cs typeface="Calibri" pitchFamily="34" charset="-120"/>
                        </a:rPr>
                        <a:t>Quản trị</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2233"/>
                          </a:solidFill>
                          <a:latin typeface="Calibri" pitchFamily="34" charset="0"/>
                          <a:ea typeface="Calibri" pitchFamily="34" charset="-122"/>
                          <a:cs typeface="Calibri" pitchFamily="34" charset="-120"/>
                        </a:rPr>
                        <a:t>Phức tạp, cần kỹ sư hạ tầng chuyên môn</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2233"/>
                          </a:solidFill>
                          <a:latin typeface="Calibri" pitchFamily="34" charset="0"/>
                          <a:ea typeface="Calibri" pitchFamily="34" charset="-122"/>
                          <a:cs typeface="Calibri" pitchFamily="34" charset="-120"/>
                        </a:rPr>
                        <a:t>Serverless, không cần bảo trì hạ tầng</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548640" y="6473952"/>
            <a:ext cx="3657600" cy="274320"/>
          </a:xfrm>
          <a:prstGeom prst="rect">
            <a:avLst/>
          </a:prstGeom>
          <a:noFill/>
          <a:ln/>
        </p:spPr>
        <p:txBody>
          <a:bodyPr wrap="square" lIns="0" tIns="0" rIns="0" bIns="0" rtlCol="0" anchor="ctr"/>
          <a:lstStyle/>
          <a:p>
            <a:pPr marL="0" indent="0" algn="l">
              <a:buNone/>
            </a:pPr>
            <a:r>
              <a:rPr lang="en-US" sz="900" dirty="0">
                <a:solidFill>
                  <a:srgbClr val="6B7788"/>
                </a:solidFill>
                <a:latin typeface="Calibri" pitchFamily="34" charset="0"/>
                <a:ea typeface="Calibri" pitchFamily="34" charset="-122"/>
                <a:cs typeface="Calibri" pitchFamily="34" charset="-120"/>
              </a:rPr>
              <a:t>APACHE HDFS  ·  BIG DATA</a:t>
            </a:r>
            <a:endParaRPr lang="en-US" sz="900" dirty="0"/>
          </a:p>
        </p:txBody>
      </p:sp>
      <p:sp>
        <p:nvSpPr>
          <p:cNvPr id="6" name="Text 3"/>
          <p:cNvSpPr txBox="1"/>
          <p:nvPr/>
        </p:nvSpPr>
        <p:spPr>
          <a:xfrm>
            <a:off x="11228832" y="6473952"/>
            <a:ext cx="411480" cy="274320"/>
          </a:xfrm>
          <a:prstGeom prst="rect">
            <a:avLst/>
          </a:prstGeom>
          <a:noFill/>
          <a:ln/>
        </p:spPr>
        <p:txBody>
          <a:bodyPr wrap="square" lIns="0" tIns="0" rIns="0" bIns="0" rtlCol="0" anchor="ctr"/>
          <a:lstStyle/>
          <a:p>
            <a:pPr marL="0" indent="0" algn="r">
              <a:buNone/>
            </a:pPr>
            <a:r>
              <a:rPr lang="en-US" sz="900" dirty="0">
                <a:solidFill>
                  <a:srgbClr val="6B7788"/>
                </a:solidFill>
                <a:latin typeface="Calibri" pitchFamily="34" charset="0"/>
                <a:ea typeface="Calibri" pitchFamily="34" charset="-122"/>
                <a:cs typeface="Calibri" pitchFamily="34" charset="-120"/>
              </a:rPr>
              <a:t>16</a:t>
            </a:r>
            <a:endParaRPr lang="en-US" sz="900" dirty="0"/>
          </a:p>
        </p:txBody>
      </p:sp>
      <p:sp>
        <p:nvSpPr>
          <p:cNvPr id="7" name="Shape 4"/>
          <p:cNvSpPr/>
          <p:nvPr/>
        </p:nvSpPr>
        <p:spPr>
          <a:xfrm>
            <a:off x="10543032" y="6473952"/>
            <a:ext cx="146304" cy="146304"/>
          </a:xfrm>
          <a:prstGeom prst="roundRect">
            <a:avLst>
              <a:gd name="adj" fmla="val 18750"/>
            </a:avLst>
          </a:prstGeom>
          <a:solidFill>
            <a:srgbClr val="065A82"/>
          </a:solidFill>
          <a:ln/>
        </p:spPr>
      </p:sp>
      <p:sp>
        <p:nvSpPr>
          <p:cNvPr id="8" name="Shape 5"/>
          <p:cNvSpPr/>
          <p:nvPr/>
        </p:nvSpPr>
        <p:spPr>
          <a:xfrm>
            <a:off x="10744200" y="6473952"/>
            <a:ext cx="146304" cy="146304"/>
          </a:xfrm>
          <a:prstGeom prst="roundRect">
            <a:avLst>
              <a:gd name="adj" fmla="val 18750"/>
            </a:avLst>
          </a:prstGeom>
          <a:solidFill>
            <a:srgbClr val="1C7293"/>
          </a:solidFill>
          <a:ln/>
        </p:spPr>
      </p:sp>
      <p:sp>
        <p:nvSpPr>
          <p:cNvPr id="9" name="Shape 6"/>
          <p:cNvSpPr/>
          <p:nvPr/>
        </p:nvSpPr>
        <p:spPr>
          <a:xfrm>
            <a:off x="10945368" y="6473952"/>
            <a:ext cx="146304" cy="146304"/>
          </a:xfrm>
          <a:prstGeom prst="roundRect">
            <a:avLst>
              <a:gd name="adj" fmla="val 18750"/>
            </a:avLst>
          </a:prstGeom>
          <a:solidFill>
            <a:srgbClr val="21295C"/>
          </a:solid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292608"/>
          </a:xfrm>
          <a:prstGeom prst="rect">
            <a:avLst/>
          </a:prstGeom>
          <a:noFill/>
          <a:ln/>
        </p:spPr>
        <p:txBody>
          <a:bodyPr wrap="square" lIns="0" tIns="0" rIns="0" bIns="0" rtlCol="0" anchor="ctr"/>
          <a:lstStyle/>
          <a:p>
            <a:pPr marL="0" indent="0">
              <a:buNone/>
            </a:pPr>
            <a:r>
              <a:rPr lang="en-US" sz="1300" b="1" kern="0" spc="150" dirty="0">
                <a:solidFill>
                  <a:srgbClr val="1C7293"/>
                </a:solidFill>
                <a:latin typeface="Calibri" pitchFamily="34" charset="0"/>
                <a:ea typeface="Calibri" pitchFamily="34" charset="-122"/>
                <a:cs typeface="Calibri" pitchFamily="34" charset="-120"/>
              </a:rPr>
              <a:t>Xu hướng</a:t>
            </a:r>
            <a:endParaRPr lang="en-US" sz="1300" dirty="0"/>
          </a:p>
        </p:txBody>
      </p:sp>
      <p:sp>
        <p:nvSpPr>
          <p:cNvPr id="3" name="Text 1"/>
          <p:cNvSpPr txBox="1"/>
          <p:nvPr/>
        </p:nvSpPr>
        <p:spPr>
          <a:xfrm>
            <a:off x="548640" y="658368"/>
            <a:ext cx="11091672" cy="822960"/>
          </a:xfrm>
          <a:prstGeom prst="rect">
            <a:avLst/>
          </a:prstGeom>
          <a:noFill/>
          <a:ln/>
        </p:spPr>
        <p:txBody>
          <a:bodyPr wrap="square" lIns="0" tIns="0" rIns="0" bIns="0" rtlCol="0" anchor="t"/>
          <a:lstStyle/>
          <a:p>
            <a:pPr marL="0" indent="0">
              <a:buNone/>
            </a:pPr>
            <a:r>
              <a:rPr lang="en-US" sz="2800" b="1" dirty="0">
                <a:solidFill>
                  <a:srgbClr val="21295C"/>
                </a:solidFill>
                <a:latin typeface="Times New Roman" pitchFamily="34" charset="0"/>
                <a:ea typeface="Times New Roman" pitchFamily="34" charset="-122"/>
                <a:cs typeface="Times New Roman" pitchFamily="34" charset="-120"/>
              </a:rPr>
              <a:t>Vị Trí Của HDFS Trong Kỷ Nguyên Cloud Data Lake</a:t>
            </a:r>
            <a:endParaRPr lang="en-US" sz="2800" dirty="0"/>
          </a:p>
        </p:txBody>
      </p:sp>
      <p:sp>
        <p:nvSpPr>
          <p:cNvPr id="4" name="Shape 2"/>
          <p:cNvSpPr/>
          <p:nvPr/>
        </p:nvSpPr>
        <p:spPr>
          <a:xfrm>
            <a:off x="548640" y="1783080"/>
            <a:ext cx="11091672" cy="1051560"/>
          </a:xfrm>
          <a:prstGeom prst="roundRect">
            <a:avLst>
              <a:gd name="adj" fmla="val 8696"/>
            </a:avLst>
          </a:prstGeom>
          <a:solidFill>
            <a:srgbClr val="EAF2F7"/>
          </a:solidFill>
          <a:ln/>
        </p:spPr>
      </p:sp>
      <p:sp>
        <p:nvSpPr>
          <p:cNvPr id="5" name="Text 3"/>
          <p:cNvSpPr txBox="1"/>
          <p:nvPr/>
        </p:nvSpPr>
        <p:spPr>
          <a:xfrm>
            <a:off x="914400" y="1783080"/>
            <a:ext cx="10360152" cy="1051560"/>
          </a:xfrm>
          <a:prstGeom prst="rect">
            <a:avLst/>
          </a:prstGeom>
          <a:noFill/>
          <a:ln/>
        </p:spPr>
        <p:txBody>
          <a:bodyPr wrap="square" lIns="0" tIns="0" rIns="0" bIns="0" rtlCol="0" anchor="ctr"/>
          <a:lstStyle/>
          <a:p>
            <a:pPr marL="0" indent="0">
              <a:lnSpc>
                <a:spcPct val="125000"/>
              </a:lnSpc>
              <a:buNone/>
            </a:pPr>
            <a:r>
              <a:rPr lang="en-US" sz="1350" dirty="0">
                <a:solidFill>
                  <a:srgbClr val="21295C"/>
                </a:solidFill>
                <a:latin typeface="Calibri" pitchFamily="34" charset="0"/>
                <a:ea typeface="Calibri" pitchFamily="34" charset="-122"/>
                <a:cs typeface="Calibri" pitchFamily="34" charset="-120"/>
              </a:rPr>
              <a:t>HDFS không biến mất: vẫn là lựa chọn hàng đầu cho các trung tâm dữ liệu On-Premise của khối Ngân hàng, Tài chính, Quân đội, Viễn thông — nhờ yêu cầu khắt khe về bảo mật và chủ quyền dữ liệu.</a:t>
            </a:r>
            <a:endParaRPr lang="en-US" sz="1350" dirty="0"/>
          </a:p>
        </p:txBody>
      </p:sp>
      <p:sp>
        <p:nvSpPr>
          <p:cNvPr id="6" name="Text 4"/>
          <p:cNvSpPr txBox="1"/>
          <p:nvPr/>
        </p:nvSpPr>
        <p:spPr>
          <a:xfrm>
            <a:off x="548640" y="3063240"/>
            <a:ext cx="11091672"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MÔ HÌNH LAI (HYBRID ARCHITECTURE)</a:t>
            </a:r>
            <a:endParaRPr lang="en-US" sz="1200" dirty="0"/>
          </a:p>
        </p:txBody>
      </p:sp>
      <p:sp>
        <p:nvSpPr>
          <p:cNvPr id="7" name="Shape 5"/>
          <p:cNvSpPr/>
          <p:nvPr/>
        </p:nvSpPr>
        <p:spPr>
          <a:xfrm>
            <a:off x="548640" y="3474720"/>
            <a:ext cx="4206240" cy="2651760"/>
          </a:xfrm>
          <a:prstGeom prst="roundRect">
            <a:avLst>
              <a:gd name="adj" fmla="val 3448"/>
            </a:avLst>
          </a:prstGeom>
          <a:solidFill>
            <a:srgbClr val="21295C"/>
          </a:solidFill>
          <a:ln/>
        </p:spPr>
      </p:sp>
      <p:sp>
        <p:nvSpPr>
          <p:cNvPr id="8" name="Text 6"/>
          <p:cNvSpPr txBox="1"/>
          <p:nvPr/>
        </p:nvSpPr>
        <p:spPr>
          <a:xfrm>
            <a:off x="868680" y="3657600"/>
            <a:ext cx="356616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HDFS — On-Premise</a:t>
            </a:r>
            <a:endParaRPr lang="en-US" sz="1500" dirty="0"/>
          </a:p>
        </p:txBody>
      </p:sp>
      <p:sp>
        <p:nvSpPr>
          <p:cNvPr id="9" name="Text 7"/>
          <p:cNvSpPr txBox="1"/>
          <p:nvPr/>
        </p:nvSpPr>
        <p:spPr>
          <a:xfrm>
            <a:off x="868680" y="4069080"/>
            <a:ext cx="3566160" cy="1005840"/>
          </a:xfrm>
          <a:prstGeom prst="rect">
            <a:avLst/>
          </a:prstGeom>
          <a:noFill/>
          <a:ln/>
        </p:spPr>
        <p:txBody>
          <a:bodyPr wrap="square" lIns="0" tIns="0" rIns="0" bIns="0" rtlCol="0" anchor="ctr"/>
          <a:lstStyle/>
          <a:p>
            <a:pPr marL="0" indent="0">
              <a:lnSpc>
                <a:spcPct val="125000"/>
              </a:lnSpc>
              <a:buNone/>
            </a:pPr>
            <a:r>
              <a:rPr lang="en-US" sz="1200" dirty="0">
                <a:solidFill>
                  <a:srgbClr val="AEC6D6"/>
                </a:solidFill>
                <a:latin typeface="Calibri" pitchFamily="34" charset="0"/>
                <a:ea typeface="Calibri" pitchFamily="34" charset="-122"/>
                <a:cs typeface="Calibri" pitchFamily="34" charset="-120"/>
              </a:rPr>
              <a:t>Dữ liệu nhạy cảm được lưu và tiền xử lý tại chỗ, đảm bảo bảo mật &amp; chủ quyền dữ liệu.</a:t>
            </a:r>
            <a:endParaRPr lang="en-US" sz="1200" dirty="0"/>
          </a:p>
        </p:txBody>
      </p:sp>
      <p:sp>
        <p:nvSpPr>
          <p:cNvPr id="10" name="Shape 8"/>
          <p:cNvSpPr/>
          <p:nvPr/>
        </p:nvSpPr>
        <p:spPr>
          <a:xfrm>
            <a:off x="4892040" y="4617720"/>
            <a:ext cx="640080" cy="365760"/>
          </a:xfrm>
          <a:prstGeom prst="rightArrow">
            <a:avLst/>
          </a:prstGeom>
          <a:solidFill>
            <a:srgbClr val="1C7293"/>
          </a:solidFill>
          <a:ln/>
        </p:spPr>
      </p:sp>
      <p:sp>
        <p:nvSpPr>
          <p:cNvPr id="11" name="Shape 9"/>
          <p:cNvSpPr/>
          <p:nvPr/>
        </p:nvSpPr>
        <p:spPr>
          <a:xfrm>
            <a:off x="5669280" y="3474720"/>
            <a:ext cx="5971032" cy="2651760"/>
          </a:xfrm>
          <a:prstGeom prst="roundRect">
            <a:avLst>
              <a:gd name="adj" fmla="val 3448"/>
            </a:avLst>
          </a:prstGeom>
          <a:solidFill>
            <a:srgbClr val="065A82"/>
          </a:solidFill>
          <a:ln/>
        </p:spPr>
      </p:sp>
      <p:sp>
        <p:nvSpPr>
          <p:cNvPr id="12" name="Text 10"/>
          <p:cNvSpPr txBox="1"/>
          <p:nvPr/>
        </p:nvSpPr>
        <p:spPr>
          <a:xfrm>
            <a:off x="5989320" y="3657600"/>
            <a:ext cx="5330952"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Nền tảng Đám mây hiện đại</a:t>
            </a:r>
            <a:endParaRPr lang="en-US" sz="1500" dirty="0"/>
          </a:p>
        </p:txBody>
      </p:sp>
      <p:sp>
        <p:nvSpPr>
          <p:cNvPr id="13" name="Text 11"/>
          <p:cNvSpPr txBox="1"/>
          <p:nvPr/>
        </p:nvSpPr>
        <p:spPr>
          <a:xfrm>
            <a:off x="5989320" y="4069080"/>
            <a:ext cx="5330952" cy="1005840"/>
          </a:xfrm>
          <a:prstGeom prst="rect">
            <a:avLst/>
          </a:prstGeom>
          <a:noFill/>
          <a:ln/>
        </p:spPr>
        <p:txBody>
          <a:bodyPr wrap="square" lIns="0" tIns="0" rIns="0" bIns="0" rtlCol="0" anchor="ctr"/>
          <a:lstStyle/>
          <a:p>
            <a:pPr marL="0" indent="0">
              <a:lnSpc>
                <a:spcPct val="125000"/>
              </a:lnSpc>
              <a:buNone/>
            </a:pPr>
            <a:r>
              <a:rPr lang="en-US" sz="1200" dirty="0">
                <a:solidFill>
                  <a:srgbClr val="E5F2F5"/>
                </a:solidFill>
                <a:latin typeface="Calibri" pitchFamily="34" charset="0"/>
                <a:ea typeface="Calibri" pitchFamily="34" charset="-122"/>
                <a:cs typeface="Calibri" pitchFamily="34" charset="-120"/>
              </a:rPr>
              <a:t>Dữ liệu phục vụ phân tích chuyên sâu được chuyển tiếp lên Databricks Lakehouse, Apache Spark, Delta Lake.</a:t>
            </a:r>
            <a:endParaRPr lang="en-US" sz="1200" dirty="0"/>
          </a:p>
        </p:txBody>
      </p:sp>
      <p:sp>
        <p:nvSpPr>
          <p:cNvPr id="14" name="Text 12"/>
          <p:cNvSpPr txBox="1"/>
          <p:nvPr/>
        </p:nvSpPr>
        <p:spPr>
          <a:xfrm>
            <a:off x="548640" y="6473952"/>
            <a:ext cx="3657600" cy="274320"/>
          </a:xfrm>
          <a:prstGeom prst="rect">
            <a:avLst/>
          </a:prstGeom>
          <a:noFill/>
          <a:ln/>
        </p:spPr>
        <p:txBody>
          <a:bodyPr wrap="square" lIns="0" tIns="0" rIns="0" bIns="0" rtlCol="0" anchor="ctr"/>
          <a:lstStyle/>
          <a:p>
            <a:pPr marL="0" indent="0" algn="l">
              <a:buNone/>
            </a:pPr>
            <a:r>
              <a:rPr lang="en-US" sz="900" dirty="0">
                <a:solidFill>
                  <a:srgbClr val="6B7788"/>
                </a:solidFill>
                <a:latin typeface="Calibri" pitchFamily="34" charset="0"/>
                <a:ea typeface="Calibri" pitchFamily="34" charset="-122"/>
                <a:cs typeface="Calibri" pitchFamily="34" charset="-120"/>
              </a:rPr>
              <a:t>APACHE HDFS  ·  BIG DATA</a:t>
            </a:r>
            <a:endParaRPr lang="en-US" sz="900" dirty="0"/>
          </a:p>
        </p:txBody>
      </p:sp>
      <p:sp>
        <p:nvSpPr>
          <p:cNvPr id="15" name="Text 13"/>
          <p:cNvSpPr txBox="1"/>
          <p:nvPr/>
        </p:nvSpPr>
        <p:spPr>
          <a:xfrm>
            <a:off x="11228832" y="6473952"/>
            <a:ext cx="411480" cy="274320"/>
          </a:xfrm>
          <a:prstGeom prst="rect">
            <a:avLst/>
          </a:prstGeom>
          <a:noFill/>
          <a:ln/>
        </p:spPr>
        <p:txBody>
          <a:bodyPr wrap="square" lIns="0" tIns="0" rIns="0" bIns="0" rtlCol="0" anchor="ctr"/>
          <a:lstStyle/>
          <a:p>
            <a:pPr marL="0" indent="0" algn="r">
              <a:buNone/>
            </a:pPr>
            <a:r>
              <a:rPr lang="en-US" sz="900" dirty="0">
                <a:solidFill>
                  <a:srgbClr val="6B7788"/>
                </a:solidFill>
                <a:latin typeface="Calibri" pitchFamily="34" charset="0"/>
                <a:ea typeface="Calibri" pitchFamily="34" charset="-122"/>
                <a:cs typeface="Calibri" pitchFamily="34" charset="-120"/>
              </a:rPr>
              <a:t>17</a:t>
            </a:r>
            <a:endParaRPr lang="en-US" sz="900" dirty="0"/>
          </a:p>
        </p:txBody>
      </p:sp>
      <p:sp>
        <p:nvSpPr>
          <p:cNvPr id="16" name="Shape 14"/>
          <p:cNvSpPr/>
          <p:nvPr/>
        </p:nvSpPr>
        <p:spPr>
          <a:xfrm>
            <a:off x="10543032" y="6473952"/>
            <a:ext cx="146304" cy="146304"/>
          </a:xfrm>
          <a:prstGeom prst="roundRect">
            <a:avLst>
              <a:gd name="adj" fmla="val 18750"/>
            </a:avLst>
          </a:prstGeom>
          <a:solidFill>
            <a:srgbClr val="065A82"/>
          </a:solidFill>
          <a:ln/>
        </p:spPr>
      </p:sp>
      <p:sp>
        <p:nvSpPr>
          <p:cNvPr id="17" name="Shape 15"/>
          <p:cNvSpPr/>
          <p:nvPr/>
        </p:nvSpPr>
        <p:spPr>
          <a:xfrm>
            <a:off x="10744200" y="6473952"/>
            <a:ext cx="146304" cy="146304"/>
          </a:xfrm>
          <a:prstGeom prst="roundRect">
            <a:avLst>
              <a:gd name="adj" fmla="val 18750"/>
            </a:avLst>
          </a:prstGeom>
          <a:solidFill>
            <a:srgbClr val="1C7293"/>
          </a:solidFill>
          <a:ln/>
        </p:spPr>
      </p:sp>
      <p:sp>
        <p:nvSpPr>
          <p:cNvPr id="18" name="Shape 16"/>
          <p:cNvSpPr/>
          <p:nvPr/>
        </p:nvSpPr>
        <p:spPr>
          <a:xfrm>
            <a:off x="10945368" y="6473952"/>
            <a:ext cx="146304" cy="146304"/>
          </a:xfrm>
          <a:prstGeom prst="roundRect">
            <a:avLst>
              <a:gd name="adj" fmla="val 18750"/>
            </a:avLst>
          </a:prstGeom>
          <a:solidFill>
            <a:srgbClr val="21295C"/>
          </a:solid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21295C"/>
        </a:solidFill>
        <a:effectLst/>
      </p:bgPr>
    </p:bg>
    <p:spTree>
      <p:nvGrpSpPr>
        <p:cNvPr id="1" name=""/>
        <p:cNvGrpSpPr/>
        <p:nvPr/>
      </p:nvGrpSpPr>
      <p:grpSpPr>
        <a:xfrm>
          <a:off x="0" y="0"/>
          <a:ext cx="0" cy="0"/>
          <a:chOff x="0" y="0"/>
          <a:chExt cx="0" cy="0"/>
        </a:xfrm>
      </p:grpSpPr>
      <p:sp>
        <p:nvSpPr>
          <p:cNvPr id="2" name="Text 0"/>
          <p:cNvSpPr txBox="1"/>
          <p:nvPr/>
        </p:nvSpPr>
        <p:spPr>
          <a:xfrm>
            <a:off x="548640" y="640080"/>
            <a:ext cx="11091672" cy="365760"/>
          </a:xfrm>
          <a:prstGeom prst="rect">
            <a:avLst/>
          </a:prstGeom>
          <a:noFill/>
          <a:ln/>
        </p:spPr>
        <p:txBody>
          <a:bodyPr wrap="square" lIns="0" tIns="0" rIns="0" bIns="0" rtlCol="0" anchor="ctr"/>
          <a:lstStyle/>
          <a:p>
            <a:pPr marL="0" indent="0">
              <a:buNone/>
            </a:pPr>
            <a:r>
              <a:rPr lang="en-US" sz="1300" b="1" kern="0" spc="300" dirty="0">
                <a:solidFill>
                  <a:srgbClr val="1C7293"/>
                </a:solidFill>
                <a:latin typeface="Calibri" pitchFamily="34" charset="0"/>
                <a:ea typeface="Calibri" pitchFamily="34" charset="-122"/>
                <a:cs typeface="Calibri" pitchFamily="34" charset="-120"/>
              </a:rPr>
              <a:t>TỔNG KẾT &amp; THẢO LUẬN</a:t>
            </a:r>
            <a:endParaRPr lang="en-US" sz="1300" dirty="0"/>
          </a:p>
        </p:txBody>
      </p:sp>
      <p:sp>
        <p:nvSpPr>
          <p:cNvPr id="3" name="Text 1"/>
          <p:cNvSpPr txBox="1"/>
          <p:nvPr/>
        </p:nvSpPr>
        <p:spPr>
          <a:xfrm>
            <a:off x="548640" y="1005840"/>
            <a:ext cx="11091672" cy="640080"/>
          </a:xfrm>
          <a:prstGeom prst="rect">
            <a:avLst/>
          </a:prstGeom>
          <a:noFill/>
          <a:ln/>
        </p:spPr>
        <p:txBody>
          <a:bodyPr wrap="square" lIns="0" tIns="0" rIns="0" bIns="0"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3 Bài Học Kiến Trúc Cốt Lõi Từ HDFS</a:t>
            </a:r>
            <a:endParaRPr lang="en-US" sz="3200" dirty="0"/>
          </a:p>
        </p:txBody>
      </p:sp>
      <p:sp>
        <p:nvSpPr>
          <p:cNvPr id="4" name="Shape 2"/>
          <p:cNvSpPr/>
          <p:nvPr/>
        </p:nvSpPr>
        <p:spPr>
          <a:xfrm>
            <a:off x="548640" y="1965960"/>
            <a:ext cx="502920" cy="502920"/>
          </a:xfrm>
          <a:prstGeom prst="ellipse">
            <a:avLst/>
          </a:prstGeom>
          <a:solidFill>
            <a:srgbClr val="1C7293"/>
          </a:solidFill>
          <a:ln/>
        </p:spPr>
      </p:sp>
      <p:sp>
        <p:nvSpPr>
          <p:cNvPr id="5" name="Text 3"/>
          <p:cNvSpPr txBox="1"/>
          <p:nvPr/>
        </p:nvSpPr>
        <p:spPr>
          <a:xfrm>
            <a:off x="548640" y="1965960"/>
            <a:ext cx="502920" cy="502920"/>
          </a:xfrm>
          <a:prstGeom prst="rect">
            <a:avLst/>
          </a:prstGeom>
          <a:noFill/>
          <a:ln/>
        </p:spPr>
        <p:txBody>
          <a:bodyPr wrap="square" lIns="0" tIns="0" rIns="0" bIns="0" rtlCol="0" anchor="ctr"/>
          <a:lstStyle/>
          <a:p>
            <a:pPr marL="0" indent="0" algn="ctr">
              <a:buNone/>
            </a:pPr>
            <a:r>
              <a:rPr lang="en-US" sz="1650" b="1" dirty="0">
                <a:solidFill>
                  <a:srgbClr val="FFFFFF"/>
                </a:solidFill>
                <a:latin typeface="Calibri" pitchFamily="34" charset="0"/>
                <a:ea typeface="Calibri" pitchFamily="34" charset="-122"/>
                <a:cs typeface="Calibri" pitchFamily="34" charset="-120"/>
              </a:rPr>
              <a:t>1</a:t>
            </a:r>
            <a:endParaRPr lang="en-US" sz="1650" dirty="0"/>
          </a:p>
        </p:txBody>
      </p:sp>
      <p:sp>
        <p:nvSpPr>
          <p:cNvPr id="6" name="Shape 4"/>
          <p:cNvSpPr/>
          <p:nvPr/>
        </p:nvSpPr>
        <p:spPr>
          <a:xfrm>
            <a:off x="1280160" y="1965960"/>
            <a:ext cx="10360152" cy="868680"/>
          </a:xfrm>
          <a:prstGeom prst="roundRect">
            <a:avLst>
              <a:gd name="adj" fmla="val 10526"/>
            </a:avLst>
          </a:prstGeom>
          <a:solidFill>
            <a:srgbClr val="2A3568"/>
          </a:solidFill>
          <a:ln/>
        </p:spPr>
      </p:sp>
      <p:sp>
        <p:nvSpPr>
          <p:cNvPr id="7" name="Text 5"/>
          <p:cNvSpPr txBox="1"/>
          <p:nvPr/>
        </p:nvSpPr>
        <p:spPr>
          <a:xfrm>
            <a:off x="1554480" y="1965960"/>
            <a:ext cx="9811512" cy="868680"/>
          </a:xfrm>
          <a:prstGeom prst="rect">
            <a:avLst/>
          </a:prstGeom>
          <a:noFill/>
          <a:ln/>
        </p:spPr>
        <p:txBody>
          <a:bodyPr wrap="square" lIns="0" tIns="0" rIns="0" bIns="0" rtlCol="0" anchor="ctr"/>
          <a:lstStyle/>
          <a:p>
            <a:pPr marL="0" indent="0">
              <a:lnSpc>
                <a:spcPct val="120000"/>
              </a:lnSpc>
              <a:buNone/>
            </a:pPr>
            <a:r>
              <a:rPr lang="en-US" sz="1400" dirty="0">
                <a:solidFill>
                  <a:srgbClr val="FFFFFF"/>
                </a:solidFill>
                <a:latin typeface="Calibri" pitchFamily="34" charset="0"/>
                <a:ea typeface="Calibri" pitchFamily="34" charset="-122"/>
                <a:cs typeface="Calibri" pitchFamily="34" charset="-120"/>
              </a:rPr>
              <a:t>Phân tán dữ liệu thành khối lớn (128 MB) kết hợp nhân bản 3 lần giúp chạy an toàn trên phần cứng giá rẻ.</a:t>
            </a:r>
            <a:endParaRPr lang="en-US" sz="1400" dirty="0"/>
          </a:p>
        </p:txBody>
      </p:sp>
      <p:sp>
        <p:nvSpPr>
          <p:cNvPr id="8" name="Shape 6"/>
          <p:cNvSpPr/>
          <p:nvPr/>
        </p:nvSpPr>
        <p:spPr>
          <a:xfrm>
            <a:off x="548640" y="3017520"/>
            <a:ext cx="502920" cy="502920"/>
          </a:xfrm>
          <a:prstGeom prst="ellipse">
            <a:avLst/>
          </a:prstGeom>
          <a:solidFill>
            <a:srgbClr val="1C7293"/>
          </a:solidFill>
          <a:ln/>
        </p:spPr>
      </p:sp>
      <p:sp>
        <p:nvSpPr>
          <p:cNvPr id="9" name="Text 7"/>
          <p:cNvSpPr txBox="1"/>
          <p:nvPr/>
        </p:nvSpPr>
        <p:spPr>
          <a:xfrm>
            <a:off x="548640" y="3017520"/>
            <a:ext cx="502920" cy="502920"/>
          </a:xfrm>
          <a:prstGeom prst="rect">
            <a:avLst/>
          </a:prstGeom>
          <a:noFill/>
          <a:ln/>
        </p:spPr>
        <p:txBody>
          <a:bodyPr wrap="square" lIns="0" tIns="0" rIns="0" bIns="0" rtlCol="0" anchor="ctr"/>
          <a:lstStyle/>
          <a:p>
            <a:pPr marL="0" indent="0" algn="ctr">
              <a:buNone/>
            </a:pPr>
            <a:r>
              <a:rPr lang="en-US" sz="1650" b="1" dirty="0">
                <a:solidFill>
                  <a:srgbClr val="FFFFFF"/>
                </a:solidFill>
                <a:latin typeface="Calibri" pitchFamily="34" charset="0"/>
                <a:ea typeface="Calibri" pitchFamily="34" charset="-122"/>
                <a:cs typeface="Calibri" pitchFamily="34" charset="-120"/>
              </a:rPr>
              <a:t>2</a:t>
            </a:r>
            <a:endParaRPr lang="en-US" sz="1650" dirty="0"/>
          </a:p>
        </p:txBody>
      </p:sp>
      <p:sp>
        <p:nvSpPr>
          <p:cNvPr id="10" name="Shape 8"/>
          <p:cNvSpPr/>
          <p:nvPr/>
        </p:nvSpPr>
        <p:spPr>
          <a:xfrm>
            <a:off x="1280160" y="3017520"/>
            <a:ext cx="10360152" cy="868680"/>
          </a:xfrm>
          <a:prstGeom prst="roundRect">
            <a:avLst>
              <a:gd name="adj" fmla="val 10526"/>
            </a:avLst>
          </a:prstGeom>
          <a:solidFill>
            <a:srgbClr val="2A3568"/>
          </a:solidFill>
          <a:ln/>
        </p:spPr>
      </p:sp>
      <p:sp>
        <p:nvSpPr>
          <p:cNvPr id="11" name="Text 9"/>
          <p:cNvSpPr txBox="1"/>
          <p:nvPr/>
        </p:nvSpPr>
        <p:spPr>
          <a:xfrm>
            <a:off x="1554480" y="3017520"/>
            <a:ext cx="9811512" cy="868680"/>
          </a:xfrm>
          <a:prstGeom prst="rect">
            <a:avLst/>
          </a:prstGeom>
          <a:noFill/>
          <a:ln/>
        </p:spPr>
        <p:txBody>
          <a:bodyPr wrap="square" lIns="0" tIns="0" rIns="0" bIns="0" rtlCol="0" anchor="ctr"/>
          <a:lstStyle/>
          <a:p>
            <a:pPr marL="0" indent="0">
              <a:lnSpc>
                <a:spcPct val="120000"/>
              </a:lnSpc>
              <a:buNone/>
            </a:pPr>
            <a:r>
              <a:rPr lang="en-US" sz="1400" dirty="0">
                <a:solidFill>
                  <a:srgbClr val="FFFFFF"/>
                </a:solidFill>
                <a:latin typeface="Calibri" pitchFamily="34" charset="0"/>
                <a:ea typeface="Calibri" pitchFamily="34" charset="-122"/>
                <a:cs typeface="Calibri" pitchFamily="34" charset="-120"/>
              </a:rPr>
              <a:t>Nguyên lý Data Locality — chuyển mã đến dữ liệu — giải quyết triệt để bài toán nghẽn mạng.</a:t>
            </a:r>
            <a:endParaRPr lang="en-US" sz="1400" dirty="0"/>
          </a:p>
        </p:txBody>
      </p:sp>
      <p:sp>
        <p:nvSpPr>
          <p:cNvPr id="12" name="Shape 10"/>
          <p:cNvSpPr/>
          <p:nvPr/>
        </p:nvSpPr>
        <p:spPr>
          <a:xfrm>
            <a:off x="548640" y="4069080"/>
            <a:ext cx="502920" cy="502920"/>
          </a:xfrm>
          <a:prstGeom prst="ellipse">
            <a:avLst/>
          </a:prstGeom>
          <a:solidFill>
            <a:srgbClr val="1C7293"/>
          </a:solidFill>
          <a:ln/>
        </p:spPr>
      </p:sp>
      <p:sp>
        <p:nvSpPr>
          <p:cNvPr id="13" name="Text 11"/>
          <p:cNvSpPr txBox="1"/>
          <p:nvPr/>
        </p:nvSpPr>
        <p:spPr>
          <a:xfrm>
            <a:off x="548640" y="4069080"/>
            <a:ext cx="502920" cy="502920"/>
          </a:xfrm>
          <a:prstGeom prst="rect">
            <a:avLst/>
          </a:prstGeom>
          <a:noFill/>
          <a:ln/>
        </p:spPr>
        <p:txBody>
          <a:bodyPr wrap="square" lIns="0" tIns="0" rIns="0" bIns="0" rtlCol="0" anchor="ctr"/>
          <a:lstStyle/>
          <a:p>
            <a:pPr marL="0" indent="0" algn="ctr">
              <a:buNone/>
            </a:pPr>
            <a:r>
              <a:rPr lang="en-US" sz="1650" b="1" dirty="0">
                <a:solidFill>
                  <a:srgbClr val="FFFFFF"/>
                </a:solidFill>
                <a:latin typeface="Calibri" pitchFamily="34" charset="0"/>
                <a:ea typeface="Calibri" pitchFamily="34" charset="-122"/>
                <a:cs typeface="Calibri" pitchFamily="34" charset="-120"/>
              </a:rPr>
              <a:t>3</a:t>
            </a:r>
            <a:endParaRPr lang="en-US" sz="1650" dirty="0"/>
          </a:p>
        </p:txBody>
      </p:sp>
      <p:sp>
        <p:nvSpPr>
          <p:cNvPr id="14" name="Shape 12"/>
          <p:cNvSpPr/>
          <p:nvPr/>
        </p:nvSpPr>
        <p:spPr>
          <a:xfrm>
            <a:off x="1280160" y="4069080"/>
            <a:ext cx="10360152" cy="868680"/>
          </a:xfrm>
          <a:prstGeom prst="roundRect">
            <a:avLst>
              <a:gd name="adj" fmla="val 10526"/>
            </a:avLst>
          </a:prstGeom>
          <a:solidFill>
            <a:srgbClr val="2A3568"/>
          </a:solidFill>
          <a:ln/>
        </p:spPr>
      </p:sp>
      <p:sp>
        <p:nvSpPr>
          <p:cNvPr id="15" name="Text 13"/>
          <p:cNvSpPr txBox="1"/>
          <p:nvPr/>
        </p:nvSpPr>
        <p:spPr>
          <a:xfrm>
            <a:off x="1554480" y="4069080"/>
            <a:ext cx="9811512" cy="868680"/>
          </a:xfrm>
          <a:prstGeom prst="rect">
            <a:avLst/>
          </a:prstGeom>
          <a:noFill/>
          <a:ln/>
        </p:spPr>
        <p:txBody>
          <a:bodyPr wrap="square" lIns="0" tIns="0" rIns="0" bIns="0" rtlCol="0" anchor="ctr"/>
          <a:lstStyle/>
          <a:p>
            <a:pPr marL="0" indent="0">
              <a:lnSpc>
                <a:spcPct val="120000"/>
              </a:lnSpc>
              <a:buNone/>
            </a:pPr>
            <a:r>
              <a:rPr lang="en-US" sz="1400" dirty="0">
                <a:solidFill>
                  <a:srgbClr val="FFFFFF"/>
                </a:solidFill>
                <a:latin typeface="Calibri" pitchFamily="34" charset="0"/>
                <a:ea typeface="Calibri" pitchFamily="34" charset="-122"/>
                <a:cs typeface="Calibri" pitchFamily="34" charset="-120"/>
              </a:rPr>
              <a:t>Xu hướng hiện đại dịch chuyển từ mô hình khớp cứng sang tách biệt Tính toán và Lưu trữ trên Đám mây.</a:t>
            </a:r>
            <a:endParaRPr lang="en-US" sz="1400" dirty="0"/>
          </a:p>
        </p:txBody>
      </p:sp>
      <p:sp>
        <p:nvSpPr>
          <p:cNvPr id="16" name="Shape 14"/>
          <p:cNvSpPr/>
          <p:nvPr/>
        </p:nvSpPr>
        <p:spPr>
          <a:xfrm>
            <a:off x="548640" y="5257800"/>
            <a:ext cx="1005840" cy="27432"/>
          </a:xfrm>
          <a:prstGeom prst="rect">
            <a:avLst/>
          </a:prstGeom>
          <a:solidFill>
            <a:srgbClr val="1C7293"/>
          </a:solidFill>
          <a:ln/>
        </p:spPr>
      </p:sp>
      <p:sp>
        <p:nvSpPr>
          <p:cNvPr id="18" name="Text 16"/>
          <p:cNvSpPr txBox="1"/>
          <p:nvPr/>
        </p:nvSpPr>
        <p:spPr>
          <a:xfrm>
            <a:off x="548640" y="6473952"/>
            <a:ext cx="3657600" cy="274320"/>
          </a:xfrm>
          <a:prstGeom prst="rect">
            <a:avLst/>
          </a:prstGeom>
          <a:noFill/>
          <a:ln/>
        </p:spPr>
        <p:txBody>
          <a:bodyPr wrap="square" lIns="0" tIns="0" rIns="0" bIns="0" rtlCol="0" anchor="ctr"/>
          <a:lstStyle/>
          <a:p>
            <a:pPr marL="0" indent="0" algn="l">
              <a:buNone/>
            </a:pPr>
            <a:r>
              <a:rPr lang="en-US" sz="900" dirty="0">
                <a:solidFill>
                  <a:srgbClr val="AEC6D6"/>
                </a:solidFill>
                <a:latin typeface="Calibri" pitchFamily="34" charset="0"/>
                <a:ea typeface="Calibri" pitchFamily="34" charset="-122"/>
                <a:cs typeface="Calibri" pitchFamily="34" charset="-120"/>
              </a:rPr>
              <a:t>APACHE HDFS  ·  BIG DATA</a:t>
            </a:r>
            <a:endParaRPr lang="en-US" sz="900" dirty="0"/>
          </a:p>
        </p:txBody>
      </p:sp>
      <p:sp>
        <p:nvSpPr>
          <p:cNvPr id="19" name="Text 17"/>
          <p:cNvSpPr txBox="1"/>
          <p:nvPr/>
        </p:nvSpPr>
        <p:spPr>
          <a:xfrm>
            <a:off x="11228832" y="6473952"/>
            <a:ext cx="411480" cy="274320"/>
          </a:xfrm>
          <a:prstGeom prst="rect">
            <a:avLst/>
          </a:prstGeom>
          <a:noFill/>
          <a:ln/>
        </p:spPr>
        <p:txBody>
          <a:bodyPr wrap="square" lIns="0" tIns="0" rIns="0" bIns="0" rtlCol="0" anchor="ctr"/>
          <a:lstStyle/>
          <a:p>
            <a:pPr marL="0" indent="0" algn="r">
              <a:buNone/>
            </a:pPr>
            <a:r>
              <a:rPr lang="en-US" sz="900" dirty="0">
                <a:solidFill>
                  <a:srgbClr val="AEC6D6"/>
                </a:solidFill>
                <a:latin typeface="Calibri" pitchFamily="34" charset="0"/>
                <a:ea typeface="Calibri" pitchFamily="34" charset="-122"/>
                <a:cs typeface="Calibri" pitchFamily="34" charset="-120"/>
              </a:rPr>
              <a:t>18</a:t>
            </a:r>
            <a:endParaRPr lang="en-US" sz="900" dirty="0"/>
          </a:p>
        </p:txBody>
      </p:sp>
      <p:sp>
        <p:nvSpPr>
          <p:cNvPr id="20" name="Shape 18"/>
          <p:cNvSpPr/>
          <p:nvPr/>
        </p:nvSpPr>
        <p:spPr>
          <a:xfrm>
            <a:off x="10543032" y="6473952"/>
            <a:ext cx="146304" cy="146304"/>
          </a:xfrm>
          <a:prstGeom prst="roundRect">
            <a:avLst>
              <a:gd name="adj" fmla="val 18750"/>
            </a:avLst>
          </a:prstGeom>
          <a:solidFill>
            <a:srgbClr val="065A82"/>
          </a:solidFill>
          <a:ln/>
        </p:spPr>
      </p:sp>
      <p:sp>
        <p:nvSpPr>
          <p:cNvPr id="21" name="Shape 19"/>
          <p:cNvSpPr/>
          <p:nvPr/>
        </p:nvSpPr>
        <p:spPr>
          <a:xfrm>
            <a:off x="10744200" y="6473952"/>
            <a:ext cx="146304" cy="146304"/>
          </a:xfrm>
          <a:prstGeom prst="roundRect">
            <a:avLst>
              <a:gd name="adj" fmla="val 18750"/>
            </a:avLst>
          </a:prstGeom>
          <a:solidFill>
            <a:srgbClr val="1C7293"/>
          </a:solidFill>
          <a:ln/>
        </p:spPr>
      </p:sp>
      <p:sp>
        <p:nvSpPr>
          <p:cNvPr id="22" name="Shape 20"/>
          <p:cNvSpPr/>
          <p:nvPr/>
        </p:nvSpPr>
        <p:spPr>
          <a:xfrm>
            <a:off x="10945368" y="6473952"/>
            <a:ext cx="146304" cy="146304"/>
          </a:xfrm>
          <a:prstGeom prst="roundRect">
            <a:avLst>
              <a:gd name="adj" fmla="val 18750"/>
            </a:avLst>
          </a:prstGeom>
          <a:solidFill>
            <a:srgbClr val="AEC6D6"/>
          </a:solid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p:cNvGrpSpPr/>
        <p:nvPr/>
      </p:nvGrpSpPr>
      <p:grpSpPr>
        <a:xfrm>
          <a:off x="0" y="0"/>
          <a:ext cx="0" cy="0"/>
          <a:chOff x="0" y="0"/>
          <a:chExt cx="0" cy="0"/>
        </a:xfrm>
      </p:grpSpPr>
      <p:sp>
        <p:nvSpPr>
          <p:cNvPr id="18" name="Text 16"/>
          <p:cNvSpPr txBox="1"/>
          <p:nvPr/>
        </p:nvSpPr>
        <p:spPr>
          <a:xfrm>
            <a:off x="548640" y="6473952"/>
            <a:ext cx="3657600" cy="274320"/>
          </a:xfrm>
          <a:prstGeom prst="rect">
            <a:avLst/>
          </a:prstGeom>
          <a:noFill/>
          <a:ln/>
        </p:spPr>
        <p:txBody>
          <a:bodyPr wrap="square" lIns="0" tIns="0" rIns="0" bIns="0" rtlCol="0" anchor="ctr"/>
          <a:lstStyle/>
          <a:p>
            <a:pPr marL="0" indent="0" algn="l">
              <a:buNone/>
            </a:pPr>
            <a:r>
              <a:rPr lang="en-US" sz="900" dirty="0">
                <a:solidFill>
                  <a:srgbClr val="AEC6D6"/>
                </a:solidFill>
                <a:latin typeface="Calibri" pitchFamily="34" charset="0"/>
                <a:ea typeface="Calibri" pitchFamily="34" charset="-122"/>
                <a:cs typeface="Calibri" pitchFamily="34" charset="-120"/>
              </a:rPr>
              <a:t>APACHE HDFS  ·  BIG DATA</a:t>
            </a:r>
            <a:endParaRPr lang="en-US" sz="900" dirty="0"/>
          </a:p>
        </p:txBody>
      </p:sp>
      <p:sp>
        <p:nvSpPr>
          <p:cNvPr id="19" name="Text 17"/>
          <p:cNvSpPr txBox="1"/>
          <p:nvPr/>
        </p:nvSpPr>
        <p:spPr>
          <a:xfrm>
            <a:off x="11228832" y="6473952"/>
            <a:ext cx="411480" cy="274320"/>
          </a:xfrm>
          <a:prstGeom prst="rect">
            <a:avLst/>
          </a:prstGeom>
          <a:noFill/>
          <a:ln/>
        </p:spPr>
        <p:txBody>
          <a:bodyPr wrap="square" lIns="0" tIns="0" rIns="0" bIns="0" rtlCol="0" anchor="ctr"/>
          <a:lstStyle/>
          <a:p>
            <a:pPr marL="0" indent="0" algn="r">
              <a:buNone/>
            </a:pPr>
            <a:r>
              <a:rPr lang="vi-VN" sz="900" dirty="0" smtClean="0">
                <a:solidFill>
                  <a:srgbClr val="AEC6D6"/>
                </a:solidFill>
                <a:latin typeface="Calibri" pitchFamily="34" charset="0"/>
                <a:ea typeface="Calibri" pitchFamily="34" charset="-122"/>
                <a:cs typeface="Calibri" pitchFamily="34" charset="-120"/>
              </a:rPr>
              <a:t>19</a:t>
            </a:r>
            <a:endParaRPr lang="en-US" sz="900" dirty="0"/>
          </a:p>
        </p:txBody>
      </p:sp>
      <p:sp>
        <p:nvSpPr>
          <p:cNvPr id="20" name="Shape 18"/>
          <p:cNvSpPr/>
          <p:nvPr/>
        </p:nvSpPr>
        <p:spPr>
          <a:xfrm>
            <a:off x="10543032" y="6473952"/>
            <a:ext cx="146304" cy="146304"/>
          </a:xfrm>
          <a:prstGeom prst="roundRect">
            <a:avLst>
              <a:gd name="adj" fmla="val 18750"/>
            </a:avLst>
          </a:prstGeom>
          <a:solidFill>
            <a:srgbClr val="065A82"/>
          </a:solidFill>
          <a:ln/>
        </p:spPr>
      </p:sp>
      <p:sp>
        <p:nvSpPr>
          <p:cNvPr id="21" name="Shape 19"/>
          <p:cNvSpPr/>
          <p:nvPr/>
        </p:nvSpPr>
        <p:spPr>
          <a:xfrm>
            <a:off x="10744200" y="6473952"/>
            <a:ext cx="146304" cy="146304"/>
          </a:xfrm>
          <a:prstGeom prst="roundRect">
            <a:avLst>
              <a:gd name="adj" fmla="val 18750"/>
            </a:avLst>
          </a:prstGeom>
          <a:solidFill>
            <a:srgbClr val="1C7293"/>
          </a:solidFill>
          <a:ln/>
        </p:spPr>
      </p:sp>
      <p:sp>
        <p:nvSpPr>
          <p:cNvPr id="22" name="Shape 20"/>
          <p:cNvSpPr/>
          <p:nvPr/>
        </p:nvSpPr>
        <p:spPr>
          <a:xfrm>
            <a:off x="10945368" y="6473952"/>
            <a:ext cx="146304" cy="146304"/>
          </a:xfrm>
          <a:prstGeom prst="roundRect">
            <a:avLst>
              <a:gd name="adj" fmla="val 18750"/>
            </a:avLst>
          </a:prstGeom>
          <a:solidFill>
            <a:srgbClr val="AEC6D6"/>
          </a:solidFill>
          <a:ln/>
        </p:spPr>
      </p:sp>
      <p:sp>
        <p:nvSpPr>
          <p:cNvPr id="17" name="Rectangle 16"/>
          <p:cNvSpPr/>
          <p:nvPr/>
        </p:nvSpPr>
        <p:spPr>
          <a:xfrm>
            <a:off x="4325410" y="2390894"/>
            <a:ext cx="3695242" cy="1446550"/>
          </a:xfrm>
          <a:prstGeom prst="rect">
            <a:avLst/>
          </a:prstGeom>
        </p:spPr>
        <p:txBody>
          <a:bodyPr wrap="none">
            <a:spAutoFit/>
          </a:bodyPr>
          <a:lstStyle/>
          <a:p>
            <a:r>
              <a:rPr lang="vi-VN" sz="8800" b="1" dirty="0" smtClean="0">
                <a:solidFill>
                  <a:srgbClr val="FFFFFF"/>
                </a:solidFill>
                <a:latin typeface="Times New Roman" pitchFamily="34" charset="0"/>
                <a:ea typeface="Times New Roman" pitchFamily="34" charset="-122"/>
                <a:cs typeface="Times New Roman" pitchFamily="34" charset="-120"/>
              </a:rPr>
              <a:t>DEMO</a:t>
            </a:r>
            <a:endParaRPr lang="en-US" sz="8800" dirty="0"/>
          </a:p>
        </p:txBody>
      </p:sp>
    </p:spTree>
    <p:extLst>
      <p:ext uri="{BB962C8B-B14F-4D97-AF65-F5344CB8AC3E}">
        <p14:creationId xmlns:p14="http://schemas.microsoft.com/office/powerpoint/2010/main" val="4217629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TotalTime>
  <Words>3377</Words>
  <Application>Microsoft Office PowerPoint</Application>
  <PresentationFormat>Widescreen</PresentationFormat>
  <Paragraphs>297</Paragraphs>
  <Slides>19</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Độ Đỗ Đình</cp:lastModifiedBy>
  <cp:revision>5</cp:revision>
  <dcterms:created xsi:type="dcterms:W3CDTF">2026-09-09T09:39:55Z</dcterms:created>
  <dcterms:modified xsi:type="dcterms:W3CDTF">2026-09-09T11:37:09Z</dcterms:modified>
</cp:coreProperties>
</file>